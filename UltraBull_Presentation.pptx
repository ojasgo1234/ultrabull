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simple. "UltraBull is a stock analysis and trading research platform that I have built. It takes Indian stock market data, runs technical analysis on it, finds chart patterns, filters them with rules, and then tests whether those signals would actually have made money in the past."</a:t>
            </a:r>
          </a:p>
          <a:p/>
          <a:p>
            <a:r>
              <a:t>Set the honest tone right at the start: "This presentation is not a sales pitch. It is a research review. I will show you what works, and I will also show you very clearly where the strategy failed. That failure is actually the most important part of this talk."</a:t>
            </a:r>
          </a:p>
          <a:p/>
          <a:p>
            <a:r>
              <a:t>Mention the scale so people know it is real: 37 NSE stocks, about 4 years of daily data, 1,051 simulated trades, and 20 separate audit scripts written only to check whether my own system is lying to 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gap simply: "Suppose fundamental analysis tells me Reliance is a good company. Fine. But should I buy it today at this price, or wait? Where do I put my stop loss? Fundamentals don't answer that."</a:t>
            </a:r>
          </a:p>
          <a:p/>
          <a:p>
            <a:r>
              <a:t>Define the terms as you go. Technical analysis = studying price and volume behaviour instead of company financials. Pattern = a recognisable price shape that has historically come before a move, like a breakout. Backtesting = replaying history bar by bar and checking what would have happened if you had followed your rules.</a:t>
            </a:r>
          </a:p>
          <a:p/>
          <a:p>
            <a:r>
              <a:t>End on the key point: "Anyone can find a setup that looks good on a chart. The hard part, and the part I focused on, is proving whether that setup actually has an edge — and being willing to throw it away when it doesn't."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all ten out loud. Group them: "The left side is about understanding the stock. The right side is about deciding and then proving the decision."</a:t>
            </a:r>
          </a:p>
          <a:p/>
          <a:p>
            <a:r>
              <a:t>Highlight two objectives specially. First, walk-forward validation — "this means I split history into an older part and a newer part, build on the older part, and test on the newer part which the system has never seen. It is the closest thing to honesty you can get in backtesting." Second, paper trading — "simulated trades on live prices, with no real money, to check the system in the present instead of the past."</a:t>
            </a:r>
          </a:p>
          <a:p/>
          <a:p>
            <a:r>
              <a:t>Close with the rule at the bottom: "The AI in this system never makes up numbers. Code calculates, AI explains."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down the diagram slowly, one band at a time — do not rush this slide, it is the map for everything that follows.</a:t>
            </a:r>
          </a:p>
          <a:p/>
          <a:p>
            <a:r>
              <a:t>"Data at the top: price data, corporate events like earnings dates, and the index and sector data I need to know what the overall market is doing." Then: "Signal engine is the brain — it converts raw prices into indicators, finds patterns, filters them through quality gates, and produces a concrete trade instruction with a stop loss and a target."</a:t>
            </a:r>
          </a:p>
          <a:p/>
          <a:p>
            <a:r>
              <a:t>Emphasise the third band: "Proof is the layer most retail systems skip entirely. Before any signal is shown to a user, I have already run it through a simulator and a battery of audits." Finally: "Product and Execution are what the user actually touches — the web app, the AI assistant, live prices, and paper trading."</a:t>
            </a:r>
          </a:p>
          <a:p/>
          <a:p>
            <a:r>
              <a:t>If asked about the arrows: it is a pipeline, each stage consumes the previous stage's output. Nothing skips ahead.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starts with clean data. I pull daily OHLCV — that is Open, High, Low, Close and Volume for each trading day — and I cache it locally so that repeated research runs are fast and consistent."</a:t>
            </a:r>
          </a:p>
          <a:p/>
          <a:p>
            <a:r>
              <a:t>Explain adjustment: "Prices are dividend and split adjusted. If a company splits its share 1:10, the raw price drops 90% overnight — that is not a crash, so the history has to be adjusted or every indicator would be wrong."</a:t>
            </a:r>
          </a:p>
          <a:p/>
          <a:p>
            <a:r>
              <a:t>Be upfront about the third box — it shows maturity. "One honest limitation I found in my own audit: adjusted price history can change retroactively. If a new dividend is recorded later, old adjusted prices shift slightly. So a study re-run six months from now might not match exactly. I have flagged this as an open item rather than pretending it is solved."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it as two different jobs: "Fundamental analysis answers should I own this company. Technical analysis answers is now a reasonable moment. I use fundamentals to decide the universe, and technicals to decide the timing."</a:t>
            </a:r>
          </a:p>
          <a:p/>
          <a:p>
            <a:r>
              <a:t>Go through the table in plain language. RSI — "how fast has the stock moved up or down recently; high means it has run hard, low means it has been beaten down." Moving average — "simple average price of the last N days; it smooths out the noise so you can see the trend." MACD — "compares a fast average with a slow average to spot momentum turning." Bollinger Bands — "bands drawn above and below the average; when price touches them it has stretched unusually far." ADX — "tells you if the stock is trending or just moving sideways. It does not tell you up or down, only how strong."</a:t>
            </a:r>
          </a:p>
          <a:p/>
          <a:p>
            <a:r>
              <a:t>Spend extra time on ATR, because it is the backbone of risk: "ATR is the average daily range — roughly how much this stock moves in a normal day in rupees. I use it to size every trade. A volatile stock gets a wider stop but a smaller quantity, so the rupee risk stays the same. That is why I can compare a ₹2,000 stock with a ₹80 stock fairly."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detector is an independent piece of code that scans the price history and marks the days where its specific shape occurred. They run in parallel, so one day can trigger multiple patterns."</a:t>
            </a:r>
          </a:p>
          <a:p/>
          <a:p>
            <a:r>
              <a:t>Explain two or three visually. Breakout — "the stock crosses above its highest price of the last 20 or 55 days, meaning it has broken out of its recent range." Hammer — "a candle with a long tail at the bottom, which means sellers pushed it down but buyers pushed it right back up by the close." Engulfing — "today's candle completely covers yesterday's, which suggests a sharp change of control between buyers and sellers."</a:t>
            </a:r>
          </a:p>
          <a:p/>
          <a:p>
            <a:r>
              <a:t>Make the metadata point clearly, it separates this from a toy screener: "A detection is not just a label. It carries a strength score, whether it agrees with the trend, what the market was doing that day, and whether it passed the filters. That metadata is what lets me later ask which patterns actually worked and which did not."</a:t>
            </a:r>
          </a:p>
          <a:p/>
          <a:p>
            <a:r>
              <a:t>If asked about the disabled ones: "Some patterns are switched off in production because my own statistical study found no reliable edge for them."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conceptual slide. Say the three-word chain out loud and repeat it: "Pattern is a candidate. Gate is a filter. Signal is an instruction." A pattern alone is never traded.</a:t>
            </a:r>
          </a:p>
          <a:p/>
          <a:p>
            <a:r>
              <a:t>Explain the market-level gates, because this is what most retail systems miss: "A perfect breakout in a falling market is still a bad trade. So before I accept any setup, I check what the index is doing, what the sector is doing, and whether this stock is actually outperforming the market."</a:t>
            </a:r>
          </a:p>
          <a:p/>
          <a:p>
            <a:r>
              <a:t>Define the unusual terms. Breadth = "what fraction of stocks are going up — if only five stocks are rising and everything else is falling, the market is weaker than the index suggests." Distribution day = "a day where the index falls on higher volume than the day before — a sign that large institutions are selling." Earnings blackout = "I do not open new positions right before a company announces results, because that is a coin flip, not a technical setup."</a:t>
            </a:r>
          </a:p>
          <a:p/>
          <a:p>
            <a:r>
              <a:t>End with the funnel number: "The filters are deliberately harsh. Only about one in eight detected patterns actually becomes a tradeable signal."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signal object is basically a complete trade plan written down in advance: which side, when to enter, where the stop loss is, where the target is, and how the stop should trail. Nothing is decided in the moment."</a:t>
            </a:r>
          </a:p>
          <a:p/>
          <a:p>
            <a:r>
              <a:t>Explain why that matters for research: "Because the plan is fully specified before the trade, I can replay it on history without any hindsight. If I left even one decision to human judgement, the backtest would be meaningless."</a:t>
            </a:r>
          </a:p>
          <a:p/>
          <a:p>
            <a:r>
              <a:t>Explain trailing stop: "It starts below your entry, and as the price rises the stop rises with it, locking in profit. It never moves back down." Explain cooldown: "After a signal fires on a stock, I block new signals on that stock for a few days, otherwise one single rally generates five overlapping trades and I fool myself about how many independent wins I had."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philosophy: "In trading, you do not control your returns, you only control your risk. So sizing is not an afterthought here, it is the first calculation."</a:t>
            </a:r>
          </a:p>
          <a:p/>
          <a:p>
            <a:r>
              <a:t>Explain ATR sizing concretely with a number: "Say I am willing to lose ₹5,000 on a trade. If the stop is ₹50 away from entry, I buy 100 shares. If the stop is ₹25 away, I buy 200. The rupee risk stays constant regardless of the stock."</a:t>
            </a:r>
          </a:p>
          <a:p/>
          <a:p>
            <a:r>
              <a:t>Explain the frictions, they matter later: "Slippage is the difference between the price I expected and the price I actually got — real markets don't fill you exactly where you want. Transaction costs are brokerage and taxes. Both are modelled in the simulation, because ignoring them is the fastest way to build a strategy that only works on paper."</a:t>
            </a:r>
          </a:p>
          <a:p/>
          <a:p>
            <a:r>
              <a:t>Be honest about the box at the bottom: "One real limitation my audit surfaced — the simulator tests one stock at a time with its own capital, so what I report is a pool of trades, not a single portfolio return. I have not built shared-capital portfolio accounting yet, and I don't want to claim a portfolio return I cannot compute."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backtester is event-driven and bar-by-bar. It walks forward one day at a time and only ever sees data up to that day. It never peeks at the future."</a:t>
            </a:r>
          </a:p>
          <a:p/>
          <a:p>
            <a:r>
              <a:t>Explain the realism points, because this is where most backtests cheat. "Execution delay — if my signal is based on today's closing price, I obviously cannot buy at today's close, because I only knew the close after the market shut. So the fill happens on the next bar." "Gap handling — suppose my stop is at ₹100 and the stock opens the next day at ₹94 on bad news. A naive backtest records an exit at ₹100. Mine records ₹94, which is what would actually happen."</a:t>
            </a:r>
          </a:p>
          <a:p/>
          <a:p>
            <a:r>
              <a:t>Mention the audit result as evidence of rigour: "I wrote a separate script that constructs 29 artificial scenarios and checks the engine's behaviour against a hand-calculated expected answer. 28 passed. The one that failed needed a setting production never uses — I traced it, documented it, and wrote a regression test so it can never silently come back."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every metric before you show the verdict. "Win rate is the percentage of trades that made money — mine is 42.3%, so most trades actually lose. That is normal for trend systems, as long as winners are bigger than losers. Profit factor is total profit divided by total loss — 1.14 means for every ₹1 I lost, I made ₹1.14. Expectancy is the average result per trade — about ₹329."</a:t>
            </a:r>
          </a:p>
          <a:p/>
          <a:p>
            <a:r>
              <a:t>Now deliver the honest read, and do not soften it: "This is a thin edge. Profit factor 1.14 over four years is not impressive. I am showing it exactly as it came out, because the next few slides will show it gets worse, and I would rather you hear that from me than find it later."</a:t>
            </a:r>
          </a:p>
          <a:p/>
          <a:p>
            <a:r>
              <a:t>Mention the dispersion: "Also note the range — one stock returned +9.5% and another −5.8% with the exact same rules. So the result is not uniform, it depends heavily on which stock you were in."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of the project I am most proud of, even though it produced bad news. I wrote twenty separate scripts whose only job is to attack my own system."</a:t>
            </a:r>
          </a:p>
          <a:p/>
          <a:p>
            <a:r>
              <a:t>Explain the method: "Each script imports the real production code, runs it read-only, and independently recalculates what the answer should be. If the two disagree, that is a bug. I never edited production code to make a test pass."</a:t>
            </a:r>
          </a:p>
          <a:p/>
          <a:p>
            <a:r>
              <a:t>Explain multiple testing, since it is subtle but important: "If you test twenty different ideas, one or two will look good purely by chance. There is a statistical correction for that. When I applied it to my RSI zone study, none of the twenty combinations survived. So those 'edges' were most likely noise."</a:t>
            </a:r>
          </a:p>
          <a:p/>
          <a:p>
            <a:r>
              <a:t>Point at the highlighted row and set up the next slide: "And this one — walk-forward validation — is the single most important result in the whole project. It is the next slide."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This is the most important slide in the deck.</a:t>
            </a:r>
          </a:p>
          <a:p/>
          <a:p>
            <a:r>
              <a:t>Explain the method first: "I split each stock's history chronologically. The older 70% I call the tune period. The most recent 30% I held back completely — the validation period. Crucially, I did NOT re-optimise anything in between. The exact same settings ran on both halves."</a:t>
            </a:r>
          </a:p>
          <a:p/>
          <a:p>
            <a:r>
              <a:t>Then read the chart: "The blue bars are the earlier period — profit factor around 1.4, comfortably above 1, looks like a real strategy. The red bars are the recent period — every single one is below 1.0, meaning it lost money. And the average per-trade result flipped from plus ₹814 to minus ₹661."</a:t>
            </a:r>
          </a:p>
          <a:p/>
          <a:p>
            <a:r>
              <a:t>Address the obvious question directly: "You might ask, why not just tune it until validation looks good? Because then validation is no longer unseen data, and I would be fooling myself all over again. That is the exact mistake this test exists to catch. So I deliberately changed nothing."</a:t>
            </a:r>
          </a:p>
          <a:p/>
          <a:p>
            <a:r>
              <a:t>State the conclusion plainly: "I cannot claim this strategy is profitable. What I can claim is that I built the machinery to find that out before risking money — which is the whole point."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I knew the strategy failed out of sample, the next job was to find out where. So I broke the decline down pattern by pattern."</a:t>
            </a:r>
          </a:p>
          <a:p/>
          <a:p>
            <a:r>
              <a:t>Point at the three highlighted rows: "Three patterns did most of the damage. Hammer went from a profit factor of 1.78 to 0.49 — its win rate literally halved, from 54% to 28%. BearishEngulfing went from 2.03 to 0.69. PullbackToMA20, which was my highest-volume pattern, dropped from 1.35 to 0.81."</a:t>
            </a:r>
          </a:p>
          <a:p/>
          <a:p>
            <a:r>
              <a:t>Explain the mechanics on the right in plain terms: "Mechanically what happened is simple — far more trades hit their stop loss and far fewer reached their target. So losses got bigger, wins got smaller, and the maths turned negative."</a:t>
            </a:r>
          </a:p>
          <a:p/>
          <a:p>
            <a:r>
              <a:t>Be rigorous about Breakout20: "One pattern actually improved. But it only had four trades in the validation period. Four trades tells you nothing. I am pointing that out rather than using it as good news, because cherry-picking a tiny sample is exactly the kind of self-deception this whole audit exists to prevent."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ablation first: "An ablation study means you remove one component and see what breaks. It is how you find out whether a filter is doing real work or just sitting there."</a:t>
            </a:r>
          </a:p>
          <a:p/>
          <a:p>
            <a:r>
              <a:t>Focus on the top row: "The market regime filter is the clearest win. When I turned it off, the system took 217 more trades — but the average quality collapsed. Expectancy fell from ₹329 to ₹73 per trade. So checking the overall market before taking a trade genuinely helped in this data."</a:t>
            </a:r>
          </a:p>
          <a:p/>
          <a:p>
            <a:r>
              <a:t>Add the scientific caveat, it shows maturity: "I want to be careful with the word 'proves'. This shows a strong association in one four-year sample on 37 stocks. It is descriptive evidence, not proof of causation."</a:t>
            </a:r>
          </a:p>
          <a:p/>
          <a:p>
            <a:r>
              <a:t>The bottom warning box is a good story to tell: "Here is something I could easily have hidden. One of my own code comments claimed the distribution-day filter was validated. My audit found the opposite — removing it was slightly better. I flagged the contradiction and deliberately did not change anything, because tuning a parameter just because one test looked better is exactly how overfitting starts."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as the intellectual summary of the project. "If I had to reduce this whole project to one sentence: a good backtest is a hypothesis, not a result."</a:t>
            </a:r>
          </a:p>
          <a:p/>
          <a:p>
            <a:r>
              <a:t>Use the cost table to make the fragility concrete: "Look at what happens as I make my cost assumption more realistic. At 2 basis points — which is what production assumes — profit factor is 1.14. At 10 basis points it is basically 1.0, meaning break-even. At 20 basis points, or with a realistic brokerage and tax stack, it actually loses money."</a:t>
            </a:r>
          </a:p>
          <a:p/>
          <a:p>
            <a:r>
              <a:t>Define basis point: "one basis point is one hundredth of a percent." Then land it: "So the entire edge lives inside a cost assumption of a fraction of a percent. That is a very small margin for error, and I think that is worth saying plainly rather than quoting only the best-case number."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Shift energy here — after three slides of bad news, this is the "but look what exists" slide. Say that explicitly: "The research verdict was negative, but the platform itself is real and working."</a:t>
            </a:r>
          </a:p>
          <a:p/>
          <a:p>
            <a:r>
              <a:t>Go across the three columns. Platform: "There is a working backend and a React web app with authentication, charts, and a toggle that switches the entire analysis between market-aware and stock-only mode." Trading: "Paper trading is implemented with pending orders and an automatic executor, live quotes come from the broker, and there is a ledger that computes XIRR." Define XIRR: "the annualised return accounting for money going in and out at different times."</a:t>
            </a:r>
          </a:p>
          <a:p/>
          <a:p>
            <a:r>
              <a:t>Spend the most time on the AI box at the bottom, because it is the genuinely differentiated part: "The interesting bit is not that there is a chatbot. It is that Claude has tools. If you ask it 'what if I only took breakouts above the 50-day average', it does not guess — it compiles that rule and runs it through the same backtesting engine that produced every chart in this presentation, and comes back with actual trade counts and a profit factor."</a:t>
            </a:r>
          </a:p>
          <a:p/>
          <a:p>
            <a:r>
              <a:t>Be precise about the steward: "There is also an automated reviewer that reads pattern decay evidence and can switch off a failing pattern. Deliberately, it can only turn things off, never on. Re-enabling requires a human. I did not want an AI quietly re-activating a strategy I had rejected."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connecting it to the failure: "Everything I showed you so far was history. The honest answer to 'does this work' can only come from recording predictions in advance and grading them later. That is what this loop is for."</a:t>
            </a:r>
          </a:p>
          <a:p/>
          <a:p>
            <a:r>
              <a:t>Be scrupulous about status — say this sentence: "I want to be clear: the paper trading engine is built. Orders, positions, automatic execution and the ledger all exist. What does NOT exist yet end-to-end is the scheduled daily loop that saves a frozen snapshot and grades it automatically. That is the next piece of work, not something I am claiming is done."</a:t>
            </a:r>
          </a:p>
          <a:p/>
          <a:p>
            <a:r>
              <a:t>Then explain the central rule very carefully, because it is easy to get wrong: "Suppose after today's close my system says buy Infosys around ₹1,500. Tomorrow the market opens at ₹1,512 and that is where the paper trade actually fills. I must store BOTH numbers. ₹1,500 is what I recommended. ₹1,512 is what I got. The gap between them is real-world slippage, and it is one of the most valuable things I can measure."</a:t>
            </a:r>
          </a:p>
          <a:p/>
          <a:p>
            <a:r>
              <a:t>Land the immutability argument: "And the recommendation record can never be edited afterwards. The moment you allow editing, you are back to fitting history — which is exactly the mistake that the walk-forward test caught."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slide: "Given that the current pattern-based approach failed out of sample, the sensible response is not to tune it harder. It is to step back and ask which families of strategy are worth researching properly for a long-term horizon."</a:t>
            </a:r>
          </a:p>
          <a:p/>
          <a:p>
            <a:r>
              <a:t>Walk the table quickly, two sentences each. Momentum — "buy what is already going up; it is the most consistently documented effect in academic finance." Trend following — "stay invested while the trend holds, exit when it breaks; very simple, very few things to overfit." Breakout — "enter when price makes a new high with volume backing it; the problem is false breakouts, and my own data already showed weakness here."</a:t>
            </a:r>
          </a:p>
          <a:p/>
          <a:p>
            <a:r>
              <a:t>Be honest about the bottom two rows: "Mean reversion strategies — buying oversold and selling overbought — look attractive because they win often. But they lose big in trending markets, and my own RSI study found no statistically defensible edge. So I have ranked them weak for my horizon, based on my own evidence rather than opinion."</a:t>
            </a:r>
          </a:p>
          <a:p/>
          <a:p>
            <a:r>
              <a:t>Add the caveat at the bottom: "That last column is a research prior, not a measured result. It tells you where I intend to spend effort next, not what I have proven." </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strategy I want to research next, and I want to explain why in plain terms."</a:t>
            </a:r>
          </a:p>
          <a:p/>
          <a:p>
            <a:r>
              <a:t>Define both halves with an example: "Absolute momentum asks — is this stock up over the last six months, yes or no? Relative momentum asks — is it up MORE than the market and more than its peers? A stock up 8% when the market is up 20% has positive absolute momentum but poor relative momentum. I want both to be positive."</a:t>
            </a:r>
          </a:p>
          <a:p/>
          <a:p>
            <a:r>
              <a:t>Now the correction that matters most — say it clearly and maybe repeat it: "Three months, six months, nine months, twelve months are LOOKBACK periods, not holding periods. A twelve-month lookback simply means I compare today's price to the price twelve months ago. It does not mean I hold for twelve months. How long I hold is a completely separate decision that I will test separately."</a:t>
            </a:r>
          </a:p>
          <a:p/>
          <a:p>
            <a:r>
              <a:t>Walk the workflow on the right: "Start with fundamentally sound companies, calculate momentum, rank them against each other, confirm with the technical layer I have already built, check the market regime — which was the one filter my audit found genuinely useful — and only then produce a recommendation that feeds the paper-trading loop."</a:t>
            </a:r>
          </a:p>
          <a:p/>
          <a:p>
            <a:r>
              <a:t>Finish with the discipline promise: "And critically, I will test this with the same walk-forward method that failed my current strategy. If it fails, I will report that too." </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"Intraday is a completely separate experiment, not an extension of the daily system. Different data, different infrastructure, different cost structure."</a:t>
            </a:r>
          </a:p>
          <a:p/>
          <a:p>
            <a:r>
              <a:t>Explain ORB simply: "Opening Range Breakout. In the first fifteen minutes after the market opens, note the highest and lowest price. If the stock later breaks above that high with strong volume, that is the long signal. And everything is closed before the market shuts, so there is no overnight risk."</a:t>
            </a:r>
          </a:p>
          <a:p/>
          <a:p>
            <a:r>
              <a:t>Define VWAP: "Volume Weighted Average Price — the average price of the day weighted by how much traded at each level. It is the benchmark institutions measure themselves against, so being above or below it matters."</a:t>
            </a:r>
          </a:p>
          <a:p/>
          <a:p>
            <a:r>
              <a:t>Now the honest caveat, and tie it back to the cost slide: "I am not claiming ORB works. In fact my daily strategy's edge disappeared at around 10 to 20 basis points of cost. Intraday means many more trades, so costs hit much harder. Any intraday strategy has to clear a far higher bar before I would take it seriously. That is precisely why it is listed as an experiment."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really about sequencing — which one do I do first, and why."</a:t>
            </a:r>
          </a:p>
          <a:p/>
          <a:p>
            <a:r>
              <a:t>Contrast them concretely: "With daily data I evaluate once a day after the market closes. That is one scheduled job. With intraday I need to be watching continuously during market hours, with reliable minute data and low latency. That is a fundamentally different engineering problem."</a:t>
            </a:r>
          </a:p>
          <a:p/>
          <a:p>
            <a:r>
              <a:t>Explain noise: "On a one-minute chart, most of the movement is random — order flow, bid-ask bounce, small orders. On a daily chart, more of the movement reflects genuine information. So signals are cleaner at the daily level."</a:t>
            </a:r>
          </a:p>
          <a:p/>
          <a:p>
            <a:r>
              <a:t>State the decision and justify it in one line: "Because the goal here is long-term investing, daily strategies are the priority. And there is a practical reason too — all the validation machinery I already built works on daily bars, so I can reuse it immediately instead of rebuilding it."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principle, it is the thing to remember: "Code calculates. AI interprets." I never ask the model to compute a number, because a language model guessing an RSI value is worse than useless.</a:t>
            </a:r>
          </a:p>
          <a:p/>
          <a:p>
            <a:r>
              <a:t>Walk the chain: "The quantitative engine produces structured findings — RSI is 62, price is above the 50-day average, a breakout fired three days ago, the market regime is positive. Those are facts computed by code. Claude's job is to read that bundle and say what it collectively means, including what could go wrong."</a:t>
            </a:r>
          </a:p>
          <a:p/>
          <a:p>
            <a:r>
              <a:t>Explain why this matters for trust: "This design means every AI statement can be traced back to a number that deterministic code produced. If the AI says the setup is weak, I can point at exactly which findings led there. That is not possible if you just hand a model a chart image and ask for an opinion."</a:t>
            </a:r>
          </a:p>
          <a:p/>
          <a:p>
            <a:r>
              <a:t>Separate present from future clearly: "Today the chat, the per-position takes, and the rule-testing tools all work. What is not done yet is wiring AI into the automated daily recommendation pipeline, where its calls would be graded by the same point-in-time loop as everything else. That is the roadmap item." </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bands quickly — the detail is already on screen. "Done: the platform, the backtester, and the validation method. Next: real strategy research led by momentum, and the automated point-in-time paper trading loop. Later: intraday experiments, deeper AI integration, and live monitoring for strategy decay."</a:t>
            </a:r>
          </a:p>
          <a:p/>
          <a:p>
            <a:r>
              <a:t>Then close with the closing line on the slide, and say it slowly — this is your last impression: "The deliverable of this phase was never a profitable strategy. It was a system honest enough to tell me when something has stopped working. That machinery now exists, and the first thing it did was reject my own strategy. I would rather find that out here, in a simulation, than with real money."</a:t>
            </a:r>
          </a:p>
          <a:p/>
          <a:p>
            <a:r>
              <a:t>Then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1417320"/>
            <a:ext cx="11057839" cy="228600"/>
          </a:xfrm>
          <a:prstGeom prst="rect">
            <a:avLst/>
          </a:prstGeom>
          <a:noFill/>
        </p:spPr>
        <p:txBody>
          <a:bodyPr wrap="square" lIns="0" rIns="0" tIns="0" bIns="0" anchor="t">
            <a:spAutoFit/>
          </a:bodyPr>
          <a:lstStyle/>
          <a:p>
            <a:pPr>
              <a:lnSpc>
                <a:spcPct val="135000"/>
              </a:lnSpc>
              <a:spcBef>
                <a:spcPts val="0"/>
              </a:spcBef>
              <a:spcAft>
                <a:spcPts val="0"/>
              </a:spcAft>
            </a:pPr>
            <a:r>
              <a:rPr sz="950" b="0" i="0" spc="150">
                <a:solidFill>
                  <a:srgbClr val="E3A143"/>
                </a:solidFill>
                <a:latin typeface="Consolas"/>
              </a:rPr>
              <a:t>QUANTITATIVE RESEARCH &amp; ENGINEERING REVIEW   ·   NSE EQUITIES</a:t>
            </a:r>
          </a:p>
        </p:txBody>
      </p:sp>
      <p:sp>
        <p:nvSpPr>
          <p:cNvPr id="4" name="TextBox 3"/>
          <p:cNvSpPr txBox="1"/>
          <p:nvPr/>
        </p:nvSpPr>
        <p:spPr>
          <a:xfrm>
            <a:off x="566928" y="1828800"/>
            <a:ext cx="11057839" cy="1188720"/>
          </a:xfrm>
          <a:prstGeom prst="rect">
            <a:avLst/>
          </a:prstGeom>
          <a:noFill/>
        </p:spPr>
        <p:txBody>
          <a:bodyPr wrap="square" lIns="0" rIns="0" tIns="0" bIns="0" anchor="t">
            <a:spAutoFit/>
          </a:bodyPr>
          <a:lstStyle/>
          <a:p>
            <a:pPr>
              <a:lnSpc>
                <a:spcPct val="100000"/>
              </a:lnSpc>
              <a:spcBef>
                <a:spcPts val="0"/>
              </a:spcBef>
              <a:spcAft>
                <a:spcPts val="0"/>
              </a:spcAft>
            </a:pPr>
            <a:r>
              <a:rPr sz="6800" b="0" i="0">
                <a:solidFill>
                  <a:srgbClr val="E9E7E2"/>
                </a:solidFill>
                <a:latin typeface="Georgia"/>
              </a:rPr>
              <a:t>UltraBull</a:t>
            </a:r>
          </a:p>
        </p:txBody>
      </p:sp>
      <p:sp>
        <p:nvSpPr>
          <p:cNvPr id="5" name="Rectangle 4"/>
          <p:cNvSpPr/>
          <p:nvPr/>
        </p:nvSpPr>
        <p:spPr>
          <a:xfrm>
            <a:off x="566928" y="3127248"/>
            <a:ext cx="4937760" cy="1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3429000"/>
            <a:ext cx="7498079" cy="914400"/>
          </a:xfrm>
          <a:prstGeom prst="rect">
            <a:avLst/>
          </a:prstGeom>
          <a:noFill/>
        </p:spPr>
        <p:txBody>
          <a:bodyPr wrap="square" lIns="0" rIns="0" tIns="0" bIns="0" anchor="t">
            <a:spAutoFit/>
          </a:bodyPr>
          <a:lstStyle/>
          <a:p>
            <a:pPr>
              <a:lnSpc>
                <a:spcPct val="125000"/>
              </a:lnSpc>
              <a:spcBef>
                <a:spcPts val="0"/>
              </a:spcBef>
              <a:spcAft>
                <a:spcPts val="0"/>
              </a:spcAft>
            </a:pPr>
            <a:r>
              <a:rPr sz="2100" b="0" i="1">
                <a:solidFill>
                  <a:srgbClr val="A8B0BD"/>
                </a:solidFill>
                <a:latin typeface="Georgia"/>
              </a:rPr>
              <a:t>AI-Assisted Stock Analysis &amp; Algorithmic Trading Platform</a:t>
            </a:r>
          </a:p>
        </p:txBody>
      </p:sp>
      <p:sp>
        <p:nvSpPr>
          <p:cNvPr id="7" name="TextBox 6"/>
          <p:cNvSpPr txBox="1"/>
          <p:nvPr/>
        </p:nvSpPr>
        <p:spPr>
          <a:xfrm>
            <a:off x="566928" y="5074920"/>
            <a:ext cx="2651760" cy="457200"/>
          </a:xfrm>
          <a:prstGeom prst="rect">
            <a:avLst/>
          </a:prstGeom>
          <a:noFill/>
        </p:spPr>
        <p:txBody>
          <a:bodyPr wrap="square" lIns="0" rIns="0" tIns="0" bIns="0" anchor="t">
            <a:spAutoFit/>
          </a:bodyPr>
          <a:lstStyle/>
          <a:p>
            <a:pPr>
              <a:lnSpc>
                <a:spcPct val="135000"/>
              </a:lnSpc>
              <a:spcBef>
                <a:spcPts val="0"/>
              </a:spcBef>
              <a:spcAft>
                <a:spcPts val="400"/>
              </a:spcAft>
            </a:pPr>
            <a:r>
              <a:rPr sz="850" b="0" i="0" spc="120">
                <a:solidFill>
                  <a:srgbClr val="727C8C"/>
                </a:solidFill>
                <a:latin typeface="Consolas"/>
              </a:rPr>
              <a:t>UNIVERSE</a:t>
            </a:r>
          </a:p>
          <a:p>
            <a:pPr>
              <a:lnSpc>
                <a:spcPct val="135000"/>
              </a:lnSpc>
              <a:spcBef>
                <a:spcPts val="0"/>
              </a:spcBef>
              <a:spcAft>
                <a:spcPts val="0"/>
              </a:spcAft>
            </a:pPr>
            <a:r>
              <a:rPr sz="1100" b="0" i="0">
                <a:solidFill>
                  <a:srgbClr val="7FA8BC"/>
                </a:solidFill>
                <a:latin typeface="Consolas"/>
              </a:rPr>
              <a:t>37 NSE symbols</a:t>
            </a:r>
          </a:p>
        </p:txBody>
      </p:sp>
      <p:sp>
        <p:nvSpPr>
          <p:cNvPr id="8" name="TextBox 7"/>
          <p:cNvSpPr txBox="1"/>
          <p:nvPr/>
        </p:nvSpPr>
        <p:spPr>
          <a:xfrm>
            <a:off x="3310128" y="5074920"/>
            <a:ext cx="2651760" cy="457200"/>
          </a:xfrm>
          <a:prstGeom prst="rect">
            <a:avLst/>
          </a:prstGeom>
          <a:noFill/>
        </p:spPr>
        <p:txBody>
          <a:bodyPr wrap="square" lIns="0" rIns="0" tIns="0" bIns="0" anchor="t">
            <a:spAutoFit/>
          </a:bodyPr>
          <a:lstStyle/>
          <a:p>
            <a:pPr>
              <a:lnSpc>
                <a:spcPct val="135000"/>
              </a:lnSpc>
              <a:spcBef>
                <a:spcPts val="0"/>
              </a:spcBef>
              <a:spcAft>
                <a:spcPts val="400"/>
              </a:spcAft>
            </a:pPr>
            <a:r>
              <a:rPr sz="850" b="0" i="0" spc="120">
                <a:solidFill>
                  <a:srgbClr val="727C8C"/>
                </a:solidFill>
                <a:latin typeface="Consolas"/>
              </a:rPr>
              <a:t>WINDOW</a:t>
            </a:r>
          </a:p>
          <a:p>
            <a:pPr>
              <a:lnSpc>
                <a:spcPct val="135000"/>
              </a:lnSpc>
              <a:spcBef>
                <a:spcPts val="0"/>
              </a:spcBef>
              <a:spcAft>
                <a:spcPts val="0"/>
              </a:spcAft>
            </a:pPr>
            <a:r>
              <a:rPr sz="1100" b="0" i="0">
                <a:solidFill>
                  <a:srgbClr val="7FA8BC"/>
                </a:solidFill>
                <a:latin typeface="Consolas"/>
              </a:rPr>
              <a:t>Aug 2022 – Sep 2026</a:t>
            </a:r>
          </a:p>
        </p:txBody>
      </p:sp>
      <p:sp>
        <p:nvSpPr>
          <p:cNvPr id="9" name="TextBox 8"/>
          <p:cNvSpPr txBox="1"/>
          <p:nvPr/>
        </p:nvSpPr>
        <p:spPr>
          <a:xfrm>
            <a:off x="6053328" y="5074920"/>
            <a:ext cx="2651760" cy="457200"/>
          </a:xfrm>
          <a:prstGeom prst="rect">
            <a:avLst/>
          </a:prstGeom>
          <a:noFill/>
        </p:spPr>
        <p:txBody>
          <a:bodyPr wrap="square" lIns="0" rIns="0" tIns="0" bIns="0" anchor="t">
            <a:spAutoFit/>
          </a:bodyPr>
          <a:lstStyle/>
          <a:p>
            <a:pPr>
              <a:lnSpc>
                <a:spcPct val="135000"/>
              </a:lnSpc>
              <a:spcBef>
                <a:spcPts val="0"/>
              </a:spcBef>
              <a:spcAft>
                <a:spcPts val="400"/>
              </a:spcAft>
            </a:pPr>
            <a:r>
              <a:rPr sz="850" b="0" i="0" spc="120">
                <a:solidFill>
                  <a:srgbClr val="727C8C"/>
                </a:solidFill>
                <a:latin typeface="Consolas"/>
              </a:rPr>
              <a:t>COMPLETED TRADES</a:t>
            </a:r>
          </a:p>
          <a:p>
            <a:pPr>
              <a:lnSpc>
                <a:spcPct val="135000"/>
              </a:lnSpc>
              <a:spcBef>
                <a:spcPts val="0"/>
              </a:spcBef>
              <a:spcAft>
                <a:spcPts val="0"/>
              </a:spcAft>
            </a:pPr>
            <a:r>
              <a:rPr sz="1100" b="0" i="0">
                <a:solidFill>
                  <a:srgbClr val="7FA8BC"/>
                </a:solidFill>
                <a:latin typeface="Consolas"/>
              </a:rPr>
              <a:t>1,051</a:t>
            </a:r>
          </a:p>
        </p:txBody>
      </p:sp>
      <p:sp>
        <p:nvSpPr>
          <p:cNvPr id="10" name="TextBox 9"/>
          <p:cNvSpPr txBox="1"/>
          <p:nvPr/>
        </p:nvSpPr>
        <p:spPr>
          <a:xfrm>
            <a:off x="8796528" y="5074920"/>
            <a:ext cx="2651760" cy="457200"/>
          </a:xfrm>
          <a:prstGeom prst="rect">
            <a:avLst/>
          </a:prstGeom>
          <a:noFill/>
        </p:spPr>
        <p:txBody>
          <a:bodyPr wrap="square" lIns="0" rIns="0" tIns="0" bIns="0" anchor="t">
            <a:spAutoFit/>
          </a:bodyPr>
          <a:lstStyle/>
          <a:p>
            <a:pPr>
              <a:lnSpc>
                <a:spcPct val="135000"/>
              </a:lnSpc>
              <a:spcBef>
                <a:spcPts val="0"/>
              </a:spcBef>
              <a:spcAft>
                <a:spcPts val="400"/>
              </a:spcAft>
            </a:pPr>
            <a:r>
              <a:rPr sz="850" b="0" i="0" spc="120">
                <a:solidFill>
                  <a:srgbClr val="727C8C"/>
                </a:solidFill>
                <a:latin typeface="Consolas"/>
              </a:rPr>
              <a:t>AUDIT SCRIPTS</a:t>
            </a:r>
          </a:p>
          <a:p>
            <a:pPr>
              <a:lnSpc>
                <a:spcPct val="135000"/>
              </a:lnSpc>
              <a:spcBef>
                <a:spcPts val="0"/>
              </a:spcBef>
              <a:spcAft>
                <a:spcPts val="0"/>
              </a:spcAft>
            </a:pPr>
            <a:r>
              <a:rPr sz="1100" b="0" i="0">
                <a:solidFill>
                  <a:srgbClr val="7FA8BC"/>
                </a:solidFill>
                <a:latin typeface="Consolas"/>
              </a:rPr>
              <a:t>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02  ·  PROBLEM</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Knowing what to buy is not the same as knowing when</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536192"/>
            <a:ext cx="5307762" cy="160020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8096" y="1700784"/>
            <a:ext cx="4905426" cy="1307592"/>
          </a:xfrm>
          <a:prstGeom prst="rect">
            <a:avLst/>
          </a:prstGeom>
          <a:noFill/>
        </p:spPr>
        <p:txBody>
          <a:bodyPr wrap="square" lIns="0" rIns="0" tIns="0" bIns="0" anchor="t">
            <a:spAutoFit/>
          </a:bodyPr>
          <a:lstStyle/>
          <a:p>
            <a:pPr>
              <a:lnSpc>
                <a:spcPct val="138000"/>
              </a:lnSpc>
              <a:spcBef>
                <a:spcPts val="0"/>
              </a:spcBef>
              <a:spcAft>
                <a:spcPts val="600"/>
              </a:spcAft>
            </a:pPr>
            <a:r>
              <a:rPr sz="1050" b="0" i="0">
                <a:solidFill>
                  <a:srgbClr val="A8B0BD"/>
                </a:solidFill>
                <a:latin typeface="Segoe UI"/>
              </a:rPr>
              <a:t>Fundamental screening tells you which companies are worth owning. It does not tell you the price, the day, or the risk level at which to act — and it cannot tell you whether your own timing rules have any historical edge at all.</a:t>
            </a:r>
          </a:p>
        </p:txBody>
      </p:sp>
      <p:sp>
        <p:nvSpPr>
          <p:cNvPr id="8" name="Rectangle 7"/>
          <p:cNvSpPr/>
          <p:nvPr/>
        </p:nvSpPr>
        <p:spPr>
          <a:xfrm>
            <a:off x="566928" y="3291840"/>
            <a:ext cx="5307762" cy="786384"/>
          </a:xfrm>
          <a:prstGeom prst="rect">
            <a:avLst/>
          </a:prstGeom>
          <a:solidFill>
            <a:srgbClr val="12161D"/>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3291840"/>
            <a:ext cx="25000" cy="786384"/>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68096" y="3429000"/>
            <a:ext cx="4905426" cy="530352"/>
          </a:xfrm>
          <a:prstGeom prst="rect">
            <a:avLst/>
          </a:prstGeom>
          <a:noFill/>
        </p:spPr>
        <p:txBody>
          <a:bodyPr wrap="square" lIns="0" rIns="0" tIns="0" bIns="0" anchor="t">
            <a:spAutoFit/>
          </a:bodyPr>
          <a:lstStyle/>
          <a:p>
            <a:pPr>
              <a:lnSpc>
                <a:spcPct val="140000"/>
              </a:lnSpc>
              <a:spcBef>
                <a:spcPts val="0"/>
              </a:spcBef>
              <a:spcAft>
                <a:spcPts val="0"/>
              </a:spcAft>
            </a:pPr>
            <a:r>
              <a:rPr sz="1050" b="0">
                <a:solidFill>
                  <a:srgbClr val="A8B0BD"/>
                </a:solidFill>
                <a:latin typeface="Segoe UI"/>
              </a:rPr>
              <a:t>Most retail systems stop at "this looks like a good setup." UltraBull is built around the step after that: </a:t>
            </a:r>
            <a:r>
              <a:rPr sz="1050" b="1">
                <a:solidFill>
                  <a:srgbClr val="E9E7E2"/>
                </a:solidFill>
                <a:latin typeface="Segoe UI"/>
              </a:rPr>
              <a:t>prove it, or discard it.</a:t>
            </a:r>
          </a:p>
        </p:txBody>
      </p:sp>
      <p:sp>
        <p:nvSpPr>
          <p:cNvPr id="11" name="Rectangle 10"/>
          <p:cNvSpPr/>
          <p:nvPr/>
        </p:nvSpPr>
        <p:spPr>
          <a:xfrm>
            <a:off x="6258738" y="1536192"/>
            <a:ext cx="5366028" cy="310896"/>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01   </a:t>
            </a:r>
            <a:r>
              <a:rPr sz="1000" b="0">
                <a:solidFill>
                  <a:srgbClr val="E9E7E2"/>
                </a:solidFill>
                <a:latin typeface="Segoe UI"/>
              </a:rPr>
              <a:t>Fundamentals give the candidate universe</a:t>
            </a:r>
          </a:p>
        </p:txBody>
      </p:sp>
      <p:sp>
        <p:nvSpPr>
          <p:cNvPr id="12" name="Rectangle 11"/>
          <p:cNvSpPr/>
          <p:nvPr/>
        </p:nvSpPr>
        <p:spPr>
          <a:xfrm>
            <a:off x="8937252" y="1847088"/>
            <a:ext cx="9000" cy="105156"/>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Isosceles Triangle 12"/>
          <p:cNvSpPr/>
          <p:nvPr/>
        </p:nvSpPr>
        <p:spPr>
          <a:xfrm rot="10800000">
            <a:off x="8896032" y="1901952"/>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258738" y="1952244"/>
            <a:ext cx="5366028" cy="310896"/>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02   </a:t>
            </a:r>
            <a:r>
              <a:rPr sz="1000" b="0">
                <a:solidFill>
                  <a:srgbClr val="E9E7E2"/>
                </a:solidFill>
                <a:latin typeface="Segoe UI"/>
              </a:rPr>
              <a:t>Technicals describe trend, momentum, volatility</a:t>
            </a:r>
          </a:p>
        </p:txBody>
      </p:sp>
      <p:sp>
        <p:nvSpPr>
          <p:cNvPr id="15" name="Rectangle 14"/>
          <p:cNvSpPr/>
          <p:nvPr/>
        </p:nvSpPr>
        <p:spPr>
          <a:xfrm>
            <a:off x="8937252" y="2263140"/>
            <a:ext cx="9000" cy="105156"/>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Isosceles Triangle 15"/>
          <p:cNvSpPr/>
          <p:nvPr/>
        </p:nvSpPr>
        <p:spPr>
          <a:xfrm rot="10800000">
            <a:off x="8896032" y="2318004"/>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58738" y="2368296"/>
            <a:ext cx="5366028" cy="310896"/>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03   </a:t>
            </a:r>
            <a:r>
              <a:rPr sz="1000" b="0">
                <a:solidFill>
                  <a:srgbClr val="E9E7E2"/>
                </a:solidFill>
                <a:latin typeface="Segoe UI"/>
              </a:rPr>
              <a:t>Patterns mark possible entry setups</a:t>
            </a:r>
          </a:p>
        </p:txBody>
      </p:sp>
      <p:sp>
        <p:nvSpPr>
          <p:cNvPr id="18" name="Rectangle 17"/>
          <p:cNvSpPr/>
          <p:nvPr/>
        </p:nvSpPr>
        <p:spPr>
          <a:xfrm>
            <a:off x="8937252" y="2679192"/>
            <a:ext cx="9000" cy="105156"/>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Isosceles Triangle 18"/>
          <p:cNvSpPr/>
          <p:nvPr/>
        </p:nvSpPr>
        <p:spPr>
          <a:xfrm rot="10800000">
            <a:off x="8896032" y="2734056"/>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58738" y="2784348"/>
            <a:ext cx="5366028" cy="310896"/>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04   </a:t>
            </a:r>
            <a:r>
              <a:rPr sz="1000" b="0">
                <a:solidFill>
                  <a:srgbClr val="E9E7E2"/>
                </a:solidFill>
                <a:latin typeface="Segoe UI"/>
              </a:rPr>
              <a:t>Rules filter out the weak candidates</a:t>
            </a:r>
          </a:p>
        </p:txBody>
      </p:sp>
      <p:sp>
        <p:nvSpPr>
          <p:cNvPr id="21" name="Rectangle 20"/>
          <p:cNvSpPr/>
          <p:nvPr/>
        </p:nvSpPr>
        <p:spPr>
          <a:xfrm>
            <a:off x="8937252" y="3095244"/>
            <a:ext cx="9000" cy="105156"/>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Isosceles Triangle 21"/>
          <p:cNvSpPr/>
          <p:nvPr/>
        </p:nvSpPr>
        <p:spPr>
          <a:xfrm rot="10800000">
            <a:off x="8896032" y="3150108"/>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258738" y="3200400"/>
            <a:ext cx="5366028" cy="310896"/>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05   </a:t>
            </a:r>
            <a:r>
              <a:rPr sz="1000" b="0">
                <a:solidFill>
                  <a:srgbClr val="E9E7E2"/>
                </a:solidFill>
                <a:latin typeface="Segoe UI"/>
              </a:rPr>
              <a:t>Backtesting asks: did this ever work?</a:t>
            </a:r>
          </a:p>
        </p:txBody>
      </p:sp>
      <p:sp>
        <p:nvSpPr>
          <p:cNvPr id="24" name="Rectangle 23"/>
          <p:cNvSpPr/>
          <p:nvPr/>
        </p:nvSpPr>
        <p:spPr>
          <a:xfrm>
            <a:off x="8937252" y="3511296"/>
            <a:ext cx="9000" cy="105156"/>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Isosceles Triangle 24"/>
          <p:cNvSpPr/>
          <p:nvPr/>
        </p:nvSpPr>
        <p:spPr>
          <a:xfrm rot="10800000">
            <a:off x="8896032" y="3566160"/>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258738" y="3616452"/>
            <a:ext cx="5366028" cy="310896"/>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06   </a:t>
            </a:r>
            <a:r>
              <a:rPr sz="1000" b="0">
                <a:solidFill>
                  <a:srgbClr val="E9E7E2"/>
                </a:solidFill>
                <a:latin typeface="Segoe UI"/>
              </a:rPr>
              <a:t>Paper trading asks: does it work now?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03  ·  OBJECTIVES</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Ten capabilities, one end-to-end system</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536192"/>
            <a:ext cx="5336895" cy="31089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8096" y="1700784"/>
            <a:ext cx="4934559"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ANALYSIS LAYER</a:t>
            </a:r>
          </a:p>
        </p:txBody>
      </p:sp>
      <p:sp>
        <p:nvSpPr>
          <p:cNvPr id="8" name="TextBox 7"/>
          <p:cNvSpPr txBox="1"/>
          <p:nvPr/>
        </p:nvSpPr>
        <p:spPr>
          <a:xfrm>
            <a:off x="768096" y="1993392"/>
            <a:ext cx="4934559" cy="252374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Automated stock analysis</a:t>
            </a:r>
            <a:r>
              <a:rPr sz="1000" b="0">
                <a:solidFill>
                  <a:srgbClr val="A8B0BD"/>
                </a:solidFill>
                <a:latin typeface="Segoe UI"/>
              </a:rPr>
              <a:t> — one symbol in, full structured verdict out</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Technical indicators</a:t>
            </a:r>
            <a:r>
              <a:rPr sz="1000" b="0">
                <a:solidFill>
                  <a:srgbClr val="A8B0BD"/>
                </a:solidFill>
                <a:latin typeface="Segoe UI"/>
              </a:rPr>
              <a:t> — RSI, MA20/50, MACD, ATR, Bollinger, ADX</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Pattern detection</a:t>
            </a:r>
            <a:r>
              <a:rPr sz="1000" b="0">
                <a:solidFill>
                  <a:srgbClr val="A8B0BD"/>
                </a:solidFill>
                <a:latin typeface="Segoe UI"/>
              </a:rPr>
              <a:t> — a library of independent detectors</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Market context</a:t>
            </a:r>
            <a:r>
              <a:rPr sz="1000" b="0">
                <a:solidFill>
                  <a:srgbClr val="A8B0BD"/>
                </a:solidFill>
                <a:latin typeface="Segoe UI"/>
              </a:rPr>
              <a:t> — index regime, sector, relative strength, breadth</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AI-assisted analysis</a:t>
            </a:r>
            <a:r>
              <a:rPr sz="1000" b="0">
                <a:solidFill>
                  <a:srgbClr val="A8B0BD"/>
                </a:solidFill>
                <a:latin typeface="Segoe UI"/>
              </a:rPr>
              <a:t> — Claude reads the structured output, not raw charts</a:t>
            </a:r>
          </a:p>
        </p:txBody>
      </p:sp>
      <p:sp>
        <p:nvSpPr>
          <p:cNvPr id="9" name="Rectangle 8"/>
          <p:cNvSpPr/>
          <p:nvPr/>
        </p:nvSpPr>
        <p:spPr>
          <a:xfrm>
            <a:off x="6287871" y="1536192"/>
            <a:ext cx="5336895" cy="31089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89039" y="1700784"/>
            <a:ext cx="4934559"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DECISION &amp; PROOF LAYER</a:t>
            </a:r>
          </a:p>
        </p:txBody>
      </p:sp>
      <p:sp>
        <p:nvSpPr>
          <p:cNvPr id="11" name="TextBox 10"/>
          <p:cNvSpPr txBox="1"/>
          <p:nvPr/>
        </p:nvSpPr>
        <p:spPr>
          <a:xfrm>
            <a:off x="6489039" y="1993392"/>
            <a:ext cx="4934559" cy="252374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Rule-based signal generation</a:t>
            </a:r>
            <a:r>
              <a:rPr sz="1000" b="0">
                <a:solidFill>
                  <a:srgbClr val="A8B0BD"/>
                </a:solidFill>
                <a:latin typeface="Segoe UI"/>
              </a:rPr>
              <a:t> — deterministic, reproducible, no discretion</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Risk management</a:t>
            </a:r>
            <a:r>
              <a:rPr sz="1000" b="0">
                <a:solidFill>
                  <a:srgbClr val="A8B0BD"/>
                </a:solidFill>
                <a:latin typeface="Segoe UI"/>
              </a:rPr>
              <a:t> — ATR-based sizing, stops, targets, exposure caps</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Backtesting</a:t>
            </a:r>
            <a:r>
              <a:rPr sz="1000" b="0">
                <a:solidFill>
                  <a:srgbClr val="A8B0BD"/>
                </a:solidFill>
                <a:latin typeface="Segoe UI"/>
              </a:rPr>
              <a:t> — bar-by-bar simulation with costs and execution delay</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Walk-forward / OOS validation</a:t>
            </a:r>
            <a:r>
              <a:rPr sz="1000" b="0">
                <a:solidFill>
                  <a:srgbClr val="A8B0BD"/>
                </a:solidFill>
                <a:latin typeface="Segoe UI"/>
              </a:rPr>
              <a:t> — does the edge survive unseen time?</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Paper trading</a:t>
            </a:r>
            <a:r>
              <a:rPr sz="1000" b="0">
                <a:solidFill>
                  <a:srgbClr val="A8B0BD"/>
                </a:solidFill>
                <a:latin typeface="Segoe UI"/>
              </a:rPr>
              <a:t> — forward testing against live market prices</a:t>
            </a:r>
          </a:p>
        </p:txBody>
      </p:sp>
      <p:sp>
        <p:nvSpPr>
          <p:cNvPr id="12" name="TextBox 11"/>
          <p:cNvSpPr txBox="1"/>
          <p:nvPr/>
        </p:nvSpPr>
        <p:spPr>
          <a:xfrm>
            <a:off x="566928" y="4846320"/>
            <a:ext cx="11057839" cy="274320"/>
          </a:xfrm>
          <a:prstGeom prst="rect">
            <a:avLst/>
          </a:prstGeom>
          <a:noFill/>
        </p:spPr>
        <p:txBody>
          <a:bodyPr wrap="square" lIns="0" rIns="0" tIns="0" bIns="0" anchor="t">
            <a:spAutoFit/>
          </a:bodyPr>
          <a:lstStyle/>
          <a:p>
            <a:pPr>
              <a:lnSpc>
                <a:spcPct val="135000"/>
              </a:lnSpc>
              <a:spcBef>
                <a:spcPts val="0"/>
              </a:spcBef>
              <a:spcAft>
                <a:spcPts val="0"/>
              </a:spcAft>
            </a:pPr>
            <a:r>
              <a:rPr sz="950" b="0" i="0">
                <a:solidFill>
                  <a:srgbClr val="727C8C"/>
                </a:solidFill>
                <a:latin typeface="Consolas"/>
              </a:rPr>
              <a:t>Design rule — every number a human sees is computed by deterministic code; AI never invents a figure.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04  ·  ARCHITECTURE</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System architecture</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554480"/>
            <a:ext cx="996696" cy="0"/>
          </a:xfrm>
          <a:prstGeom prst="rect">
            <a:avLst/>
          </a:prstGeom>
          <a:noFill/>
        </p:spPr>
        <p:txBody>
          <a:bodyPr wrap="square" lIns="0" rIns="0" tIns="0" bIns="0" anchor="ctr">
            <a:spAutoFit/>
          </a:bodyPr>
          <a:lstStyle/>
          <a:p>
            <a:pPr algn="r">
              <a:lnSpc>
                <a:spcPct val="135000"/>
              </a:lnSpc>
              <a:spcBef>
                <a:spcPts val="0"/>
              </a:spcBef>
              <a:spcAft>
                <a:spcPts val="0"/>
              </a:spcAft>
            </a:pPr>
            <a:r>
              <a:rPr sz="800" b="0" i="0" spc="130">
                <a:solidFill>
                  <a:srgbClr val="7FA8BC"/>
                </a:solidFill>
                <a:latin typeface="Consolas"/>
              </a:rPr>
              <a:t>DATA</a:t>
            </a:r>
          </a:p>
        </p:txBody>
      </p:sp>
      <p:sp>
        <p:nvSpPr>
          <p:cNvPr id="7" name="Rectangle 6"/>
          <p:cNvSpPr/>
          <p:nvPr/>
        </p:nvSpPr>
        <p:spPr>
          <a:xfrm>
            <a:off x="1618488" y="1536192"/>
            <a:ext cx="9525" cy="56692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1764792" y="1536192"/>
            <a:ext cx="2403271"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Market data</a:t>
            </a:r>
          </a:p>
          <a:p>
            <a:pPr>
              <a:lnSpc>
                <a:spcPct val="125000"/>
              </a:lnSpc>
              <a:spcBef>
                <a:spcPts val="0"/>
              </a:spcBef>
              <a:spcAft>
                <a:spcPts val="0"/>
              </a:spcAft>
            </a:pPr>
            <a:r>
              <a:rPr sz="750" b="0" i="0">
                <a:solidFill>
                  <a:srgbClr val="727C8C"/>
                </a:solidFill>
                <a:latin typeface="Consolas"/>
              </a:rPr>
              <a:t>OHLCV · daily · cached</a:t>
            </a:r>
          </a:p>
        </p:txBody>
      </p:sp>
      <p:sp>
        <p:nvSpPr>
          <p:cNvPr id="9" name="Rectangle 8"/>
          <p:cNvSpPr/>
          <p:nvPr/>
        </p:nvSpPr>
        <p:spPr>
          <a:xfrm>
            <a:off x="1764792" y="1536192"/>
            <a:ext cx="2403271" cy="22000"/>
          </a:xfrm>
          <a:prstGeom prst="rect">
            <a:avLst/>
          </a:prstGeom>
          <a:solidFill>
            <a:srgbClr val="7FA8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250359" y="1536192"/>
            <a:ext cx="2403271"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Corporate events</a:t>
            </a:r>
          </a:p>
          <a:p>
            <a:pPr>
              <a:lnSpc>
                <a:spcPct val="125000"/>
              </a:lnSpc>
              <a:spcBef>
                <a:spcPts val="0"/>
              </a:spcBef>
              <a:spcAft>
                <a:spcPts val="0"/>
              </a:spcAft>
            </a:pPr>
            <a:r>
              <a:rPr sz="750" b="0" i="0">
                <a:solidFill>
                  <a:srgbClr val="727C8C"/>
                </a:solidFill>
                <a:latin typeface="Consolas"/>
              </a:rPr>
              <a:t>earnings · dividends</a:t>
            </a:r>
          </a:p>
        </p:txBody>
      </p:sp>
      <p:sp>
        <p:nvSpPr>
          <p:cNvPr id="11" name="Rectangle 10"/>
          <p:cNvSpPr/>
          <p:nvPr/>
        </p:nvSpPr>
        <p:spPr>
          <a:xfrm>
            <a:off x="4250359" y="1536192"/>
            <a:ext cx="2403271" cy="22000"/>
          </a:xfrm>
          <a:prstGeom prst="rect">
            <a:avLst/>
          </a:prstGeom>
          <a:solidFill>
            <a:srgbClr val="7FA8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735927" y="1536192"/>
            <a:ext cx="2403271"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Fundamental context</a:t>
            </a:r>
          </a:p>
          <a:p>
            <a:pPr>
              <a:lnSpc>
                <a:spcPct val="125000"/>
              </a:lnSpc>
              <a:spcBef>
                <a:spcPts val="0"/>
              </a:spcBef>
              <a:spcAft>
                <a:spcPts val="0"/>
              </a:spcAft>
            </a:pPr>
            <a:r>
              <a:rPr sz="750" b="0" i="0">
                <a:solidFill>
                  <a:srgbClr val="727C8C"/>
                </a:solidFill>
                <a:latin typeface="Consolas"/>
              </a:rPr>
              <a:t>company-level</a:t>
            </a:r>
          </a:p>
        </p:txBody>
      </p:sp>
      <p:sp>
        <p:nvSpPr>
          <p:cNvPr id="13" name="Rectangle 12"/>
          <p:cNvSpPr/>
          <p:nvPr/>
        </p:nvSpPr>
        <p:spPr>
          <a:xfrm>
            <a:off x="6735927" y="1536192"/>
            <a:ext cx="2403271" cy="22000"/>
          </a:xfrm>
          <a:prstGeom prst="rect">
            <a:avLst/>
          </a:prstGeom>
          <a:solidFill>
            <a:srgbClr val="7FA8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9221495" y="1536192"/>
            <a:ext cx="2403271"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Index &amp; sector series</a:t>
            </a:r>
          </a:p>
          <a:p>
            <a:pPr>
              <a:lnSpc>
                <a:spcPct val="125000"/>
              </a:lnSpc>
              <a:spcBef>
                <a:spcPts val="0"/>
              </a:spcBef>
              <a:spcAft>
                <a:spcPts val="0"/>
              </a:spcAft>
            </a:pPr>
            <a:r>
              <a:rPr sz="750" b="0" i="0">
                <a:solidFill>
                  <a:srgbClr val="727C8C"/>
                </a:solidFill>
                <a:latin typeface="Consolas"/>
              </a:rPr>
              <a:t>NIFTY · sector indices</a:t>
            </a:r>
          </a:p>
        </p:txBody>
      </p:sp>
      <p:sp>
        <p:nvSpPr>
          <p:cNvPr id="15" name="Rectangle 14"/>
          <p:cNvSpPr/>
          <p:nvPr/>
        </p:nvSpPr>
        <p:spPr>
          <a:xfrm>
            <a:off x="9221495" y="1536192"/>
            <a:ext cx="2403271" cy="22000"/>
          </a:xfrm>
          <a:prstGeom prst="rect">
            <a:avLst/>
          </a:prstGeom>
          <a:solidFill>
            <a:srgbClr val="7FA8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2029968" y="2103120"/>
            <a:ext cx="9525" cy="15544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Isosceles Triangle 16"/>
          <p:cNvSpPr/>
          <p:nvPr/>
        </p:nvSpPr>
        <p:spPr>
          <a:xfrm rot="10800000">
            <a:off x="1984248" y="2208276"/>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66928" y="2276856"/>
            <a:ext cx="996696" cy="0"/>
          </a:xfrm>
          <a:prstGeom prst="rect">
            <a:avLst/>
          </a:prstGeom>
          <a:noFill/>
        </p:spPr>
        <p:txBody>
          <a:bodyPr wrap="square" lIns="0" rIns="0" tIns="0" bIns="0" anchor="ctr">
            <a:spAutoFit/>
          </a:bodyPr>
          <a:lstStyle/>
          <a:p>
            <a:pPr algn="r">
              <a:lnSpc>
                <a:spcPct val="135000"/>
              </a:lnSpc>
              <a:spcBef>
                <a:spcPts val="0"/>
              </a:spcBef>
              <a:spcAft>
                <a:spcPts val="0"/>
              </a:spcAft>
            </a:pPr>
            <a:r>
              <a:rPr sz="800" b="0" i="0" spc="130">
                <a:solidFill>
                  <a:srgbClr val="E3A143"/>
                </a:solidFill>
                <a:latin typeface="Consolas"/>
              </a:rPr>
              <a:t>SIGNAL ENGINE</a:t>
            </a:r>
          </a:p>
        </p:txBody>
      </p:sp>
      <p:sp>
        <p:nvSpPr>
          <p:cNvPr id="19" name="Rectangle 18"/>
          <p:cNvSpPr/>
          <p:nvPr/>
        </p:nvSpPr>
        <p:spPr>
          <a:xfrm>
            <a:off x="1618488" y="2258568"/>
            <a:ext cx="9525" cy="56692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1764792" y="2258568"/>
            <a:ext cx="3231794"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Technical indicators</a:t>
            </a:r>
          </a:p>
          <a:p>
            <a:pPr>
              <a:lnSpc>
                <a:spcPct val="125000"/>
              </a:lnSpc>
              <a:spcBef>
                <a:spcPts val="0"/>
              </a:spcBef>
              <a:spcAft>
                <a:spcPts val="0"/>
              </a:spcAft>
            </a:pPr>
            <a:r>
              <a:rPr sz="750" b="0" i="0">
                <a:solidFill>
                  <a:srgbClr val="727C8C"/>
                </a:solidFill>
                <a:latin typeface="Consolas"/>
              </a:rPr>
              <a:t>vectorised → normalised frames</a:t>
            </a:r>
          </a:p>
        </p:txBody>
      </p:sp>
      <p:sp>
        <p:nvSpPr>
          <p:cNvPr id="21" name="Rectangle 20"/>
          <p:cNvSpPr/>
          <p:nvPr/>
        </p:nvSpPr>
        <p:spPr>
          <a:xfrm>
            <a:off x="1764792" y="2258568"/>
            <a:ext cx="3231794"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5078882" y="2258568"/>
            <a:ext cx="3231794"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Pattern detection</a:t>
            </a:r>
          </a:p>
          <a:p>
            <a:pPr>
              <a:lnSpc>
                <a:spcPct val="125000"/>
              </a:lnSpc>
              <a:spcBef>
                <a:spcPts val="0"/>
              </a:spcBef>
              <a:spcAft>
                <a:spcPts val="0"/>
              </a:spcAft>
            </a:pPr>
            <a:r>
              <a:rPr sz="750" b="0" i="0">
                <a:solidFill>
                  <a:srgbClr val="727C8C"/>
                </a:solidFill>
                <a:latin typeface="Consolas"/>
              </a:rPr>
              <a:t>breakouts · candles · pullbacks</a:t>
            </a:r>
          </a:p>
        </p:txBody>
      </p:sp>
      <p:sp>
        <p:nvSpPr>
          <p:cNvPr id="23" name="Rectangle 22"/>
          <p:cNvSpPr/>
          <p:nvPr/>
        </p:nvSpPr>
        <p:spPr>
          <a:xfrm>
            <a:off x="5078882" y="2258568"/>
            <a:ext cx="3231794"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392972" y="2258568"/>
            <a:ext cx="3231794"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Enrichment &amp; scoring</a:t>
            </a:r>
          </a:p>
          <a:p>
            <a:pPr>
              <a:lnSpc>
                <a:spcPct val="125000"/>
              </a:lnSpc>
              <a:spcBef>
                <a:spcPts val="0"/>
              </a:spcBef>
              <a:spcAft>
                <a:spcPts val="0"/>
              </a:spcAft>
            </a:pPr>
            <a:r>
              <a:rPr sz="750" b="0" i="0">
                <a:solidFill>
                  <a:srgbClr val="727C8C"/>
                </a:solidFill>
                <a:latin typeface="Consolas"/>
              </a:rPr>
              <a:t>strength · alignment</a:t>
            </a:r>
          </a:p>
        </p:txBody>
      </p:sp>
      <p:sp>
        <p:nvSpPr>
          <p:cNvPr id="25" name="Rectangle 24"/>
          <p:cNvSpPr/>
          <p:nvPr/>
        </p:nvSpPr>
        <p:spPr>
          <a:xfrm>
            <a:off x="8392972" y="2258568"/>
            <a:ext cx="3231794"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2029968" y="2825496"/>
            <a:ext cx="9525" cy="15544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Isosceles Triangle 26"/>
          <p:cNvSpPr/>
          <p:nvPr/>
        </p:nvSpPr>
        <p:spPr>
          <a:xfrm rot="10800000">
            <a:off x="1984248" y="2930652"/>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66928" y="2999232"/>
            <a:ext cx="996696" cy="0"/>
          </a:xfrm>
          <a:prstGeom prst="rect">
            <a:avLst/>
          </a:prstGeom>
          <a:noFill/>
        </p:spPr>
        <p:txBody>
          <a:bodyPr wrap="square" lIns="0" rIns="0" tIns="0" bIns="0" anchor="ctr">
            <a:spAutoFit/>
          </a:bodyPr>
          <a:lstStyle/>
          <a:p>
            <a:pPr algn="r">
              <a:lnSpc>
                <a:spcPct val="135000"/>
              </a:lnSpc>
              <a:spcBef>
                <a:spcPts val="0"/>
              </a:spcBef>
              <a:spcAft>
                <a:spcPts val="0"/>
              </a:spcAft>
            </a:pPr>
            <a:r>
              <a:rPr sz="800" b="0" i="0" spc="130">
                <a:solidFill>
                  <a:srgbClr val="E3A143"/>
                </a:solidFill>
                <a:latin typeface="Consolas"/>
              </a:rPr>
              <a:t/>
            </a:r>
          </a:p>
        </p:txBody>
      </p:sp>
      <p:sp>
        <p:nvSpPr>
          <p:cNvPr id="29" name="Rectangle 28"/>
          <p:cNvSpPr/>
          <p:nvPr/>
        </p:nvSpPr>
        <p:spPr>
          <a:xfrm>
            <a:off x="1618488" y="2980944"/>
            <a:ext cx="9525" cy="56692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1764792" y="2980944"/>
            <a:ext cx="3231794"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Gates &amp; market context</a:t>
            </a:r>
          </a:p>
          <a:p>
            <a:pPr>
              <a:lnSpc>
                <a:spcPct val="125000"/>
              </a:lnSpc>
              <a:spcBef>
                <a:spcPts val="0"/>
              </a:spcBef>
              <a:spcAft>
                <a:spcPts val="0"/>
              </a:spcAft>
            </a:pPr>
            <a:r>
              <a:rPr sz="750" b="0" i="0">
                <a:solidFill>
                  <a:srgbClr val="727C8C"/>
                </a:solidFill>
                <a:latin typeface="Consolas"/>
              </a:rPr>
              <a:t>quality filters</a:t>
            </a:r>
          </a:p>
        </p:txBody>
      </p:sp>
      <p:sp>
        <p:nvSpPr>
          <p:cNvPr id="31" name="Rectangle 30"/>
          <p:cNvSpPr/>
          <p:nvPr/>
        </p:nvSpPr>
        <p:spPr>
          <a:xfrm>
            <a:off x="1764792" y="2980944"/>
            <a:ext cx="3231794"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5078882" y="2980944"/>
            <a:ext cx="3231794"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Signal compilation</a:t>
            </a:r>
          </a:p>
          <a:p>
            <a:pPr>
              <a:lnSpc>
                <a:spcPct val="125000"/>
              </a:lnSpc>
              <a:spcBef>
                <a:spcPts val="0"/>
              </a:spcBef>
              <a:spcAft>
                <a:spcPts val="0"/>
              </a:spcAft>
            </a:pPr>
            <a:r>
              <a:rPr sz="750" b="0" i="0">
                <a:solidFill>
                  <a:srgbClr val="727C8C"/>
                </a:solidFill>
                <a:latin typeface="Consolas"/>
              </a:rPr>
              <a:t>side · entry · SL · TP</a:t>
            </a:r>
          </a:p>
        </p:txBody>
      </p:sp>
      <p:sp>
        <p:nvSpPr>
          <p:cNvPr id="33" name="Rectangle 32"/>
          <p:cNvSpPr/>
          <p:nvPr/>
        </p:nvSpPr>
        <p:spPr>
          <a:xfrm>
            <a:off x="5078882" y="2980944"/>
            <a:ext cx="3231794"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392972" y="2980944"/>
            <a:ext cx="3231794"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Risk management</a:t>
            </a:r>
          </a:p>
          <a:p>
            <a:pPr>
              <a:lnSpc>
                <a:spcPct val="125000"/>
              </a:lnSpc>
              <a:spcBef>
                <a:spcPts val="0"/>
              </a:spcBef>
              <a:spcAft>
                <a:spcPts val="0"/>
              </a:spcAft>
            </a:pPr>
            <a:r>
              <a:rPr sz="750" b="0" i="0">
                <a:solidFill>
                  <a:srgbClr val="727C8C"/>
                </a:solidFill>
                <a:latin typeface="Consolas"/>
              </a:rPr>
              <a:t>ATR sizing · exposure</a:t>
            </a:r>
          </a:p>
        </p:txBody>
      </p:sp>
      <p:sp>
        <p:nvSpPr>
          <p:cNvPr id="35" name="Rectangle 34"/>
          <p:cNvSpPr/>
          <p:nvPr/>
        </p:nvSpPr>
        <p:spPr>
          <a:xfrm>
            <a:off x="8392972" y="2980944"/>
            <a:ext cx="3231794"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2029968" y="3547872"/>
            <a:ext cx="9525" cy="15544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Isosceles Triangle 36"/>
          <p:cNvSpPr/>
          <p:nvPr/>
        </p:nvSpPr>
        <p:spPr>
          <a:xfrm rot="10800000">
            <a:off x="1984248" y="3653028"/>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66928" y="3721608"/>
            <a:ext cx="996696" cy="0"/>
          </a:xfrm>
          <a:prstGeom prst="rect">
            <a:avLst/>
          </a:prstGeom>
          <a:noFill/>
        </p:spPr>
        <p:txBody>
          <a:bodyPr wrap="square" lIns="0" rIns="0" tIns="0" bIns="0" anchor="ctr">
            <a:spAutoFit/>
          </a:bodyPr>
          <a:lstStyle/>
          <a:p>
            <a:pPr algn="r">
              <a:lnSpc>
                <a:spcPct val="135000"/>
              </a:lnSpc>
              <a:spcBef>
                <a:spcPts val="0"/>
              </a:spcBef>
              <a:spcAft>
                <a:spcPts val="0"/>
              </a:spcAft>
            </a:pPr>
            <a:r>
              <a:rPr sz="800" b="0" i="0" spc="130">
                <a:solidFill>
                  <a:srgbClr val="4E9E78"/>
                </a:solidFill>
                <a:latin typeface="Consolas"/>
              </a:rPr>
              <a:t>PROOF</a:t>
            </a:r>
          </a:p>
        </p:txBody>
      </p:sp>
      <p:sp>
        <p:nvSpPr>
          <p:cNvPr id="39" name="Rectangle 38"/>
          <p:cNvSpPr/>
          <p:nvPr/>
        </p:nvSpPr>
        <p:spPr>
          <a:xfrm>
            <a:off x="1618488" y="3703320"/>
            <a:ext cx="9525" cy="56692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1764792" y="3703320"/>
            <a:ext cx="3231794"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Backtesting / simulation</a:t>
            </a:r>
          </a:p>
          <a:p>
            <a:pPr>
              <a:lnSpc>
                <a:spcPct val="125000"/>
              </a:lnSpc>
              <a:spcBef>
                <a:spcPts val="0"/>
              </a:spcBef>
              <a:spcAft>
                <a:spcPts val="0"/>
              </a:spcAft>
            </a:pPr>
            <a:r>
              <a:rPr sz="750" b="0" i="0">
                <a:solidFill>
                  <a:srgbClr val="727C8C"/>
                </a:solidFill>
                <a:latin typeface="Consolas"/>
              </a:rPr>
              <a:t>bar-by-bar engine</a:t>
            </a:r>
          </a:p>
        </p:txBody>
      </p:sp>
      <p:sp>
        <p:nvSpPr>
          <p:cNvPr id="41" name="Rectangle 40"/>
          <p:cNvSpPr/>
          <p:nvPr/>
        </p:nvSpPr>
        <p:spPr>
          <a:xfrm>
            <a:off x="1764792" y="3703320"/>
            <a:ext cx="3231794" cy="22000"/>
          </a:xfrm>
          <a:prstGeom prst="rect">
            <a:avLst/>
          </a:prstGeom>
          <a:solidFill>
            <a:srgbClr val="4E9E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5078882" y="3703320"/>
            <a:ext cx="3231794"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Validation &amp; audit</a:t>
            </a:r>
          </a:p>
          <a:p>
            <a:pPr>
              <a:lnSpc>
                <a:spcPct val="125000"/>
              </a:lnSpc>
              <a:spcBef>
                <a:spcPts val="0"/>
              </a:spcBef>
              <a:spcAft>
                <a:spcPts val="0"/>
              </a:spcAft>
            </a:pPr>
            <a:r>
              <a:rPr sz="750" b="0" i="0">
                <a:solidFill>
                  <a:srgbClr val="727C8C"/>
                </a:solidFill>
                <a:latin typeface="Consolas"/>
              </a:rPr>
              <a:t>20 diagnostic scripts</a:t>
            </a:r>
          </a:p>
        </p:txBody>
      </p:sp>
      <p:sp>
        <p:nvSpPr>
          <p:cNvPr id="43" name="Rectangle 42"/>
          <p:cNvSpPr/>
          <p:nvPr/>
        </p:nvSpPr>
        <p:spPr>
          <a:xfrm>
            <a:off x="5078882" y="3703320"/>
            <a:ext cx="3231794" cy="22000"/>
          </a:xfrm>
          <a:prstGeom prst="rect">
            <a:avLst/>
          </a:prstGeom>
          <a:solidFill>
            <a:srgbClr val="4E9E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8392972" y="3703320"/>
            <a:ext cx="3231794"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Walk-forward testing</a:t>
            </a:r>
          </a:p>
          <a:p>
            <a:pPr>
              <a:lnSpc>
                <a:spcPct val="125000"/>
              </a:lnSpc>
              <a:spcBef>
                <a:spcPts val="0"/>
              </a:spcBef>
              <a:spcAft>
                <a:spcPts val="0"/>
              </a:spcAft>
            </a:pPr>
            <a:r>
              <a:rPr sz="750" b="0" i="0">
                <a:solidFill>
                  <a:srgbClr val="727C8C"/>
                </a:solidFill>
                <a:latin typeface="Consolas"/>
              </a:rPr>
              <a:t>70 / 30 chronological</a:t>
            </a:r>
          </a:p>
        </p:txBody>
      </p:sp>
      <p:sp>
        <p:nvSpPr>
          <p:cNvPr id="45" name="Rectangle 44"/>
          <p:cNvSpPr/>
          <p:nvPr/>
        </p:nvSpPr>
        <p:spPr>
          <a:xfrm>
            <a:off x="8392972" y="3703320"/>
            <a:ext cx="3231794" cy="22000"/>
          </a:xfrm>
          <a:prstGeom prst="rect">
            <a:avLst/>
          </a:prstGeom>
          <a:solidFill>
            <a:srgbClr val="4E9E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Rectangle 45"/>
          <p:cNvSpPr/>
          <p:nvPr/>
        </p:nvSpPr>
        <p:spPr>
          <a:xfrm>
            <a:off x="2029968" y="4270248"/>
            <a:ext cx="9525" cy="15544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Isosceles Triangle 46"/>
          <p:cNvSpPr/>
          <p:nvPr/>
        </p:nvSpPr>
        <p:spPr>
          <a:xfrm rot="10800000">
            <a:off x="1984248" y="4375404"/>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566928" y="4443984"/>
            <a:ext cx="996696" cy="0"/>
          </a:xfrm>
          <a:prstGeom prst="rect">
            <a:avLst/>
          </a:prstGeom>
          <a:noFill/>
        </p:spPr>
        <p:txBody>
          <a:bodyPr wrap="square" lIns="0" rIns="0" tIns="0" bIns="0" anchor="ctr">
            <a:spAutoFit/>
          </a:bodyPr>
          <a:lstStyle/>
          <a:p>
            <a:pPr algn="r">
              <a:lnSpc>
                <a:spcPct val="135000"/>
              </a:lnSpc>
              <a:spcBef>
                <a:spcPts val="0"/>
              </a:spcBef>
              <a:spcAft>
                <a:spcPts val="0"/>
              </a:spcAft>
            </a:pPr>
            <a:r>
              <a:rPr sz="800" b="0" i="0" spc="130">
                <a:solidFill>
                  <a:srgbClr val="727C8C"/>
                </a:solidFill>
                <a:latin typeface="Consolas"/>
              </a:rPr>
              <a:t>PRODUCT</a:t>
            </a:r>
          </a:p>
        </p:txBody>
      </p:sp>
      <p:sp>
        <p:nvSpPr>
          <p:cNvPr id="49" name="Rectangle 48"/>
          <p:cNvSpPr/>
          <p:nvPr/>
        </p:nvSpPr>
        <p:spPr>
          <a:xfrm>
            <a:off x="1618488" y="4425696"/>
            <a:ext cx="9525" cy="56692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Rectangle 49"/>
          <p:cNvSpPr/>
          <p:nvPr/>
        </p:nvSpPr>
        <p:spPr>
          <a:xfrm>
            <a:off x="1764792" y="4425696"/>
            <a:ext cx="3231794"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API backend</a:t>
            </a:r>
          </a:p>
          <a:p>
            <a:pPr>
              <a:lnSpc>
                <a:spcPct val="125000"/>
              </a:lnSpc>
              <a:spcBef>
                <a:spcPts val="0"/>
              </a:spcBef>
              <a:spcAft>
                <a:spcPts val="0"/>
              </a:spcAft>
            </a:pPr>
            <a:r>
              <a:rPr sz="750" b="0" i="0">
                <a:solidFill>
                  <a:srgbClr val="727C8C"/>
                </a:solidFill>
                <a:latin typeface="Consolas"/>
              </a:rPr>
              <a:t>analysis · caching · auth</a:t>
            </a:r>
          </a:p>
        </p:txBody>
      </p:sp>
      <p:sp>
        <p:nvSpPr>
          <p:cNvPr id="51" name="Rectangle 50"/>
          <p:cNvSpPr/>
          <p:nvPr/>
        </p:nvSpPr>
        <p:spPr>
          <a:xfrm>
            <a:off x="1764792" y="4425696"/>
            <a:ext cx="3231794" cy="22000"/>
          </a:xfrm>
          <a:prstGeom prst="rect">
            <a:avLst/>
          </a:prstGeom>
          <a:solidFill>
            <a:srgbClr val="72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5078882" y="4425696"/>
            <a:ext cx="3231794"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Web frontend</a:t>
            </a:r>
          </a:p>
          <a:p>
            <a:pPr>
              <a:lnSpc>
                <a:spcPct val="125000"/>
              </a:lnSpc>
              <a:spcBef>
                <a:spcPts val="0"/>
              </a:spcBef>
              <a:spcAft>
                <a:spcPts val="0"/>
              </a:spcAft>
            </a:pPr>
            <a:r>
              <a:rPr sz="750" b="0" i="0">
                <a:solidFill>
                  <a:srgbClr val="727C8C"/>
                </a:solidFill>
                <a:latin typeface="Consolas"/>
              </a:rPr>
              <a:t>charts · holdings · drawers</a:t>
            </a:r>
          </a:p>
        </p:txBody>
      </p:sp>
      <p:sp>
        <p:nvSpPr>
          <p:cNvPr id="53" name="Rectangle 52"/>
          <p:cNvSpPr/>
          <p:nvPr/>
        </p:nvSpPr>
        <p:spPr>
          <a:xfrm>
            <a:off x="5078882" y="4425696"/>
            <a:ext cx="3231794" cy="22000"/>
          </a:xfrm>
          <a:prstGeom prst="rect">
            <a:avLst/>
          </a:prstGeom>
          <a:solidFill>
            <a:srgbClr val="72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Rectangle 53"/>
          <p:cNvSpPr/>
          <p:nvPr/>
        </p:nvSpPr>
        <p:spPr>
          <a:xfrm>
            <a:off x="8392972" y="4425696"/>
            <a:ext cx="3231794"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Claude AI layer</a:t>
            </a:r>
          </a:p>
          <a:p>
            <a:pPr>
              <a:lnSpc>
                <a:spcPct val="125000"/>
              </a:lnSpc>
              <a:spcBef>
                <a:spcPts val="0"/>
              </a:spcBef>
              <a:spcAft>
                <a:spcPts val="0"/>
              </a:spcAft>
            </a:pPr>
            <a:r>
              <a:rPr sz="750" b="0" i="0">
                <a:solidFill>
                  <a:srgbClr val="727C8C"/>
                </a:solidFill>
                <a:latin typeface="Consolas"/>
              </a:rPr>
              <a:t>chat · takes · rule tools</a:t>
            </a:r>
          </a:p>
        </p:txBody>
      </p:sp>
      <p:sp>
        <p:nvSpPr>
          <p:cNvPr id="55" name="Rectangle 54"/>
          <p:cNvSpPr/>
          <p:nvPr/>
        </p:nvSpPr>
        <p:spPr>
          <a:xfrm>
            <a:off x="8392972" y="4425696"/>
            <a:ext cx="3231794" cy="22000"/>
          </a:xfrm>
          <a:prstGeom prst="rect">
            <a:avLst/>
          </a:prstGeom>
          <a:solidFill>
            <a:srgbClr val="72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2029968" y="4992624"/>
            <a:ext cx="9525" cy="15544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Isosceles Triangle 56"/>
          <p:cNvSpPr/>
          <p:nvPr/>
        </p:nvSpPr>
        <p:spPr>
          <a:xfrm rot="10800000">
            <a:off x="1984248" y="5097780"/>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566928" y="5166360"/>
            <a:ext cx="996696" cy="0"/>
          </a:xfrm>
          <a:prstGeom prst="rect">
            <a:avLst/>
          </a:prstGeom>
          <a:noFill/>
        </p:spPr>
        <p:txBody>
          <a:bodyPr wrap="square" lIns="0" rIns="0" tIns="0" bIns="0" anchor="ctr">
            <a:spAutoFit/>
          </a:bodyPr>
          <a:lstStyle/>
          <a:p>
            <a:pPr algn="r">
              <a:lnSpc>
                <a:spcPct val="135000"/>
              </a:lnSpc>
              <a:spcBef>
                <a:spcPts val="0"/>
              </a:spcBef>
              <a:spcAft>
                <a:spcPts val="0"/>
              </a:spcAft>
            </a:pPr>
            <a:r>
              <a:rPr sz="800" b="0" i="0" spc="130">
                <a:solidFill>
                  <a:srgbClr val="727C8C"/>
                </a:solidFill>
                <a:latin typeface="Consolas"/>
              </a:rPr>
              <a:t>EXECUTION</a:t>
            </a:r>
          </a:p>
        </p:txBody>
      </p:sp>
      <p:sp>
        <p:nvSpPr>
          <p:cNvPr id="59" name="Rectangle 58"/>
          <p:cNvSpPr/>
          <p:nvPr/>
        </p:nvSpPr>
        <p:spPr>
          <a:xfrm>
            <a:off x="1618488" y="5148072"/>
            <a:ext cx="9525" cy="56692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1764792" y="5148072"/>
            <a:ext cx="2403271"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Paper trading</a:t>
            </a:r>
          </a:p>
          <a:p>
            <a:pPr>
              <a:lnSpc>
                <a:spcPct val="125000"/>
              </a:lnSpc>
              <a:spcBef>
                <a:spcPts val="0"/>
              </a:spcBef>
              <a:spcAft>
                <a:spcPts val="0"/>
              </a:spcAft>
            </a:pPr>
            <a:r>
              <a:rPr sz="750" b="0" i="0">
                <a:solidFill>
                  <a:srgbClr val="727C8C"/>
                </a:solidFill>
                <a:latin typeface="Consolas"/>
              </a:rPr>
              <a:t>orders · positions · auto-executor</a:t>
            </a:r>
          </a:p>
        </p:txBody>
      </p:sp>
      <p:sp>
        <p:nvSpPr>
          <p:cNvPr id="61" name="Rectangle 60"/>
          <p:cNvSpPr/>
          <p:nvPr/>
        </p:nvSpPr>
        <p:spPr>
          <a:xfrm>
            <a:off x="1764792" y="5148072"/>
            <a:ext cx="2403271" cy="22000"/>
          </a:xfrm>
          <a:prstGeom prst="rect">
            <a:avLst/>
          </a:prstGeom>
          <a:solidFill>
            <a:srgbClr val="72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Rectangle 61"/>
          <p:cNvSpPr/>
          <p:nvPr/>
        </p:nvSpPr>
        <p:spPr>
          <a:xfrm>
            <a:off x="4250359" y="5148072"/>
            <a:ext cx="2403271"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Live broker quotes</a:t>
            </a:r>
          </a:p>
          <a:p>
            <a:pPr>
              <a:lnSpc>
                <a:spcPct val="125000"/>
              </a:lnSpc>
              <a:spcBef>
                <a:spcPts val="0"/>
              </a:spcBef>
              <a:spcAft>
                <a:spcPts val="0"/>
              </a:spcAft>
            </a:pPr>
            <a:r>
              <a:rPr sz="750" b="0" i="0">
                <a:solidFill>
                  <a:srgbClr val="727C8C"/>
                </a:solidFill>
                <a:latin typeface="Consolas"/>
              </a:rPr>
              <a:t>real-time feed</a:t>
            </a:r>
          </a:p>
        </p:txBody>
      </p:sp>
      <p:sp>
        <p:nvSpPr>
          <p:cNvPr id="63" name="Rectangle 62"/>
          <p:cNvSpPr/>
          <p:nvPr/>
        </p:nvSpPr>
        <p:spPr>
          <a:xfrm>
            <a:off x="4250359" y="5148072"/>
            <a:ext cx="2403271" cy="22000"/>
          </a:xfrm>
          <a:prstGeom prst="rect">
            <a:avLst/>
          </a:prstGeom>
          <a:solidFill>
            <a:srgbClr val="72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6735927" y="5148072"/>
            <a:ext cx="2403271"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Ledger &amp; XIRR</a:t>
            </a:r>
          </a:p>
          <a:p>
            <a:pPr>
              <a:lnSpc>
                <a:spcPct val="125000"/>
              </a:lnSpc>
              <a:spcBef>
                <a:spcPts val="0"/>
              </a:spcBef>
              <a:spcAft>
                <a:spcPts val="0"/>
              </a:spcAft>
            </a:pPr>
            <a:r>
              <a:rPr sz="750" b="0" i="0">
                <a:solidFill>
                  <a:srgbClr val="727C8C"/>
                </a:solidFill>
                <a:latin typeface="Consolas"/>
              </a:rPr>
              <a:t>realised performance</a:t>
            </a:r>
          </a:p>
        </p:txBody>
      </p:sp>
      <p:sp>
        <p:nvSpPr>
          <p:cNvPr id="65" name="Rectangle 64"/>
          <p:cNvSpPr/>
          <p:nvPr/>
        </p:nvSpPr>
        <p:spPr>
          <a:xfrm>
            <a:off x="6735927" y="5148072"/>
            <a:ext cx="2403271" cy="22000"/>
          </a:xfrm>
          <a:prstGeom prst="rect">
            <a:avLst/>
          </a:prstGeom>
          <a:solidFill>
            <a:srgbClr val="72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Rectangle 65"/>
          <p:cNvSpPr/>
          <p:nvPr/>
        </p:nvSpPr>
        <p:spPr>
          <a:xfrm>
            <a:off x="9221495" y="5148072"/>
            <a:ext cx="2403271" cy="56692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Market information</a:t>
            </a:r>
          </a:p>
          <a:p>
            <a:pPr>
              <a:lnSpc>
                <a:spcPct val="125000"/>
              </a:lnSpc>
              <a:spcBef>
                <a:spcPts val="0"/>
              </a:spcBef>
              <a:spcAft>
                <a:spcPts val="0"/>
              </a:spcAft>
            </a:pPr>
            <a:r>
              <a:rPr sz="750" b="0" i="0">
                <a:solidFill>
                  <a:srgbClr val="727C8C"/>
                </a:solidFill>
                <a:latin typeface="Consolas"/>
              </a:rPr>
              <a:t>deals · depth</a:t>
            </a:r>
          </a:p>
        </p:txBody>
      </p:sp>
      <p:sp>
        <p:nvSpPr>
          <p:cNvPr id="67" name="Rectangle 66"/>
          <p:cNvSpPr/>
          <p:nvPr/>
        </p:nvSpPr>
        <p:spPr>
          <a:xfrm>
            <a:off x="9221495" y="5148072"/>
            <a:ext cx="2403271" cy="22000"/>
          </a:xfrm>
          <a:prstGeom prst="rect">
            <a:avLst/>
          </a:prstGeom>
          <a:solidFill>
            <a:srgbClr val="72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05  ·  DATA PIPELINE</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From raw quotes to an analysis frame</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536192"/>
            <a:ext cx="2021372" cy="10515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118872"/>
          <a:lstStyle/>
          <a:p>
            <a:pPr algn="ctr">
              <a:lnSpc>
                <a:spcPct val="118000"/>
              </a:lnSpc>
              <a:spcBef>
                <a:spcPts val="0"/>
              </a:spcBef>
              <a:spcAft>
                <a:spcPts val="400"/>
              </a:spcAft>
            </a:pPr>
            <a:r>
              <a:rPr sz="1050" b="1" i="0">
                <a:solidFill>
                  <a:srgbClr val="E9E7E2"/>
                </a:solidFill>
                <a:latin typeface="Segoe UI"/>
              </a:rPr>
              <a:t>Market data</a:t>
            </a:r>
          </a:p>
          <a:p>
            <a:pPr>
              <a:lnSpc>
                <a:spcPct val="130000"/>
              </a:lnSpc>
              <a:spcBef>
                <a:spcPts val="0"/>
              </a:spcBef>
              <a:spcAft>
                <a:spcPts val="0"/>
              </a:spcAft>
            </a:pPr>
            <a:r>
              <a:rPr sz="800" b="0" i="0">
                <a:solidFill>
                  <a:srgbClr val="727C8C"/>
                </a:solidFill>
                <a:latin typeface="Consolas"/>
              </a:rPr>
              <a:t>Daily OHLCV, split &amp; dividend adjusted</a:t>
            </a:r>
          </a:p>
        </p:txBody>
      </p:sp>
      <p:sp>
        <p:nvSpPr>
          <p:cNvPr id="7" name="Rectangle 6"/>
          <p:cNvSpPr/>
          <p:nvPr/>
        </p:nvSpPr>
        <p:spPr>
          <a:xfrm>
            <a:off x="566928" y="1536192"/>
            <a:ext cx="2021372"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2588300" y="1943100"/>
            <a:ext cx="237744" cy="237744"/>
          </a:xfrm>
          <a:prstGeom prst="rect">
            <a:avLst/>
          </a:prstGeom>
          <a:noFill/>
        </p:spPr>
        <p:txBody>
          <a:bodyPr wrap="square" lIns="0" rIns="0" tIns="0" bIns="0" anchor="ctr">
            <a:spAutoFit/>
          </a:bodyPr>
          <a:lstStyle/>
          <a:p>
            <a:pPr algn="ctr">
              <a:lnSpc>
                <a:spcPct val="135000"/>
              </a:lnSpc>
              <a:spcBef>
                <a:spcPts val="0"/>
              </a:spcBef>
              <a:spcAft>
                <a:spcPts val="0"/>
              </a:spcAft>
            </a:pPr>
            <a:r>
              <a:rPr sz="1300" b="0" i="0">
                <a:solidFill>
                  <a:srgbClr val="8A6427"/>
                </a:solidFill>
                <a:latin typeface="Consolas"/>
              </a:rPr>
              <a:t>→</a:t>
            </a:r>
          </a:p>
        </p:txBody>
      </p:sp>
      <p:sp>
        <p:nvSpPr>
          <p:cNvPr id="9" name="Rectangle 8"/>
          <p:cNvSpPr/>
          <p:nvPr/>
        </p:nvSpPr>
        <p:spPr>
          <a:xfrm>
            <a:off x="2826044" y="1536192"/>
            <a:ext cx="2021372" cy="10515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118872"/>
          <a:lstStyle/>
          <a:p>
            <a:pPr algn="ctr">
              <a:lnSpc>
                <a:spcPct val="118000"/>
              </a:lnSpc>
              <a:spcBef>
                <a:spcPts val="0"/>
              </a:spcBef>
              <a:spcAft>
                <a:spcPts val="400"/>
              </a:spcAft>
            </a:pPr>
            <a:r>
              <a:rPr sz="1050" b="1" i="0">
                <a:solidFill>
                  <a:srgbClr val="E9E7E2"/>
                </a:solidFill>
                <a:latin typeface="Segoe UI"/>
              </a:rPr>
              <a:t>Local cache</a:t>
            </a:r>
          </a:p>
          <a:p>
            <a:pPr>
              <a:lnSpc>
                <a:spcPct val="130000"/>
              </a:lnSpc>
              <a:spcBef>
                <a:spcPts val="0"/>
              </a:spcBef>
              <a:spcAft>
                <a:spcPts val="0"/>
              </a:spcAft>
            </a:pPr>
            <a:r>
              <a:rPr sz="800" b="0" i="0">
                <a:solidFill>
                  <a:srgbClr val="727C8C"/>
                </a:solidFill>
                <a:latin typeface="Consolas"/>
              </a:rPr>
              <a:t>Avoids refetching; keeps runs fast</a:t>
            </a:r>
          </a:p>
        </p:txBody>
      </p:sp>
      <p:sp>
        <p:nvSpPr>
          <p:cNvPr id="10" name="Rectangle 9"/>
          <p:cNvSpPr/>
          <p:nvPr/>
        </p:nvSpPr>
        <p:spPr>
          <a:xfrm>
            <a:off x="2826044" y="1536192"/>
            <a:ext cx="2021372"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847417" y="1943100"/>
            <a:ext cx="237744" cy="237744"/>
          </a:xfrm>
          <a:prstGeom prst="rect">
            <a:avLst/>
          </a:prstGeom>
          <a:noFill/>
        </p:spPr>
        <p:txBody>
          <a:bodyPr wrap="square" lIns="0" rIns="0" tIns="0" bIns="0" anchor="ctr">
            <a:spAutoFit/>
          </a:bodyPr>
          <a:lstStyle/>
          <a:p>
            <a:pPr algn="ctr">
              <a:lnSpc>
                <a:spcPct val="135000"/>
              </a:lnSpc>
              <a:spcBef>
                <a:spcPts val="0"/>
              </a:spcBef>
              <a:spcAft>
                <a:spcPts val="0"/>
              </a:spcAft>
            </a:pPr>
            <a:r>
              <a:rPr sz="1300" b="0" i="0">
                <a:solidFill>
                  <a:srgbClr val="8A6427"/>
                </a:solidFill>
                <a:latin typeface="Consolas"/>
              </a:rPr>
              <a:t>→</a:t>
            </a:r>
          </a:p>
        </p:txBody>
      </p:sp>
      <p:sp>
        <p:nvSpPr>
          <p:cNvPr id="12" name="Rectangle 11"/>
          <p:cNvSpPr/>
          <p:nvPr/>
        </p:nvSpPr>
        <p:spPr>
          <a:xfrm>
            <a:off x="5085161" y="1536192"/>
            <a:ext cx="2021372" cy="10515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118872"/>
          <a:lstStyle/>
          <a:p>
            <a:pPr algn="ctr">
              <a:lnSpc>
                <a:spcPct val="118000"/>
              </a:lnSpc>
              <a:spcBef>
                <a:spcPts val="0"/>
              </a:spcBef>
              <a:spcAft>
                <a:spcPts val="400"/>
              </a:spcAft>
            </a:pPr>
            <a:r>
              <a:rPr sz="1050" b="1" i="0">
                <a:solidFill>
                  <a:srgbClr val="E9E7E2"/>
                </a:solidFill>
                <a:latin typeface="Segoe UI"/>
              </a:rPr>
              <a:t>Event data</a:t>
            </a:r>
          </a:p>
          <a:p>
            <a:pPr>
              <a:lnSpc>
                <a:spcPct val="130000"/>
              </a:lnSpc>
              <a:spcBef>
                <a:spcPts val="0"/>
              </a:spcBef>
              <a:spcAft>
                <a:spcPts val="0"/>
              </a:spcAft>
            </a:pPr>
            <a:r>
              <a:rPr sz="800" b="0" i="0">
                <a:solidFill>
                  <a:srgbClr val="727C8C"/>
                </a:solidFill>
                <a:latin typeface="Consolas"/>
              </a:rPr>
              <a:t>Earnings dates, corporate actions</a:t>
            </a:r>
          </a:p>
        </p:txBody>
      </p:sp>
      <p:sp>
        <p:nvSpPr>
          <p:cNvPr id="13" name="Rectangle 12"/>
          <p:cNvSpPr/>
          <p:nvPr/>
        </p:nvSpPr>
        <p:spPr>
          <a:xfrm>
            <a:off x="5085161" y="1536192"/>
            <a:ext cx="2021372"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106533" y="1943100"/>
            <a:ext cx="237744" cy="237744"/>
          </a:xfrm>
          <a:prstGeom prst="rect">
            <a:avLst/>
          </a:prstGeom>
          <a:noFill/>
        </p:spPr>
        <p:txBody>
          <a:bodyPr wrap="square" lIns="0" rIns="0" tIns="0" bIns="0" anchor="ctr">
            <a:spAutoFit/>
          </a:bodyPr>
          <a:lstStyle/>
          <a:p>
            <a:pPr algn="ctr">
              <a:lnSpc>
                <a:spcPct val="135000"/>
              </a:lnSpc>
              <a:spcBef>
                <a:spcPts val="0"/>
              </a:spcBef>
              <a:spcAft>
                <a:spcPts val="0"/>
              </a:spcAft>
            </a:pPr>
            <a:r>
              <a:rPr sz="1300" b="0" i="0">
                <a:solidFill>
                  <a:srgbClr val="8A6427"/>
                </a:solidFill>
                <a:latin typeface="Consolas"/>
              </a:rPr>
              <a:t>→</a:t>
            </a:r>
          </a:p>
        </p:txBody>
      </p:sp>
      <p:sp>
        <p:nvSpPr>
          <p:cNvPr id="15" name="Rectangle 14"/>
          <p:cNvSpPr/>
          <p:nvPr/>
        </p:nvSpPr>
        <p:spPr>
          <a:xfrm>
            <a:off x="7344277" y="1536192"/>
            <a:ext cx="2021372" cy="10515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118872"/>
          <a:lstStyle/>
          <a:p>
            <a:pPr algn="ctr">
              <a:lnSpc>
                <a:spcPct val="118000"/>
              </a:lnSpc>
              <a:spcBef>
                <a:spcPts val="0"/>
              </a:spcBef>
              <a:spcAft>
                <a:spcPts val="400"/>
              </a:spcAft>
            </a:pPr>
            <a:r>
              <a:rPr sz="1050" b="1" i="0">
                <a:solidFill>
                  <a:srgbClr val="E9E7E2"/>
                </a:solidFill>
                <a:latin typeface="Segoe UI"/>
              </a:rPr>
              <a:t>Vectorised indicators</a:t>
            </a:r>
          </a:p>
          <a:p>
            <a:pPr>
              <a:lnSpc>
                <a:spcPct val="130000"/>
              </a:lnSpc>
              <a:spcBef>
                <a:spcPts val="0"/>
              </a:spcBef>
              <a:spcAft>
                <a:spcPts val="0"/>
              </a:spcAft>
            </a:pPr>
            <a:r>
              <a:rPr sz="800" b="0" i="0">
                <a:solidFill>
                  <a:srgbClr val="727C8C"/>
                </a:solidFill>
                <a:latin typeface="Consolas"/>
              </a:rPr>
              <a:t>Computed across the whole series at once</a:t>
            </a:r>
          </a:p>
        </p:txBody>
      </p:sp>
      <p:sp>
        <p:nvSpPr>
          <p:cNvPr id="16" name="Rectangle 15"/>
          <p:cNvSpPr/>
          <p:nvPr/>
        </p:nvSpPr>
        <p:spPr>
          <a:xfrm>
            <a:off x="7344277" y="1536192"/>
            <a:ext cx="2021372"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365650" y="1943100"/>
            <a:ext cx="237744" cy="237744"/>
          </a:xfrm>
          <a:prstGeom prst="rect">
            <a:avLst/>
          </a:prstGeom>
          <a:noFill/>
        </p:spPr>
        <p:txBody>
          <a:bodyPr wrap="square" lIns="0" rIns="0" tIns="0" bIns="0" anchor="ctr">
            <a:spAutoFit/>
          </a:bodyPr>
          <a:lstStyle/>
          <a:p>
            <a:pPr algn="ctr">
              <a:lnSpc>
                <a:spcPct val="135000"/>
              </a:lnSpc>
              <a:spcBef>
                <a:spcPts val="0"/>
              </a:spcBef>
              <a:spcAft>
                <a:spcPts val="0"/>
              </a:spcAft>
            </a:pPr>
            <a:r>
              <a:rPr sz="1300" b="0" i="0">
                <a:solidFill>
                  <a:srgbClr val="8A6427"/>
                </a:solidFill>
                <a:latin typeface="Consolas"/>
              </a:rPr>
              <a:t>→</a:t>
            </a:r>
          </a:p>
        </p:txBody>
      </p:sp>
      <p:sp>
        <p:nvSpPr>
          <p:cNvPr id="18" name="Rectangle 17"/>
          <p:cNvSpPr/>
          <p:nvPr/>
        </p:nvSpPr>
        <p:spPr>
          <a:xfrm>
            <a:off x="9603394" y="1536192"/>
            <a:ext cx="2021372" cy="10515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118872"/>
          <a:lstStyle/>
          <a:p>
            <a:pPr algn="ctr">
              <a:lnSpc>
                <a:spcPct val="118000"/>
              </a:lnSpc>
              <a:spcBef>
                <a:spcPts val="0"/>
              </a:spcBef>
              <a:spcAft>
                <a:spcPts val="400"/>
              </a:spcAft>
            </a:pPr>
            <a:r>
              <a:rPr sz="1050" b="1" i="0">
                <a:solidFill>
                  <a:srgbClr val="E9E7E2"/>
                </a:solidFill>
                <a:latin typeface="Segoe UI"/>
              </a:rPr>
              <a:t>Normalised frame</a:t>
            </a:r>
          </a:p>
          <a:p>
            <a:pPr>
              <a:lnSpc>
                <a:spcPct val="130000"/>
              </a:lnSpc>
              <a:spcBef>
                <a:spcPts val="0"/>
              </a:spcBef>
              <a:spcAft>
                <a:spcPts val="0"/>
              </a:spcAft>
            </a:pPr>
            <a:r>
              <a:rPr sz="800" b="0" i="0">
                <a:solidFill>
                  <a:srgbClr val="727C8C"/>
                </a:solidFill>
                <a:latin typeface="Consolas"/>
              </a:rPr>
              <a:t>One tidy table per symbol for all downstream stages</a:t>
            </a:r>
          </a:p>
        </p:txBody>
      </p:sp>
      <p:sp>
        <p:nvSpPr>
          <p:cNvPr id="19" name="Rectangle 18"/>
          <p:cNvSpPr/>
          <p:nvPr/>
        </p:nvSpPr>
        <p:spPr>
          <a:xfrm>
            <a:off x="9603394" y="1536192"/>
            <a:ext cx="2021372"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66928" y="2907792"/>
            <a:ext cx="3429914" cy="155448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68096" y="3072384"/>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WHY CACHE</a:t>
            </a:r>
          </a:p>
        </p:txBody>
      </p:sp>
      <p:sp>
        <p:nvSpPr>
          <p:cNvPr id="22" name="TextBox 21"/>
          <p:cNvSpPr txBox="1"/>
          <p:nvPr/>
        </p:nvSpPr>
        <p:spPr>
          <a:xfrm>
            <a:off x="768096" y="3364992"/>
            <a:ext cx="3027578" cy="969264"/>
          </a:xfrm>
          <a:prstGeom prst="rect">
            <a:avLst/>
          </a:prstGeom>
          <a:noFill/>
        </p:spPr>
        <p:txBody>
          <a:bodyPr wrap="square" lIns="0" rIns="0" tIns="0" bIns="0" anchor="t">
            <a:spAutoFit/>
          </a:bodyPr>
          <a:lstStyle/>
          <a:p>
            <a:pPr>
              <a:lnSpc>
                <a:spcPct val="138000"/>
              </a:lnSpc>
              <a:spcBef>
                <a:spcPts val="0"/>
              </a:spcBef>
              <a:spcAft>
                <a:spcPts val="600"/>
              </a:spcAft>
            </a:pPr>
            <a:r>
              <a:rPr sz="1050" b="0" i="0">
                <a:solidFill>
                  <a:srgbClr val="A8B0BD"/>
                </a:solidFill>
                <a:latin typeface="Segoe UI"/>
              </a:rPr>
              <a:t>A 37-symbol, 4-year audit run touches the same history dozens of times. Caching turns a network-bound job into a local one.</a:t>
            </a:r>
          </a:p>
        </p:txBody>
      </p:sp>
      <p:sp>
        <p:nvSpPr>
          <p:cNvPr id="23" name="Rectangle 22"/>
          <p:cNvSpPr/>
          <p:nvPr/>
        </p:nvSpPr>
        <p:spPr>
          <a:xfrm>
            <a:off x="4380890" y="2907792"/>
            <a:ext cx="3429914" cy="155448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582058" y="3072384"/>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WHY NORMALISE</a:t>
            </a:r>
          </a:p>
        </p:txBody>
      </p:sp>
      <p:sp>
        <p:nvSpPr>
          <p:cNvPr id="25" name="TextBox 24"/>
          <p:cNvSpPr txBox="1"/>
          <p:nvPr/>
        </p:nvSpPr>
        <p:spPr>
          <a:xfrm>
            <a:off x="4582058" y="3364992"/>
            <a:ext cx="3027578" cy="969264"/>
          </a:xfrm>
          <a:prstGeom prst="rect">
            <a:avLst/>
          </a:prstGeom>
          <a:noFill/>
        </p:spPr>
        <p:txBody>
          <a:bodyPr wrap="square" lIns="0" rIns="0" tIns="0" bIns="0" anchor="t">
            <a:spAutoFit/>
          </a:bodyPr>
          <a:lstStyle/>
          <a:p>
            <a:pPr>
              <a:lnSpc>
                <a:spcPct val="138000"/>
              </a:lnSpc>
              <a:spcBef>
                <a:spcPts val="0"/>
              </a:spcBef>
              <a:spcAft>
                <a:spcPts val="600"/>
              </a:spcAft>
            </a:pPr>
            <a:r>
              <a:rPr sz="1050" b="0" i="0">
                <a:solidFill>
                  <a:srgbClr val="A8B0BD"/>
                </a:solidFill>
                <a:latin typeface="Segoe UI"/>
              </a:rPr>
              <a:t>Indicator libraries return wide, multi-symbol structures. Everything downstream expects one clean per-symbol table, so the shape is fixed once, centrally.</a:t>
            </a:r>
          </a:p>
        </p:txBody>
      </p:sp>
      <p:sp>
        <p:nvSpPr>
          <p:cNvPr id="26" name="Rectangle 25"/>
          <p:cNvSpPr/>
          <p:nvPr/>
        </p:nvSpPr>
        <p:spPr>
          <a:xfrm>
            <a:off x="8194852" y="2907792"/>
            <a:ext cx="3429914" cy="155448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396020" y="3072384"/>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KNOWN DATA RISK</a:t>
            </a:r>
          </a:p>
        </p:txBody>
      </p:sp>
      <p:sp>
        <p:nvSpPr>
          <p:cNvPr id="28" name="Rectangle 27"/>
          <p:cNvSpPr/>
          <p:nvPr/>
        </p:nvSpPr>
        <p:spPr>
          <a:xfrm>
            <a:off x="10966399" y="3044952"/>
            <a:ext cx="457200" cy="192024"/>
          </a:xfrm>
          <a:prstGeom prst="rect">
            <a:avLst/>
          </a:prstGeom>
          <a:solidFill>
            <a:srgbClr val="221C10"/>
          </a:solidFill>
          <a:ln w="7620">
            <a:solidFill>
              <a:srgbClr val="C99A3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35000"/>
              </a:lnSpc>
              <a:spcBef>
                <a:spcPts val="0"/>
              </a:spcBef>
              <a:spcAft>
                <a:spcPts val="0"/>
              </a:spcAft>
            </a:pPr>
            <a:r>
              <a:rPr sz="750" b="0" i="0" spc="100">
                <a:solidFill>
                  <a:srgbClr val="C99A3E"/>
                </a:solidFill>
                <a:latin typeface="Consolas"/>
              </a:rPr>
              <a:t>OPEN</a:t>
            </a:r>
          </a:p>
        </p:txBody>
      </p:sp>
      <p:sp>
        <p:nvSpPr>
          <p:cNvPr id="29" name="TextBox 28"/>
          <p:cNvSpPr txBox="1"/>
          <p:nvPr/>
        </p:nvSpPr>
        <p:spPr>
          <a:xfrm>
            <a:off x="8396020" y="3364992"/>
            <a:ext cx="3027578" cy="969264"/>
          </a:xfrm>
          <a:prstGeom prst="rect">
            <a:avLst/>
          </a:prstGeom>
          <a:noFill/>
        </p:spPr>
        <p:txBody>
          <a:bodyPr wrap="square" lIns="0" rIns="0" tIns="0" bIns="0" anchor="t">
            <a:spAutoFit/>
          </a:bodyPr>
          <a:lstStyle/>
          <a:p>
            <a:pPr>
              <a:lnSpc>
                <a:spcPct val="138000"/>
              </a:lnSpc>
              <a:spcBef>
                <a:spcPts val="0"/>
              </a:spcBef>
              <a:spcAft>
                <a:spcPts val="600"/>
              </a:spcAft>
            </a:pPr>
            <a:r>
              <a:rPr sz="1050" b="0" i="0">
                <a:solidFill>
                  <a:srgbClr val="A8B0BD"/>
                </a:solidFill>
                <a:latin typeface="Segoe UI"/>
              </a:rPr>
              <a:t>Adjusted prices can be revised retroactively when a new dividend or split lands, so a study re-run months later may not reproduce bit-for-bit. Flagged in the audit as INVESTIGATE, not yet closed.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06  ·  ANALYSIS INPUTS</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Fundamental context, technical behaviour</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66928" y="1536192"/>
          <a:ext cx="6855859" cy="2418588"/>
        </p:xfrm>
        <a:graphic>
          <a:graphicData uri="http://schemas.openxmlformats.org/drawingml/2006/table">
            <a:tbl>
              <a:tblPr firstRow="1" bandRow="1">
                <a:tableStyleId>{5C22544A-7EE6-4342-B048-85BDC9FD1C3A}</a:tableStyleId>
              </a:tblPr>
              <a:tblGrid>
                <a:gridCol w="1371172"/>
                <a:gridCol w="2879461"/>
                <a:gridCol w="2605226"/>
              </a:tblGrid>
              <a:tr h="274320">
                <a:tc>
                  <a:txBody>
                    <a:bodyPr wrap="square"/>
                    <a:lstStyle/>
                    <a:p>
                      <a:pPr>
                        <a:spcAft>
                          <a:spcPts val="0"/>
                        </a:spcAft>
                      </a:pPr>
                      <a:r>
                        <a:rPr sz="750" b="0">
                          <a:solidFill>
                            <a:srgbClr val="727C8C"/>
                          </a:solidFill>
                          <a:latin typeface="Consolas"/>
                        </a:rPr>
                        <a:t>INDICATOR</a:t>
                      </a:r>
                    </a:p>
                  </a:txBody>
                  <a:tcPr marL="82296" marR="82296" marT="36576" marB="36576" anchor="ctr">
                    <a:solidFill>
                      <a:srgbClr val="12161D"/>
                    </a:solidFill>
                  </a:tcPr>
                </a:tc>
                <a:tc>
                  <a:txBody>
                    <a:bodyPr wrap="square"/>
                    <a:lstStyle/>
                    <a:p>
                      <a:pPr>
                        <a:spcAft>
                          <a:spcPts val="0"/>
                        </a:spcAft>
                      </a:pPr>
                      <a:r>
                        <a:rPr sz="750" b="0">
                          <a:solidFill>
                            <a:srgbClr val="727C8C"/>
                          </a:solidFill>
                          <a:latin typeface="Consolas"/>
                        </a:rPr>
                        <a:t>MEASURES</a:t>
                      </a:r>
                    </a:p>
                  </a:txBody>
                  <a:tcPr marL="82296" marR="82296" marT="36576" marB="36576" anchor="ctr">
                    <a:solidFill>
                      <a:srgbClr val="12161D"/>
                    </a:solidFill>
                  </a:tcPr>
                </a:tc>
                <a:tc>
                  <a:txBody>
                    <a:bodyPr wrap="square"/>
                    <a:lstStyle/>
                    <a:p>
                      <a:pPr>
                        <a:spcAft>
                          <a:spcPts val="0"/>
                        </a:spcAft>
                      </a:pPr>
                      <a:r>
                        <a:rPr sz="750" b="0">
                          <a:solidFill>
                            <a:srgbClr val="727C8C"/>
                          </a:solidFill>
                          <a:latin typeface="Consolas"/>
                        </a:rPr>
                        <a:t>USED FOR</a:t>
                      </a:r>
                    </a:p>
                  </a:txBody>
                  <a:tcPr marL="82296" marR="82296" marT="36576" marB="36576" anchor="ctr">
                    <a:solidFill>
                      <a:srgbClr val="12161D"/>
                    </a:solidFill>
                  </a:tcPr>
                </a:tc>
              </a:tr>
              <a:tr h="306324">
                <a:tc>
                  <a:txBody>
                    <a:bodyPr wrap="square"/>
                    <a:lstStyle/>
                    <a:p>
                      <a:pPr>
                        <a:lnSpc>
                          <a:spcPct val="115000"/>
                        </a:lnSpc>
                        <a:spcAft>
                          <a:spcPts val="0"/>
                        </a:spcAft>
                      </a:pPr>
                      <a:r>
                        <a:rPr sz="950" b="1">
                          <a:solidFill>
                            <a:srgbClr val="E9E7E2"/>
                          </a:solidFill>
                          <a:latin typeface="Segoe UI"/>
                        </a:rPr>
                        <a:t>RSI</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Speed of recent gains vs losses (0–100)</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Overbought / oversold zones</a:t>
                      </a:r>
                    </a:p>
                  </a:txBody>
                  <a:tcPr marL="82296" marR="82296" marT="27432" marB="27432" anchor="ctr">
                    <a:solidFill>
                      <a:srgbClr val="171C25"/>
                    </a:solidFill>
                  </a:tcPr>
                </a:tc>
              </a:tr>
              <a:tr h="306324">
                <a:tc>
                  <a:txBody>
                    <a:bodyPr wrap="square"/>
                    <a:lstStyle/>
                    <a:p>
                      <a:pPr>
                        <a:lnSpc>
                          <a:spcPct val="115000"/>
                        </a:lnSpc>
                        <a:spcAft>
                          <a:spcPts val="0"/>
                        </a:spcAft>
                      </a:pPr>
                      <a:r>
                        <a:rPr sz="950" b="1">
                          <a:solidFill>
                            <a:srgbClr val="E9E7E2"/>
                          </a:solidFill>
                          <a:latin typeface="Segoe UI"/>
                        </a:rPr>
                        <a:t>MA20</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Average close of last 20 days</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Short-term trend &amp; pullback reference</a:t>
                      </a:r>
                    </a:p>
                  </a:txBody>
                  <a:tcPr marL="82296" marR="82296" marT="27432" marB="27432" anchor="ctr">
                    <a:solidFill>
                      <a:srgbClr val="171C25"/>
                    </a:solidFill>
                  </a:tcPr>
                </a:tc>
              </a:tr>
              <a:tr h="306324">
                <a:tc>
                  <a:txBody>
                    <a:bodyPr wrap="square"/>
                    <a:lstStyle/>
                    <a:p>
                      <a:pPr>
                        <a:lnSpc>
                          <a:spcPct val="115000"/>
                        </a:lnSpc>
                        <a:spcAft>
                          <a:spcPts val="0"/>
                        </a:spcAft>
                      </a:pPr>
                      <a:r>
                        <a:rPr sz="950" b="1">
                          <a:solidFill>
                            <a:srgbClr val="E9E7E2"/>
                          </a:solidFill>
                          <a:latin typeface="Segoe UI"/>
                        </a:rPr>
                        <a:t>MA50</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Average close of last 50 days</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Medium-term trend direction</a:t>
                      </a:r>
                    </a:p>
                  </a:txBody>
                  <a:tcPr marL="82296" marR="82296" marT="27432" marB="27432" anchor="ctr">
                    <a:solidFill>
                      <a:srgbClr val="171C25"/>
                    </a:solidFill>
                  </a:tcPr>
                </a:tc>
              </a:tr>
              <a:tr h="306324">
                <a:tc>
                  <a:txBody>
                    <a:bodyPr wrap="square"/>
                    <a:lstStyle/>
                    <a:p>
                      <a:pPr>
                        <a:lnSpc>
                          <a:spcPct val="115000"/>
                        </a:lnSpc>
                        <a:spcAft>
                          <a:spcPts val="0"/>
                        </a:spcAft>
                      </a:pPr>
                      <a:r>
                        <a:rPr sz="950" b="1">
                          <a:solidFill>
                            <a:srgbClr val="E9E7E2"/>
                          </a:solidFill>
                          <a:latin typeface="Segoe UI"/>
                        </a:rPr>
                        <a:t>MACD</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Difference between two moving averages</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Momentum shifts and crossovers</a:t>
                      </a:r>
                    </a:p>
                  </a:txBody>
                  <a:tcPr marL="82296" marR="82296" marT="27432" marB="27432" anchor="ctr">
                    <a:solidFill>
                      <a:srgbClr val="171C25"/>
                    </a:solidFill>
                  </a:tcPr>
                </a:tc>
              </a:tr>
              <a:tr h="306324">
                <a:tc>
                  <a:txBody>
                    <a:bodyPr wrap="square"/>
                    <a:lstStyle/>
                    <a:p>
                      <a:pPr>
                        <a:lnSpc>
                          <a:spcPct val="115000"/>
                        </a:lnSpc>
                        <a:spcAft>
                          <a:spcPts val="0"/>
                        </a:spcAft>
                      </a:pPr>
                      <a:r>
                        <a:rPr sz="950" b="1">
                          <a:solidFill>
                            <a:srgbClr val="E9E7E2"/>
                          </a:solidFill>
                          <a:latin typeface="Segoe UI"/>
                        </a:rPr>
                        <a:t>ATR</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Typical daily price range</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Volatility → stop distance &amp; size</a:t>
                      </a:r>
                    </a:p>
                  </a:txBody>
                  <a:tcPr marL="82296" marR="82296" marT="27432" marB="27432" anchor="ctr">
                    <a:solidFill>
                      <a:srgbClr val="171C25"/>
                    </a:solidFill>
                  </a:tcPr>
                </a:tc>
              </a:tr>
              <a:tr h="306324">
                <a:tc>
                  <a:txBody>
                    <a:bodyPr wrap="square"/>
                    <a:lstStyle/>
                    <a:p>
                      <a:pPr>
                        <a:lnSpc>
                          <a:spcPct val="115000"/>
                        </a:lnSpc>
                        <a:spcAft>
                          <a:spcPts val="0"/>
                        </a:spcAft>
                      </a:pPr>
                      <a:r>
                        <a:rPr sz="950" b="1">
                          <a:solidFill>
                            <a:srgbClr val="E9E7E2"/>
                          </a:solidFill>
                          <a:latin typeface="Segoe UI"/>
                        </a:rPr>
                        <a:t>Bollinger Bands</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Bands a volatility distance from the mean</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Stretch away from average price</a:t>
                      </a:r>
                    </a:p>
                  </a:txBody>
                  <a:tcPr marL="82296" marR="82296" marT="27432" marB="27432" anchor="ctr">
                    <a:solidFill>
                      <a:srgbClr val="171C25"/>
                    </a:solidFill>
                  </a:tcPr>
                </a:tc>
              </a:tr>
              <a:tr h="306324">
                <a:tc>
                  <a:txBody>
                    <a:bodyPr wrap="square"/>
                    <a:lstStyle/>
                    <a:p>
                      <a:pPr>
                        <a:lnSpc>
                          <a:spcPct val="115000"/>
                        </a:lnSpc>
                        <a:spcAft>
                          <a:spcPts val="0"/>
                        </a:spcAft>
                      </a:pPr>
                      <a:r>
                        <a:rPr sz="950" b="1">
                          <a:solidFill>
                            <a:srgbClr val="E9E7E2"/>
                          </a:solidFill>
                          <a:latin typeface="Segoe UI"/>
                        </a:rPr>
                        <a:t>ADX</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Strength of a trend, regardless of direction</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Trending vs sideways market</a:t>
                      </a:r>
                    </a:p>
                  </a:txBody>
                  <a:tcPr marL="82296" marR="82296" marT="27432" marB="27432" anchor="ctr">
                    <a:solidFill>
                      <a:srgbClr val="171C25"/>
                    </a:solidFill>
                  </a:tcPr>
                </a:tc>
              </a:tr>
            </a:tbl>
          </a:graphicData>
        </a:graphic>
      </p:graphicFrame>
      <p:sp>
        <p:nvSpPr>
          <p:cNvPr id="7" name="Rectangle 6"/>
          <p:cNvSpPr/>
          <p:nvPr/>
        </p:nvSpPr>
        <p:spPr>
          <a:xfrm>
            <a:off x="7806836" y="1536192"/>
            <a:ext cx="3817930" cy="137160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08004" y="1700784"/>
            <a:ext cx="3415594"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TWO DIFFERENT QUESTIONS</a:t>
            </a:r>
          </a:p>
        </p:txBody>
      </p:sp>
      <p:sp>
        <p:nvSpPr>
          <p:cNvPr id="9" name="TextBox 8"/>
          <p:cNvSpPr txBox="1"/>
          <p:nvPr/>
        </p:nvSpPr>
        <p:spPr>
          <a:xfrm>
            <a:off x="8008004" y="1993392"/>
            <a:ext cx="3415594" cy="78638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Fundamental</a:t>
            </a:r>
            <a:r>
              <a:rPr sz="1000" b="0">
                <a:solidFill>
                  <a:srgbClr val="A8B0BD"/>
                </a:solidFill>
                <a:latin typeface="Segoe UI"/>
              </a:rPr>
              <a:t> — is this a company worth owning at all? Sets the universe.</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Technical</a:t>
            </a:r>
            <a:r>
              <a:rPr sz="1000" b="0">
                <a:solidFill>
                  <a:srgbClr val="A8B0BD"/>
                </a:solidFill>
                <a:latin typeface="Segoe UI"/>
              </a:rPr>
              <a:t> — what is the market doing with this stock right now? Sets the timing.</a:t>
            </a:r>
          </a:p>
        </p:txBody>
      </p:sp>
      <p:sp>
        <p:nvSpPr>
          <p:cNvPr id="10" name="Rectangle 9"/>
          <p:cNvSpPr/>
          <p:nvPr/>
        </p:nvSpPr>
        <p:spPr>
          <a:xfrm>
            <a:off x="7806836" y="3072384"/>
            <a:ext cx="3817930" cy="1143000"/>
          </a:xfrm>
          <a:prstGeom prst="rect">
            <a:avLst/>
          </a:prstGeom>
          <a:solidFill>
            <a:srgbClr val="12161D"/>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806836" y="3072384"/>
            <a:ext cx="25000" cy="1143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008004" y="3209544"/>
            <a:ext cx="3415594" cy="886968"/>
          </a:xfrm>
          <a:prstGeom prst="rect">
            <a:avLst/>
          </a:prstGeom>
          <a:noFill/>
        </p:spPr>
        <p:txBody>
          <a:bodyPr wrap="square" lIns="0" rIns="0" tIns="0" bIns="0" anchor="t">
            <a:spAutoFit/>
          </a:bodyPr>
          <a:lstStyle/>
          <a:p>
            <a:pPr>
              <a:lnSpc>
                <a:spcPct val="140000"/>
              </a:lnSpc>
              <a:spcBef>
                <a:spcPts val="0"/>
              </a:spcBef>
              <a:spcAft>
                <a:spcPts val="0"/>
              </a:spcAft>
            </a:pPr>
            <a:r>
              <a:rPr sz="1050" b="0">
                <a:solidFill>
                  <a:srgbClr val="A8B0BD"/>
                </a:solidFill>
                <a:latin typeface="Segoe UI"/>
              </a:rPr>
              <a:t>ATR does double duty: it is both a volatility reading and the unit in which every stop loss and position size is expressed. A ₹2,000 stock and a ₹80 stock get risk-equivalent trades.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07  ·  DETECTION</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Pattern detection engine</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536192"/>
            <a:ext cx="3429914" cy="182880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8096" y="1700784"/>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BREAKOUT FAMILY</a:t>
            </a:r>
          </a:p>
        </p:txBody>
      </p:sp>
      <p:sp>
        <p:nvSpPr>
          <p:cNvPr id="8" name="TextBox 7"/>
          <p:cNvSpPr txBox="1"/>
          <p:nvPr/>
        </p:nvSpPr>
        <p:spPr>
          <a:xfrm>
            <a:off x="768096" y="1993392"/>
            <a:ext cx="3027578" cy="124358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Breakout20</a:t>
            </a:r>
            <a:r>
              <a:rPr sz="1000" b="0">
                <a:solidFill>
                  <a:srgbClr val="A8B0BD"/>
                </a:solidFill>
                <a:latin typeface="Segoe UI"/>
              </a:rPr>
              <a:t> — price clears its 20-day high</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Breakout55</a:t>
            </a:r>
            <a:r>
              <a:rPr sz="1000" b="0">
                <a:solidFill>
                  <a:srgbClr val="A8B0BD"/>
                </a:solidFill>
                <a:latin typeface="Segoe UI"/>
              </a:rPr>
              <a:t> — price clears its 55-day high</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PullbackToMA20</a:t>
            </a:r>
            <a:r>
              <a:rPr sz="1000" b="0">
                <a:solidFill>
                  <a:srgbClr val="A8B0BD"/>
                </a:solidFill>
                <a:latin typeface="Segoe UI"/>
              </a:rPr>
              <a:t> — uptrend dips back to its 20-day average</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VCP</a:t>
            </a:r>
            <a:r>
              <a:rPr sz="1000" b="0">
                <a:solidFill>
                  <a:srgbClr val="A8B0BD"/>
                </a:solidFill>
                <a:latin typeface="Segoe UI"/>
              </a:rPr>
              <a:t> — volatility contraction before expansion</a:t>
            </a:r>
          </a:p>
        </p:txBody>
      </p:sp>
      <p:sp>
        <p:nvSpPr>
          <p:cNvPr id="9" name="Rectangle 8"/>
          <p:cNvSpPr/>
          <p:nvPr/>
        </p:nvSpPr>
        <p:spPr>
          <a:xfrm>
            <a:off x="4380890" y="1536192"/>
            <a:ext cx="3429914" cy="182880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82058" y="1700784"/>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CANDLE FAMILY</a:t>
            </a:r>
          </a:p>
        </p:txBody>
      </p:sp>
      <p:sp>
        <p:nvSpPr>
          <p:cNvPr id="11" name="TextBox 10"/>
          <p:cNvSpPr txBox="1"/>
          <p:nvPr/>
        </p:nvSpPr>
        <p:spPr>
          <a:xfrm>
            <a:off x="4582058" y="1993392"/>
            <a:ext cx="3027578" cy="124358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Bullish Engulfing</a:t>
            </a:r>
            <a:r>
              <a:rPr sz="1000" b="0">
                <a:solidFill>
                  <a:srgbClr val="A8B0BD"/>
                </a:solidFill>
                <a:latin typeface="Segoe UI"/>
              </a:rPr>
              <a:t> — an up-day swallows the prior down-day</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Bearish Engulfing</a:t>
            </a:r>
            <a:r>
              <a:rPr sz="1000" b="0">
                <a:solidFill>
                  <a:srgbClr val="A8B0BD"/>
                </a:solidFill>
                <a:latin typeface="Segoe UI"/>
              </a:rPr>
              <a:t> — the mirror image</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Hammer</a:t>
            </a:r>
            <a:r>
              <a:rPr sz="1000" b="0">
                <a:solidFill>
                  <a:srgbClr val="A8B0BD"/>
                </a:solidFill>
                <a:latin typeface="Segoe UI"/>
              </a:rPr>
              <a:t> — long lower wick, rejection of lower prices</a:t>
            </a:r>
          </a:p>
        </p:txBody>
      </p:sp>
      <p:sp>
        <p:nvSpPr>
          <p:cNvPr id="12" name="Rectangle 11"/>
          <p:cNvSpPr/>
          <p:nvPr/>
        </p:nvSpPr>
        <p:spPr>
          <a:xfrm>
            <a:off x="8194852" y="1536192"/>
            <a:ext cx="3429914" cy="182880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96020" y="1700784"/>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BAND &amp; MOMENTUM FAMILY</a:t>
            </a:r>
          </a:p>
        </p:txBody>
      </p:sp>
      <p:sp>
        <p:nvSpPr>
          <p:cNvPr id="14" name="TextBox 13"/>
          <p:cNvSpPr txBox="1"/>
          <p:nvPr/>
        </p:nvSpPr>
        <p:spPr>
          <a:xfrm>
            <a:off x="8396020" y="1993392"/>
            <a:ext cx="3027578" cy="124358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BB_BuyDip</a:t>
            </a:r>
            <a:r>
              <a:rPr sz="1000" b="0">
                <a:solidFill>
                  <a:srgbClr val="A8B0BD"/>
                </a:solidFill>
                <a:latin typeface="Segoe UI"/>
              </a:rPr>
              <a:t> — stretch to the lower Bollinger band</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MACD cross variants</a:t>
            </a:r>
            <a:r>
              <a:rPr sz="1000" b="0">
                <a:solidFill>
                  <a:srgbClr val="A8B0BD"/>
                </a:solidFill>
                <a:latin typeface="Segoe UI"/>
              </a:rPr>
              <a:t> — momentum turning</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RSI &amp; breakdown variants</a:t>
            </a:r>
            <a:r>
              <a:rPr sz="1000" b="0">
                <a:solidFill>
                  <a:srgbClr val="A8B0BD"/>
                </a:solidFill>
                <a:latin typeface="Segoe UI"/>
              </a:rPr>
              <a:t> — disabled by evidence</a:t>
            </a:r>
          </a:p>
        </p:txBody>
      </p:sp>
      <p:sp>
        <p:nvSpPr>
          <p:cNvPr id="15" name="Rectangle 14"/>
          <p:cNvSpPr/>
          <p:nvPr/>
        </p:nvSpPr>
        <p:spPr>
          <a:xfrm>
            <a:off x="566928" y="3566160"/>
            <a:ext cx="11057839" cy="129844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68096" y="3730752"/>
            <a:ext cx="10655503"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EVERY DETECTION CARRIES METADATA, NOT JUST A NAME</a:t>
            </a:r>
          </a:p>
        </p:txBody>
      </p:sp>
      <p:sp>
        <p:nvSpPr>
          <p:cNvPr id="17" name="TextBox 16"/>
          <p:cNvSpPr txBox="1"/>
          <p:nvPr/>
        </p:nvSpPr>
        <p:spPr>
          <a:xfrm>
            <a:off x="768096" y="4023360"/>
            <a:ext cx="10655503" cy="713232"/>
          </a:xfrm>
          <a:prstGeom prst="rect">
            <a:avLst/>
          </a:prstGeom>
          <a:noFill/>
        </p:spPr>
        <p:txBody>
          <a:bodyPr wrap="square" lIns="0" rIns="0" tIns="0" bIns="0" anchor="t">
            <a:spAutoFit/>
          </a:bodyPr>
          <a:lstStyle/>
          <a:p/>
        </p:txBody>
      </p:sp>
      <p:sp>
        <p:nvSpPr>
          <p:cNvPr id="18" name="TextBox 17"/>
          <p:cNvSpPr txBox="1"/>
          <p:nvPr/>
        </p:nvSpPr>
        <p:spPr>
          <a:xfrm>
            <a:off x="786384" y="4069080"/>
            <a:ext cx="3411626" cy="274320"/>
          </a:xfrm>
          <a:prstGeom prst="rect">
            <a:avLst/>
          </a:prstGeom>
          <a:noFill/>
        </p:spPr>
        <p:txBody>
          <a:bodyPr wrap="square" lIns="0" rIns="0" tIns="0" bIns="0" anchor="t">
            <a:spAutoFit/>
          </a:bodyPr>
          <a:lstStyle/>
          <a:p>
            <a:pPr>
              <a:lnSpc>
                <a:spcPct val="135000"/>
              </a:lnSpc>
              <a:spcBef>
                <a:spcPts val="0"/>
              </a:spcBef>
              <a:spcAft>
                <a:spcPts val="0"/>
              </a:spcAft>
            </a:pPr>
            <a:r>
              <a:rPr sz="950" b="0">
                <a:solidFill>
                  <a:srgbClr val="E3A143"/>
                </a:solidFill>
                <a:latin typeface="Consolas"/>
              </a:rPr>
              <a:t>direction   </a:t>
            </a:r>
            <a:r>
              <a:rPr sz="950" b="0">
                <a:solidFill>
                  <a:srgbClr val="A8B0BD"/>
                </a:solidFill>
                <a:latin typeface="Consolas"/>
              </a:rPr>
              <a:t>Long or short</a:t>
            </a:r>
          </a:p>
        </p:txBody>
      </p:sp>
      <p:sp>
        <p:nvSpPr>
          <p:cNvPr id="19" name="TextBox 18"/>
          <p:cNvSpPr txBox="1"/>
          <p:nvPr/>
        </p:nvSpPr>
        <p:spPr>
          <a:xfrm>
            <a:off x="4472330" y="4069080"/>
            <a:ext cx="3411626" cy="274320"/>
          </a:xfrm>
          <a:prstGeom prst="rect">
            <a:avLst/>
          </a:prstGeom>
          <a:noFill/>
        </p:spPr>
        <p:txBody>
          <a:bodyPr wrap="square" lIns="0" rIns="0" tIns="0" bIns="0" anchor="t">
            <a:spAutoFit/>
          </a:bodyPr>
          <a:lstStyle/>
          <a:p>
            <a:pPr>
              <a:lnSpc>
                <a:spcPct val="135000"/>
              </a:lnSpc>
              <a:spcBef>
                <a:spcPts val="0"/>
              </a:spcBef>
              <a:spcAft>
                <a:spcPts val="0"/>
              </a:spcAft>
            </a:pPr>
            <a:r>
              <a:rPr sz="950" b="0">
                <a:solidFill>
                  <a:srgbClr val="E3A143"/>
                </a:solidFill>
                <a:latin typeface="Consolas"/>
              </a:rPr>
              <a:t>score   </a:t>
            </a:r>
            <a:r>
              <a:rPr sz="950" b="0">
                <a:solidFill>
                  <a:srgbClr val="A8B0BD"/>
                </a:solidFill>
                <a:latin typeface="Consolas"/>
              </a:rPr>
              <a:t>Composite quality ranking</a:t>
            </a:r>
          </a:p>
        </p:txBody>
      </p:sp>
      <p:sp>
        <p:nvSpPr>
          <p:cNvPr id="20" name="TextBox 19"/>
          <p:cNvSpPr txBox="1"/>
          <p:nvPr/>
        </p:nvSpPr>
        <p:spPr>
          <a:xfrm>
            <a:off x="8158276" y="4069080"/>
            <a:ext cx="3411626" cy="274320"/>
          </a:xfrm>
          <a:prstGeom prst="rect">
            <a:avLst/>
          </a:prstGeom>
          <a:noFill/>
        </p:spPr>
        <p:txBody>
          <a:bodyPr wrap="square" lIns="0" rIns="0" tIns="0" bIns="0" anchor="t">
            <a:spAutoFit/>
          </a:bodyPr>
          <a:lstStyle/>
          <a:p>
            <a:pPr>
              <a:lnSpc>
                <a:spcPct val="135000"/>
              </a:lnSpc>
              <a:spcBef>
                <a:spcPts val="0"/>
              </a:spcBef>
              <a:spcAft>
                <a:spcPts val="0"/>
              </a:spcAft>
            </a:pPr>
            <a:r>
              <a:rPr sz="950" b="0">
                <a:solidFill>
                  <a:srgbClr val="E3A143"/>
                </a:solidFill>
                <a:latin typeface="Consolas"/>
              </a:rPr>
              <a:t>regime   </a:t>
            </a:r>
            <a:r>
              <a:rPr sz="950" b="0">
                <a:solidFill>
                  <a:srgbClr val="A8B0BD"/>
                </a:solidFill>
                <a:latin typeface="Consolas"/>
              </a:rPr>
              <a:t>Market backdrop at detection</a:t>
            </a:r>
          </a:p>
        </p:txBody>
      </p:sp>
      <p:sp>
        <p:nvSpPr>
          <p:cNvPr id="21" name="TextBox 20"/>
          <p:cNvSpPr txBox="1"/>
          <p:nvPr/>
        </p:nvSpPr>
        <p:spPr>
          <a:xfrm>
            <a:off x="786384" y="4398264"/>
            <a:ext cx="3411626" cy="274320"/>
          </a:xfrm>
          <a:prstGeom prst="rect">
            <a:avLst/>
          </a:prstGeom>
          <a:noFill/>
        </p:spPr>
        <p:txBody>
          <a:bodyPr wrap="square" lIns="0" rIns="0" tIns="0" bIns="0" anchor="t">
            <a:spAutoFit/>
          </a:bodyPr>
          <a:lstStyle/>
          <a:p>
            <a:pPr>
              <a:lnSpc>
                <a:spcPct val="135000"/>
              </a:lnSpc>
              <a:spcBef>
                <a:spcPts val="0"/>
              </a:spcBef>
              <a:spcAft>
                <a:spcPts val="0"/>
              </a:spcAft>
            </a:pPr>
            <a:r>
              <a:rPr sz="950" b="0">
                <a:solidFill>
                  <a:srgbClr val="E3A143"/>
                </a:solidFill>
                <a:latin typeface="Consolas"/>
              </a:rPr>
              <a:t>strength   </a:t>
            </a:r>
            <a:r>
              <a:rPr sz="950" b="0">
                <a:solidFill>
                  <a:srgbClr val="A8B0BD"/>
                </a:solidFill>
                <a:latin typeface="Consolas"/>
              </a:rPr>
              <a:t>How cleanly it formed</a:t>
            </a:r>
          </a:p>
        </p:txBody>
      </p:sp>
      <p:sp>
        <p:nvSpPr>
          <p:cNvPr id="22" name="TextBox 21"/>
          <p:cNvSpPr txBox="1"/>
          <p:nvPr/>
        </p:nvSpPr>
        <p:spPr>
          <a:xfrm>
            <a:off x="4472330" y="4398264"/>
            <a:ext cx="3411626" cy="274320"/>
          </a:xfrm>
          <a:prstGeom prst="rect">
            <a:avLst/>
          </a:prstGeom>
          <a:noFill/>
        </p:spPr>
        <p:txBody>
          <a:bodyPr wrap="square" lIns="0" rIns="0" tIns="0" bIns="0" anchor="t">
            <a:spAutoFit/>
          </a:bodyPr>
          <a:lstStyle/>
          <a:p>
            <a:pPr>
              <a:lnSpc>
                <a:spcPct val="135000"/>
              </a:lnSpc>
              <a:spcBef>
                <a:spcPts val="0"/>
              </a:spcBef>
              <a:spcAft>
                <a:spcPts val="0"/>
              </a:spcAft>
            </a:pPr>
            <a:r>
              <a:rPr sz="950" b="0">
                <a:solidFill>
                  <a:srgbClr val="E3A143"/>
                </a:solidFill>
                <a:latin typeface="Consolas"/>
              </a:rPr>
              <a:t>alignment   </a:t>
            </a:r>
            <a:r>
              <a:rPr sz="950" b="0">
                <a:solidFill>
                  <a:srgbClr val="A8B0BD"/>
                </a:solidFill>
                <a:latin typeface="Consolas"/>
              </a:rPr>
              <a:t>Agrees with the trend?</a:t>
            </a:r>
          </a:p>
        </p:txBody>
      </p:sp>
      <p:sp>
        <p:nvSpPr>
          <p:cNvPr id="23" name="TextBox 22"/>
          <p:cNvSpPr txBox="1"/>
          <p:nvPr/>
        </p:nvSpPr>
        <p:spPr>
          <a:xfrm>
            <a:off x="8158276" y="4398264"/>
            <a:ext cx="3411626" cy="274320"/>
          </a:xfrm>
          <a:prstGeom prst="rect">
            <a:avLst/>
          </a:prstGeom>
          <a:noFill/>
        </p:spPr>
        <p:txBody>
          <a:bodyPr wrap="square" lIns="0" rIns="0" tIns="0" bIns="0" anchor="t">
            <a:spAutoFit/>
          </a:bodyPr>
          <a:lstStyle/>
          <a:p>
            <a:pPr>
              <a:lnSpc>
                <a:spcPct val="135000"/>
              </a:lnSpc>
              <a:spcBef>
                <a:spcPts val="0"/>
              </a:spcBef>
              <a:spcAft>
                <a:spcPts val="0"/>
              </a:spcAft>
            </a:pPr>
            <a:r>
              <a:rPr sz="950" b="0">
                <a:solidFill>
                  <a:srgbClr val="E3A143"/>
                </a:solidFill>
                <a:latin typeface="Consolas"/>
              </a:rPr>
              <a:t>qualified   </a:t>
            </a:r>
            <a:r>
              <a:rPr sz="950" b="0">
                <a:solidFill>
                  <a:srgbClr val="A8B0BD"/>
                </a:solidFill>
                <a:latin typeface="Consolas"/>
              </a:rPr>
              <a:t>Did it survive the gates?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08  ·  FILTERING</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Market context &amp; gates</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536192"/>
            <a:ext cx="3527450" cy="84124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118872"/>
          <a:lstStyle/>
          <a:p>
            <a:pPr algn="ctr">
              <a:lnSpc>
                <a:spcPct val="118000"/>
              </a:lnSpc>
              <a:spcBef>
                <a:spcPts val="0"/>
              </a:spcBef>
              <a:spcAft>
                <a:spcPts val="400"/>
              </a:spcAft>
            </a:pPr>
            <a:r>
              <a:rPr sz="1050" b="1" i="0">
                <a:solidFill>
                  <a:srgbClr val="E9E7E2"/>
                </a:solidFill>
                <a:latin typeface="Segoe UI"/>
              </a:rPr>
              <a:t>Pattern</a:t>
            </a:r>
          </a:p>
          <a:p>
            <a:pPr>
              <a:lnSpc>
                <a:spcPct val="130000"/>
              </a:lnSpc>
              <a:spcBef>
                <a:spcPts val="0"/>
              </a:spcBef>
              <a:spcAft>
                <a:spcPts val="0"/>
              </a:spcAft>
            </a:pPr>
            <a:r>
              <a:rPr sz="800" b="0" i="0">
                <a:solidFill>
                  <a:srgbClr val="727C8C"/>
                </a:solidFill>
                <a:latin typeface="Consolas"/>
              </a:rPr>
              <a:t>A candidate setup — "something happened here"</a:t>
            </a:r>
          </a:p>
        </p:txBody>
      </p:sp>
      <p:sp>
        <p:nvSpPr>
          <p:cNvPr id="7" name="Rectangle 6"/>
          <p:cNvSpPr/>
          <p:nvPr/>
        </p:nvSpPr>
        <p:spPr>
          <a:xfrm>
            <a:off x="566928" y="1536192"/>
            <a:ext cx="3527450"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094378" y="1837944"/>
            <a:ext cx="237744" cy="237744"/>
          </a:xfrm>
          <a:prstGeom prst="rect">
            <a:avLst/>
          </a:prstGeom>
          <a:noFill/>
        </p:spPr>
        <p:txBody>
          <a:bodyPr wrap="square" lIns="0" rIns="0" tIns="0" bIns="0" anchor="ctr">
            <a:spAutoFit/>
          </a:bodyPr>
          <a:lstStyle/>
          <a:p>
            <a:pPr algn="ctr">
              <a:lnSpc>
                <a:spcPct val="135000"/>
              </a:lnSpc>
              <a:spcBef>
                <a:spcPts val="0"/>
              </a:spcBef>
              <a:spcAft>
                <a:spcPts val="0"/>
              </a:spcAft>
            </a:pPr>
            <a:r>
              <a:rPr sz="1300" b="0" i="0">
                <a:solidFill>
                  <a:srgbClr val="8A6427"/>
                </a:solidFill>
                <a:latin typeface="Consolas"/>
              </a:rPr>
              <a:t>→</a:t>
            </a:r>
          </a:p>
        </p:txBody>
      </p:sp>
      <p:sp>
        <p:nvSpPr>
          <p:cNvPr id="9" name="Rectangle 8"/>
          <p:cNvSpPr/>
          <p:nvPr/>
        </p:nvSpPr>
        <p:spPr>
          <a:xfrm>
            <a:off x="4332122" y="1536192"/>
            <a:ext cx="3527450" cy="84124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118872"/>
          <a:lstStyle/>
          <a:p>
            <a:pPr algn="ctr">
              <a:lnSpc>
                <a:spcPct val="118000"/>
              </a:lnSpc>
              <a:spcBef>
                <a:spcPts val="0"/>
              </a:spcBef>
              <a:spcAft>
                <a:spcPts val="400"/>
              </a:spcAft>
            </a:pPr>
            <a:r>
              <a:rPr sz="1050" b="1" i="0">
                <a:solidFill>
                  <a:srgbClr val="E9E7E2"/>
                </a:solidFill>
                <a:latin typeface="Segoe UI"/>
              </a:rPr>
              <a:t>Gate</a:t>
            </a:r>
          </a:p>
          <a:p>
            <a:pPr>
              <a:lnSpc>
                <a:spcPct val="130000"/>
              </a:lnSpc>
              <a:spcBef>
                <a:spcPts val="0"/>
              </a:spcBef>
              <a:spcAft>
                <a:spcPts val="0"/>
              </a:spcAft>
            </a:pPr>
            <a:r>
              <a:rPr sz="800" b="0" i="0">
                <a:solidFill>
                  <a:srgbClr val="727C8C"/>
                </a:solidFill>
                <a:latin typeface="Consolas"/>
              </a:rPr>
              <a:t>A quality filter — "is this worth acting on?"</a:t>
            </a:r>
          </a:p>
        </p:txBody>
      </p:sp>
      <p:sp>
        <p:nvSpPr>
          <p:cNvPr id="10" name="Rectangle 9"/>
          <p:cNvSpPr/>
          <p:nvPr/>
        </p:nvSpPr>
        <p:spPr>
          <a:xfrm>
            <a:off x="4332122" y="1536192"/>
            <a:ext cx="3527450"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59572" y="1837944"/>
            <a:ext cx="237744" cy="237744"/>
          </a:xfrm>
          <a:prstGeom prst="rect">
            <a:avLst/>
          </a:prstGeom>
          <a:noFill/>
        </p:spPr>
        <p:txBody>
          <a:bodyPr wrap="square" lIns="0" rIns="0" tIns="0" bIns="0" anchor="ctr">
            <a:spAutoFit/>
          </a:bodyPr>
          <a:lstStyle/>
          <a:p>
            <a:pPr algn="ctr">
              <a:lnSpc>
                <a:spcPct val="135000"/>
              </a:lnSpc>
              <a:spcBef>
                <a:spcPts val="0"/>
              </a:spcBef>
              <a:spcAft>
                <a:spcPts val="0"/>
              </a:spcAft>
            </a:pPr>
            <a:r>
              <a:rPr sz="1300" b="0" i="0">
                <a:solidFill>
                  <a:srgbClr val="8A6427"/>
                </a:solidFill>
                <a:latin typeface="Consolas"/>
              </a:rPr>
              <a:t>→</a:t>
            </a:r>
          </a:p>
        </p:txBody>
      </p:sp>
      <p:sp>
        <p:nvSpPr>
          <p:cNvPr id="12" name="Rectangle 11"/>
          <p:cNvSpPr/>
          <p:nvPr/>
        </p:nvSpPr>
        <p:spPr>
          <a:xfrm>
            <a:off x="8097316" y="1536192"/>
            <a:ext cx="3527450" cy="84124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118872"/>
          <a:lstStyle/>
          <a:p>
            <a:pPr algn="ctr">
              <a:lnSpc>
                <a:spcPct val="118000"/>
              </a:lnSpc>
              <a:spcBef>
                <a:spcPts val="0"/>
              </a:spcBef>
              <a:spcAft>
                <a:spcPts val="400"/>
              </a:spcAft>
            </a:pPr>
            <a:r>
              <a:rPr sz="1050" b="1" i="0">
                <a:solidFill>
                  <a:srgbClr val="E9E7E2"/>
                </a:solidFill>
                <a:latin typeface="Segoe UI"/>
              </a:rPr>
              <a:t>Signal</a:t>
            </a:r>
          </a:p>
          <a:p>
            <a:pPr>
              <a:lnSpc>
                <a:spcPct val="130000"/>
              </a:lnSpc>
              <a:spcBef>
                <a:spcPts val="0"/>
              </a:spcBef>
              <a:spcAft>
                <a:spcPts val="0"/>
              </a:spcAft>
            </a:pPr>
            <a:r>
              <a:rPr sz="800" b="0" i="0">
                <a:solidFill>
                  <a:srgbClr val="727C8C"/>
                </a:solidFill>
                <a:latin typeface="Consolas"/>
              </a:rPr>
              <a:t>An actionable instruction — "buy here, stop here"</a:t>
            </a:r>
          </a:p>
        </p:txBody>
      </p:sp>
      <p:sp>
        <p:nvSpPr>
          <p:cNvPr id="13" name="Rectangle 12"/>
          <p:cNvSpPr/>
          <p:nvPr/>
        </p:nvSpPr>
        <p:spPr>
          <a:xfrm>
            <a:off x="8097316" y="1536192"/>
            <a:ext cx="3527450"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566928" y="2651760"/>
            <a:ext cx="3429914" cy="192024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68096" y="2816352"/>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STOCK-LEVEL GATES</a:t>
            </a:r>
          </a:p>
        </p:txBody>
      </p:sp>
      <p:sp>
        <p:nvSpPr>
          <p:cNvPr id="16" name="TextBox 15"/>
          <p:cNvSpPr txBox="1"/>
          <p:nvPr/>
        </p:nvSpPr>
        <p:spPr>
          <a:xfrm>
            <a:off x="768096" y="3108960"/>
            <a:ext cx="3027578" cy="133502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Trend</a:t>
            </a:r>
            <a:r>
              <a:rPr sz="1000" b="0">
                <a:solidFill>
                  <a:srgbClr val="A8B0BD"/>
                </a:solidFill>
                <a:latin typeface="Segoe UI"/>
              </a:rPr>
              <a:t> — price vs its moving averages</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Volume</a:t>
            </a:r>
            <a:r>
              <a:rPr sz="1000" b="0">
                <a:solidFill>
                  <a:srgbClr val="A8B0BD"/>
                </a:solidFill>
                <a:latin typeface="Segoe UI"/>
              </a:rPr>
              <a:t> — was there real participation?</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RSI / ADX / MA / BB</a:t>
            </a:r>
            <a:r>
              <a:rPr sz="1000" b="0">
                <a:solidFill>
                  <a:srgbClr val="A8B0BD"/>
                </a:solidFill>
                <a:latin typeface="Segoe UI"/>
              </a:rPr>
              <a:t> — pattern-specific thresholds</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Liquidity floor</a:t>
            </a:r>
            <a:r>
              <a:rPr sz="1000" b="0">
                <a:solidFill>
                  <a:srgbClr val="A8B0BD"/>
                </a:solidFill>
                <a:latin typeface="Segoe UI"/>
              </a:rPr>
              <a:t> — enough daily turnover to trade</a:t>
            </a:r>
          </a:p>
        </p:txBody>
      </p:sp>
      <p:sp>
        <p:nvSpPr>
          <p:cNvPr id="17" name="Rectangle 16"/>
          <p:cNvSpPr/>
          <p:nvPr/>
        </p:nvSpPr>
        <p:spPr>
          <a:xfrm>
            <a:off x="4380890" y="2651760"/>
            <a:ext cx="3429914" cy="192024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82058" y="2816352"/>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MARKET-LEVEL GATES</a:t>
            </a:r>
          </a:p>
        </p:txBody>
      </p:sp>
      <p:sp>
        <p:nvSpPr>
          <p:cNvPr id="19" name="TextBox 18"/>
          <p:cNvSpPr txBox="1"/>
          <p:nvPr/>
        </p:nvSpPr>
        <p:spPr>
          <a:xfrm>
            <a:off x="4582058" y="3108960"/>
            <a:ext cx="3027578" cy="133502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Market regime</a:t>
            </a:r>
            <a:r>
              <a:rPr sz="1000" b="0">
                <a:solidFill>
                  <a:srgbClr val="A8B0BD"/>
                </a:solidFill>
                <a:latin typeface="Segoe UI"/>
              </a:rPr>
              <a:t> — is the index itself healthy?</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Sector regime</a:t>
            </a:r>
            <a:r>
              <a:rPr sz="1000" b="0">
                <a:solidFill>
                  <a:srgbClr val="A8B0BD"/>
                </a:solidFill>
                <a:latin typeface="Segoe UI"/>
              </a:rPr>
              <a:t> — is the sector participating?</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Relative strength</a:t>
            </a:r>
            <a:r>
              <a:rPr sz="1000" b="0">
                <a:solidFill>
                  <a:srgbClr val="A8B0BD"/>
                </a:solidFill>
                <a:latin typeface="Segoe UI"/>
              </a:rPr>
              <a:t> — is the stock beating the market?</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Breadth</a:t>
            </a:r>
            <a:r>
              <a:rPr sz="1000" b="0">
                <a:solidFill>
                  <a:srgbClr val="A8B0BD"/>
                </a:solidFill>
                <a:latin typeface="Segoe UI"/>
              </a:rPr>
              <a:t> — how many stocks are advancing?</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Distribution days</a:t>
            </a:r>
            <a:r>
              <a:rPr sz="1000" b="0">
                <a:solidFill>
                  <a:srgbClr val="A8B0BD"/>
                </a:solidFill>
                <a:latin typeface="Segoe UI"/>
              </a:rPr>
              <a:t> — heavy institutional selling days</a:t>
            </a:r>
          </a:p>
        </p:txBody>
      </p:sp>
      <p:sp>
        <p:nvSpPr>
          <p:cNvPr id="20" name="Rectangle 19"/>
          <p:cNvSpPr/>
          <p:nvPr/>
        </p:nvSpPr>
        <p:spPr>
          <a:xfrm>
            <a:off x="8194852" y="2651760"/>
            <a:ext cx="3429914" cy="192024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96020" y="2816352"/>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EVENT GATE</a:t>
            </a:r>
          </a:p>
        </p:txBody>
      </p:sp>
      <p:sp>
        <p:nvSpPr>
          <p:cNvPr id="22" name="TextBox 21"/>
          <p:cNvSpPr txBox="1"/>
          <p:nvPr/>
        </p:nvSpPr>
        <p:spPr>
          <a:xfrm>
            <a:off x="8396020" y="3108960"/>
            <a:ext cx="3027578" cy="133502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Earnings blackout</a:t>
            </a:r>
            <a:r>
              <a:rPr sz="1000" b="0">
                <a:solidFill>
                  <a:srgbClr val="A8B0BD"/>
                </a:solidFill>
                <a:latin typeface="Segoe UI"/>
              </a:rPr>
              <a:t> — no new entries into a results announcement</a:t>
            </a:r>
          </a:p>
        </p:txBody>
      </p:sp>
      <p:sp>
        <p:nvSpPr>
          <p:cNvPr id="23" name="Rectangle 22"/>
          <p:cNvSpPr/>
          <p:nvPr/>
        </p:nvSpPr>
        <p:spPr>
          <a:xfrm>
            <a:off x="8359444" y="3611880"/>
            <a:ext cx="3100730" cy="804672"/>
          </a:xfrm>
          <a:prstGeom prst="rect">
            <a:avLst/>
          </a:prstGeom>
          <a:solidFill>
            <a:srgbClr val="12161D"/>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359444" y="3611880"/>
            <a:ext cx="25000" cy="804672"/>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560612" y="3749040"/>
            <a:ext cx="2698394" cy="548640"/>
          </a:xfrm>
          <a:prstGeom prst="rect">
            <a:avLst/>
          </a:prstGeom>
          <a:noFill/>
        </p:spPr>
        <p:txBody>
          <a:bodyPr wrap="square" lIns="0" rIns="0" tIns="0" bIns="0" anchor="t">
            <a:spAutoFit/>
          </a:bodyPr>
          <a:lstStyle/>
          <a:p>
            <a:pPr>
              <a:lnSpc>
                <a:spcPct val="140000"/>
              </a:lnSpc>
              <a:spcBef>
                <a:spcPts val="0"/>
              </a:spcBef>
              <a:spcAft>
                <a:spcPts val="0"/>
              </a:spcAft>
            </a:pPr>
            <a:r>
              <a:rPr sz="1050" b="0">
                <a:solidFill>
                  <a:srgbClr val="A8B0BD"/>
                </a:solidFill>
                <a:latin typeface="Segoe UI"/>
              </a:rPr>
              <a:t>Gates are aggressive by design. In the baseline run, roughly 1 in 8 raw detections survived to become a signal.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09  ·  SIGNALS</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From qualified pattern to executable instruction</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536192"/>
            <a:ext cx="5750076" cy="548640"/>
          </a:xfrm>
          <a:prstGeom prst="rect">
            <a:avLst/>
          </a:prstGeom>
          <a:noFill/>
        </p:spPr>
        <p:txBody>
          <a:bodyPr wrap="square" lIns="0" rIns="0" tIns="0" bIns="0" anchor="t">
            <a:spAutoFit/>
          </a:bodyPr>
          <a:lstStyle/>
          <a:p>
            <a:pPr>
              <a:lnSpc>
                <a:spcPct val="135000"/>
              </a:lnSpc>
              <a:spcBef>
                <a:spcPts val="0"/>
              </a:spcBef>
              <a:spcAft>
                <a:spcPts val="0"/>
              </a:spcAft>
            </a:pPr>
            <a:r>
              <a:rPr sz="1200" b="0" i="0">
                <a:solidFill>
                  <a:srgbClr val="E9E7E2"/>
                </a:solidFill>
                <a:latin typeface="Segoe UI"/>
              </a:rPr>
              <a:t>A signal is a complete, self-contained trade plan. Nothing is left for a human to decide at execution time — which is exactly what makes it testable.</a:t>
            </a:r>
          </a:p>
        </p:txBody>
      </p:sp>
      <p:sp>
        <p:nvSpPr>
          <p:cNvPr id="7" name="Rectangle 6"/>
          <p:cNvSpPr/>
          <p:nvPr/>
        </p:nvSpPr>
        <p:spPr>
          <a:xfrm>
            <a:off x="566928" y="2249424"/>
            <a:ext cx="5750076" cy="23317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 y="2414016"/>
            <a:ext cx="5347740" cy="2039112"/>
          </a:xfrm>
          <a:prstGeom prst="rect">
            <a:avLst/>
          </a:prstGeom>
          <a:noFill/>
        </p:spPr>
        <p:txBody>
          <a:bodyPr wrap="square" lIns="0" rIns="0" tIns="0" bIns="0" anchor="t">
            <a:spAutoFit/>
          </a:bodyPr>
          <a:lstStyle/>
          <a:p/>
        </p:txBody>
      </p:sp>
      <p:sp>
        <p:nvSpPr>
          <p:cNvPr id="9" name="TextBox 8"/>
          <p:cNvSpPr txBox="1"/>
          <p:nvPr/>
        </p:nvSpPr>
        <p:spPr>
          <a:xfrm>
            <a:off x="768096" y="2414016"/>
            <a:ext cx="5347740" cy="310896"/>
          </a:xfrm>
          <a:prstGeom prst="rect">
            <a:avLst/>
          </a:prstGeom>
          <a:noFill/>
        </p:spPr>
        <p:txBody>
          <a:bodyPr wrap="square" lIns="0" rIns="0" tIns="0" bIns="0" anchor="t">
            <a:spAutoFit/>
          </a:bodyPr>
          <a:lstStyle/>
          <a:p>
            <a:pPr>
              <a:lnSpc>
                <a:spcPct val="135000"/>
              </a:lnSpc>
              <a:spcBef>
                <a:spcPts val="0"/>
              </a:spcBef>
              <a:spcAft>
                <a:spcPts val="100"/>
              </a:spcAft>
            </a:pPr>
            <a:r>
              <a:rPr sz="950" b="0" i="0">
                <a:solidFill>
                  <a:srgbClr val="E3A143"/>
                </a:solidFill>
                <a:latin typeface="Consolas"/>
              </a:rPr>
              <a:t>direction</a:t>
            </a:r>
          </a:p>
          <a:p>
            <a:pPr>
              <a:lnSpc>
                <a:spcPct val="135000"/>
              </a:lnSpc>
              <a:spcBef>
                <a:spcPts val="0"/>
              </a:spcBef>
              <a:spcAft>
                <a:spcPts val="0"/>
              </a:spcAft>
            </a:pPr>
            <a:r>
              <a:rPr sz="950" b="0" i="0">
                <a:solidFill>
                  <a:srgbClr val="A8B0BD"/>
                </a:solidFill>
                <a:latin typeface="Segoe UI"/>
              </a:rPr>
              <a:t>Long or short</a:t>
            </a:r>
          </a:p>
        </p:txBody>
      </p:sp>
      <p:sp>
        <p:nvSpPr>
          <p:cNvPr id="10" name="TextBox 9"/>
          <p:cNvSpPr txBox="1"/>
          <p:nvPr/>
        </p:nvSpPr>
        <p:spPr>
          <a:xfrm>
            <a:off x="768096" y="2761488"/>
            <a:ext cx="5347740" cy="310896"/>
          </a:xfrm>
          <a:prstGeom prst="rect">
            <a:avLst/>
          </a:prstGeom>
          <a:noFill/>
        </p:spPr>
        <p:txBody>
          <a:bodyPr wrap="square" lIns="0" rIns="0" tIns="0" bIns="0" anchor="t">
            <a:spAutoFit/>
          </a:bodyPr>
          <a:lstStyle/>
          <a:p>
            <a:pPr>
              <a:lnSpc>
                <a:spcPct val="135000"/>
              </a:lnSpc>
              <a:spcBef>
                <a:spcPts val="0"/>
              </a:spcBef>
              <a:spcAft>
                <a:spcPts val="100"/>
              </a:spcAft>
            </a:pPr>
            <a:r>
              <a:rPr sz="950" b="0" i="0">
                <a:solidFill>
                  <a:srgbClr val="E3A143"/>
                </a:solidFill>
                <a:latin typeface="Consolas"/>
              </a:rPr>
              <a:t>entry timing</a:t>
            </a:r>
          </a:p>
          <a:p>
            <a:pPr>
              <a:lnSpc>
                <a:spcPct val="135000"/>
              </a:lnSpc>
              <a:spcBef>
                <a:spcPts val="0"/>
              </a:spcBef>
              <a:spcAft>
                <a:spcPts val="0"/>
              </a:spcAft>
            </a:pPr>
            <a:r>
              <a:rPr sz="950" b="0" i="0">
                <a:solidFill>
                  <a:srgbClr val="A8B0BD"/>
                </a:solidFill>
                <a:latin typeface="Segoe UI"/>
              </a:rPr>
              <a:t>Act on this bar, or wait for the next open — set per pattern</a:t>
            </a:r>
          </a:p>
        </p:txBody>
      </p:sp>
      <p:sp>
        <p:nvSpPr>
          <p:cNvPr id="11" name="TextBox 10"/>
          <p:cNvSpPr txBox="1"/>
          <p:nvPr/>
        </p:nvSpPr>
        <p:spPr>
          <a:xfrm>
            <a:off x="768096" y="3108960"/>
            <a:ext cx="5347740" cy="310896"/>
          </a:xfrm>
          <a:prstGeom prst="rect">
            <a:avLst/>
          </a:prstGeom>
          <a:noFill/>
        </p:spPr>
        <p:txBody>
          <a:bodyPr wrap="square" lIns="0" rIns="0" tIns="0" bIns="0" anchor="t">
            <a:spAutoFit/>
          </a:bodyPr>
          <a:lstStyle/>
          <a:p>
            <a:pPr>
              <a:lnSpc>
                <a:spcPct val="135000"/>
              </a:lnSpc>
              <a:spcBef>
                <a:spcPts val="0"/>
              </a:spcBef>
              <a:spcAft>
                <a:spcPts val="100"/>
              </a:spcAft>
            </a:pPr>
            <a:r>
              <a:rPr sz="950" b="0" i="0">
                <a:solidFill>
                  <a:srgbClr val="E3A143"/>
                </a:solidFill>
                <a:latin typeface="Consolas"/>
              </a:rPr>
              <a:t>stop loss</a:t>
            </a:r>
          </a:p>
          <a:p>
            <a:pPr>
              <a:lnSpc>
                <a:spcPct val="135000"/>
              </a:lnSpc>
              <a:spcBef>
                <a:spcPts val="0"/>
              </a:spcBef>
              <a:spcAft>
                <a:spcPts val="0"/>
              </a:spcAft>
            </a:pPr>
            <a:r>
              <a:rPr sz="950" b="0" i="0">
                <a:solidFill>
                  <a:srgbClr val="A8B0BD"/>
                </a:solidFill>
                <a:latin typeface="Segoe UI"/>
              </a:rPr>
              <a:t>Exit level if wrong, expressed in ATR multiples</a:t>
            </a:r>
          </a:p>
        </p:txBody>
      </p:sp>
      <p:sp>
        <p:nvSpPr>
          <p:cNvPr id="12" name="TextBox 11"/>
          <p:cNvSpPr txBox="1"/>
          <p:nvPr/>
        </p:nvSpPr>
        <p:spPr>
          <a:xfrm>
            <a:off x="768096" y="3456432"/>
            <a:ext cx="5347740" cy="310896"/>
          </a:xfrm>
          <a:prstGeom prst="rect">
            <a:avLst/>
          </a:prstGeom>
          <a:noFill/>
        </p:spPr>
        <p:txBody>
          <a:bodyPr wrap="square" lIns="0" rIns="0" tIns="0" bIns="0" anchor="t">
            <a:spAutoFit/>
          </a:bodyPr>
          <a:lstStyle/>
          <a:p>
            <a:pPr>
              <a:lnSpc>
                <a:spcPct val="135000"/>
              </a:lnSpc>
              <a:spcBef>
                <a:spcPts val="0"/>
              </a:spcBef>
              <a:spcAft>
                <a:spcPts val="100"/>
              </a:spcAft>
            </a:pPr>
            <a:r>
              <a:rPr sz="950" b="0" i="0">
                <a:solidFill>
                  <a:srgbClr val="E3A143"/>
                </a:solidFill>
                <a:latin typeface="Consolas"/>
              </a:rPr>
              <a:t>target</a:t>
            </a:r>
          </a:p>
          <a:p>
            <a:pPr>
              <a:lnSpc>
                <a:spcPct val="135000"/>
              </a:lnSpc>
              <a:spcBef>
                <a:spcPts val="0"/>
              </a:spcBef>
              <a:spcAft>
                <a:spcPts val="0"/>
              </a:spcAft>
            </a:pPr>
            <a:r>
              <a:rPr sz="950" b="0" i="0">
                <a:solidFill>
                  <a:srgbClr val="A8B0BD"/>
                </a:solidFill>
                <a:latin typeface="Segoe UI"/>
              </a:rPr>
              <a:t>Profit-taking level, also in ATR multiples</a:t>
            </a:r>
          </a:p>
        </p:txBody>
      </p:sp>
      <p:sp>
        <p:nvSpPr>
          <p:cNvPr id="13" name="TextBox 12"/>
          <p:cNvSpPr txBox="1"/>
          <p:nvPr/>
        </p:nvSpPr>
        <p:spPr>
          <a:xfrm>
            <a:off x="768096" y="3803904"/>
            <a:ext cx="5347740" cy="310896"/>
          </a:xfrm>
          <a:prstGeom prst="rect">
            <a:avLst/>
          </a:prstGeom>
          <a:noFill/>
        </p:spPr>
        <p:txBody>
          <a:bodyPr wrap="square" lIns="0" rIns="0" tIns="0" bIns="0" anchor="t">
            <a:spAutoFit/>
          </a:bodyPr>
          <a:lstStyle/>
          <a:p>
            <a:pPr>
              <a:lnSpc>
                <a:spcPct val="135000"/>
              </a:lnSpc>
              <a:spcBef>
                <a:spcPts val="0"/>
              </a:spcBef>
              <a:spcAft>
                <a:spcPts val="100"/>
              </a:spcAft>
            </a:pPr>
            <a:r>
              <a:rPr sz="950" b="0" i="0">
                <a:solidFill>
                  <a:srgbClr val="E3A143"/>
                </a:solidFill>
                <a:latin typeface="Consolas"/>
              </a:rPr>
              <a:t>trailing stop</a:t>
            </a:r>
          </a:p>
          <a:p>
            <a:pPr>
              <a:lnSpc>
                <a:spcPct val="135000"/>
              </a:lnSpc>
              <a:spcBef>
                <a:spcPts val="0"/>
              </a:spcBef>
              <a:spcAft>
                <a:spcPts val="0"/>
              </a:spcAft>
            </a:pPr>
            <a:r>
              <a:rPr sz="950" b="0" i="0">
                <a:solidFill>
                  <a:srgbClr val="A8B0BD"/>
                </a:solidFill>
                <a:latin typeface="Segoe UI"/>
              </a:rPr>
              <a:t>Stop that follows price once the trade moves in favour</a:t>
            </a:r>
          </a:p>
        </p:txBody>
      </p:sp>
      <p:sp>
        <p:nvSpPr>
          <p:cNvPr id="14" name="TextBox 13"/>
          <p:cNvSpPr txBox="1"/>
          <p:nvPr/>
        </p:nvSpPr>
        <p:spPr>
          <a:xfrm>
            <a:off x="768096" y="4151376"/>
            <a:ext cx="5347740" cy="310896"/>
          </a:xfrm>
          <a:prstGeom prst="rect">
            <a:avLst/>
          </a:prstGeom>
          <a:noFill/>
        </p:spPr>
        <p:txBody>
          <a:bodyPr wrap="square" lIns="0" rIns="0" tIns="0" bIns="0" anchor="t">
            <a:spAutoFit/>
          </a:bodyPr>
          <a:lstStyle/>
          <a:p>
            <a:pPr>
              <a:lnSpc>
                <a:spcPct val="135000"/>
              </a:lnSpc>
              <a:spcBef>
                <a:spcPts val="0"/>
              </a:spcBef>
              <a:spcAft>
                <a:spcPts val="100"/>
              </a:spcAft>
            </a:pPr>
            <a:r>
              <a:rPr sz="950" b="0" i="0">
                <a:solidFill>
                  <a:srgbClr val="E3A143"/>
                </a:solidFill>
                <a:latin typeface="Consolas"/>
              </a:rPr>
              <a:t>priority</a:t>
            </a:r>
          </a:p>
          <a:p>
            <a:pPr>
              <a:lnSpc>
                <a:spcPct val="135000"/>
              </a:lnSpc>
              <a:spcBef>
                <a:spcPts val="0"/>
              </a:spcBef>
              <a:spcAft>
                <a:spcPts val="0"/>
              </a:spcAft>
            </a:pPr>
            <a:r>
              <a:rPr sz="950" b="0" i="0">
                <a:solidFill>
                  <a:srgbClr val="A8B0BD"/>
                </a:solidFill>
                <a:latin typeface="Segoe UI"/>
              </a:rPr>
              <a:t>Which signal wins when two fire on the same bar</a:t>
            </a:r>
          </a:p>
        </p:txBody>
      </p:sp>
      <p:sp>
        <p:nvSpPr>
          <p:cNvPr id="15" name="Rectangle 14"/>
          <p:cNvSpPr/>
          <p:nvPr/>
        </p:nvSpPr>
        <p:spPr>
          <a:xfrm>
            <a:off x="6701052" y="2249424"/>
            <a:ext cx="4923714" cy="109728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02220" y="2414016"/>
            <a:ext cx="45213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WHY ATR MULTIPLES INSTEAD OF PERCENTAGES</a:t>
            </a:r>
          </a:p>
        </p:txBody>
      </p:sp>
      <p:sp>
        <p:nvSpPr>
          <p:cNvPr id="17" name="TextBox 16"/>
          <p:cNvSpPr txBox="1"/>
          <p:nvPr/>
        </p:nvSpPr>
        <p:spPr>
          <a:xfrm>
            <a:off x="6902220" y="2706624"/>
            <a:ext cx="4521378" cy="512064"/>
          </a:xfrm>
          <a:prstGeom prst="rect">
            <a:avLst/>
          </a:prstGeom>
          <a:noFill/>
        </p:spPr>
        <p:txBody>
          <a:bodyPr wrap="square" lIns="0" rIns="0" tIns="0" bIns="0" anchor="t">
            <a:spAutoFit/>
          </a:bodyPr>
          <a:lstStyle/>
          <a:p>
            <a:pPr>
              <a:lnSpc>
                <a:spcPct val="138000"/>
              </a:lnSpc>
              <a:spcBef>
                <a:spcPts val="0"/>
              </a:spcBef>
              <a:spcAft>
                <a:spcPts val="600"/>
              </a:spcAft>
            </a:pPr>
            <a:r>
              <a:rPr sz="1050" b="0" i="0">
                <a:solidFill>
                  <a:srgbClr val="A8B0BD"/>
                </a:solidFill>
                <a:latin typeface="Segoe UI"/>
              </a:rPr>
              <a:t>A fixed 3% stop is too tight for a volatile midcap and too loose for a stable largecap. Expressing stops as "1.5× the typical daily range" adapts automatically to each stock and each period.</a:t>
            </a:r>
          </a:p>
        </p:txBody>
      </p:sp>
      <p:sp>
        <p:nvSpPr>
          <p:cNvPr id="18" name="Rectangle 17"/>
          <p:cNvSpPr/>
          <p:nvPr/>
        </p:nvSpPr>
        <p:spPr>
          <a:xfrm>
            <a:off x="6701052" y="3483864"/>
            <a:ext cx="4923714" cy="109728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02220" y="3648456"/>
            <a:ext cx="45213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CONFLICT HANDLING</a:t>
            </a:r>
          </a:p>
        </p:txBody>
      </p:sp>
      <p:sp>
        <p:nvSpPr>
          <p:cNvPr id="20" name="TextBox 19"/>
          <p:cNvSpPr txBox="1"/>
          <p:nvPr/>
        </p:nvSpPr>
        <p:spPr>
          <a:xfrm>
            <a:off x="6902220" y="3941064"/>
            <a:ext cx="4521378" cy="512064"/>
          </a:xfrm>
          <a:prstGeom prst="rect">
            <a:avLst/>
          </a:prstGeom>
          <a:noFill/>
        </p:spPr>
        <p:txBody>
          <a:bodyPr wrap="square" lIns="0" rIns="0" tIns="0" bIns="0" anchor="t">
            <a:spAutoFit/>
          </a:bodyPr>
          <a:lstStyle/>
          <a:p>
            <a:pPr>
              <a:lnSpc>
                <a:spcPct val="138000"/>
              </a:lnSpc>
              <a:spcBef>
                <a:spcPts val="0"/>
              </a:spcBef>
              <a:spcAft>
                <a:spcPts val="600"/>
              </a:spcAft>
            </a:pPr>
            <a:r>
              <a:rPr sz="1050" b="0" i="0">
                <a:solidFill>
                  <a:srgbClr val="A8B0BD"/>
                </a:solidFill>
                <a:latin typeface="Segoe UI"/>
              </a:rPr>
              <a:t>Multiple patterns can fire on the same day for the same stock. A priority ordering plus a cooldown window prevents the system from stacking several correlated entries into one move.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10  ·  RISK</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Risk management</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536192"/>
            <a:ext cx="3429914" cy="19659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8096" y="1700784"/>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POSITION SIZING</a:t>
            </a:r>
          </a:p>
        </p:txBody>
      </p:sp>
      <p:sp>
        <p:nvSpPr>
          <p:cNvPr id="8" name="TextBox 7"/>
          <p:cNvSpPr txBox="1"/>
          <p:nvPr/>
        </p:nvSpPr>
        <p:spPr>
          <a:xfrm>
            <a:off x="768096" y="1993392"/>
            <a:ext cx="3027578" cy="138074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ATR-based sizing</a:t>
            </a:r>
            <a:r>
              <a:rPr sz="1000" b="0">
                <a:solidFill>
                  <a:srgbClr val="A8B0BD"/>
                </a:solidFill>
                <a:latin typeface="Segoe UI"/>
              </a:rPr>
              <a:t> — quantity derived from stop distance</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Max risk per trade</a:t>
            </a:r>
            <a:r>
              <a:rPr sz="1000" b="0">
                <a:solidFill>
                  <a:srgbClr val="A8B0BD"/>
                </a:solidFill>
                <a:latin typeface="Segoe UI"/>
              </a:rPr>
              <a:t> — rupee loss capped if the stop is hit</a:t>
            </a:r>
          </a:p>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Volatile stock → wider stop → smaller quantity</a:t>
            </a:r>
          </a:p>
        </p:txBody>
      </p:sp>
      <p:sp>
        <p:nvSpPr>
          <p:cNvPr id="9" name="Rectangle 8"/>
          <p:cNvSpPr/>
          <p:nvPr/>
        </p:nvSpPr>
        <p:spPr>
          <a:xfrm>
            <a:off x="4380890" y="1536192"/>
            <a:ext cx="3429914" cy="19659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82058" y="1700784"/>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TRADE EXITS</a:t>
            </a:r>
          </a:p>
        </p:txBody>
      </p:sp>
      <p:sp>
        <p:nvSpPr>
          <p:cNvPr id="11" name="TextBox 10"/>
          <p:cNvSpPr txBox="1"/>
          <p:nvPr/>
        </p:nvSpPr>
        <p:spPr>
          <a:xfrm>
            <a:off x="4582058" y="1993392"/>
            <a:ext cx="3027578" cy="138074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Stop loss</a:t>
            </a:r>
            <a:r>
              <a:rPr sz="1000" b="0">
                <a:solidFill>
                  <a:srgbClr val="A8B0BD"/>
                </a:solidFill>
                <a:latin typeface="Segoe UI"/>
              </a:rPr>
              <a:t> — hard invalidation level</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Take profit</a:t>
            </a:r>
            <a:r>
              <a:rPr sz="1000" b="0">
                <a:solidFill>
                  <a:srgbClr val="A8B0BD"/>
                </a:solidFill>
                <a:latin typeface="Segoe UI"/>
              </a:rPr>
              <a:t> — fixed target</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Trailing stop</a:t>
            </a:r>
            <a:r>
              <a:rPr sz="1000" b="0">
                <a:solidFill>
                  <a:srgbClr val="A8B0BD"/>
                </a:solidFill>
                <a:latin typeface="Segoe UI"/>
              </a:rPr>
              <a:t> — protects open profit</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Max holding period</a:t>
            </a:r>
            <a:r>
              <a:rPr sz="1000" b="0">
                <a:solidFill>
                  <a:srgbClr val="A8B0BD"/>
                </a:solidFill>
                <a:latin typeface="Segoe UI"/>
              </a:rPr>
              <a:t> — time stop; dead trades are released</a:t>
            </a:r>
          </a:p>
        </p:txBody>
      </p:sp>
      <p:sp>
        <p:nvSpPr>
          <p:cNvPr id="12" name="Rectangle 11"/>
          <p:cNvSpPr/>
          <p:nvPr/>
        </p:nvSpPr>
        <p:spPr>
          <a:xfrm>
            <a:off x="8194852" y="1536192"/>
            <a:ext cx="3429914" cy="19659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96020" y="1700784"/>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PORTFOLIO &amp; FRICTION</a:t>
            </a:r>
          </a:p>
        </p:txBody>
      </p:sp>
      <p:sp>
        <p:nvSpPr>
          <p:cNvPr id="14" name="TextBox 13"/>
          <p:cNvSpPr txBox="1"/>
          <p:nvPr/>
        </p:nvSpPr>
        <p:spPr>
          <a:xfrm>
            <a:off x="8396020" y="1993392"/>
            <a:ext cx="3027578" cy="138074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Max open positions</a:t>
            </a:r>
            <a:r>
              <a:rPr sz="1000" b="0">
                <a:solidFill>
                  <a:srgbClr val="A8B0BD"/>
                </a:solidFill>
                <a:latin typeface="Segoe UI"/>
              </a:rPr>
              <a:t> — concurrency cap</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Cooldown</a:t>
            </a:r>
            <a:r>
              <a:rPr sz="1000" b="0">
                <a:solidFill>
                  <a:srgbClr val="A8B0BD"/>
                </a:solidFill>
                <a:latin typeface="Segoe UI"/>
              </a:rPr>
              <a:t> — spacing between entries on one symbol</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Slippage</a:t>
            </a:r>
            <a:r>
              <a:rPr sz="1000" b="0">
                <a:solidFill>
                  <a:srgbClr val="A8B0BD"/>
                </a:solidFill>
                <a:latin typeface="Segoe UI"/>
              </a:rPr>
              <a:t> — gap between expected and filled price</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Transaction costs</a:t>
            </a:r>
            <a:r>
              <a:rPr sz="1000" b="0">
                <a:solidFill>
                  <a:srgbClr val="A8B0BD"/>
                </a:solidFill>
                <a:latin typeface="Segoe UI"/>
              </a:rPr>
              <a:t> — brokerage and fees modelled explicitly</a:t>
            </a:r>
          </a:p>
        </p:txBody>
      </p:sp>
      <p:sp>
        <p:nvSpPr>
          <p:cNvPr id="15" name="Rectangle 14"/>
          <p:cNvSpPr/>
          <p:nvPr/>
        </p:nvSpPr>
        <p:spPr>
          <a:xfrm>
            <a:off x="566928" y="3730752"/>
            <a:ext cx="11057839" cy="868680"/>
          </a:xfrm>
          <a:prstGeom prst="rect">
            <a:avLst/>
          </a:prstGeom>
          <a:solidFill>
            <a:srgbClr val="1C1611"/>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3730752"/>
            <a:ext cx="25000" cy="86868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68096" y="3867912"/>
            <a:ext cx="10655503" cy="612648"/>
          </a:xfrm>
          <a:prstGeom prst="rect">
            <a:avLst/>
          </a:prstGeom>
          <a:noFill/>
        </p:spPr>
        <p:txBody>
          <a:bodyPr wrap="square" lIns="0" rIns="0" tIns="0" bIns="0" anchor="t">
            <a:spAutoFit/>
          </a:bodyPr>
          <a:lstStyle/>
          <a:p>
            <a:pPr>
              <a:lnSpc>
                <a:spcPct val="140000"/>
              </a:lnSpc>
              <a:spcBef>
                <a:spcPts val="0"/>
              </a:spcBef>
              <a:spcAft>
                <a:spcPts val="0"/>
              </a:spcAft>
            </a:pPr>
            <a:r>
              <a:rPr sz="1050" b="1">
                <a:solidFill>
                  <a:srgbClr val="E9E7E2"/>
                </a:solidFill>
                <a:latin typeface="Segoe UI"/>
              </a:rPr>
              <a:t>Audit finding, carried honestly: </a:t>
            </a:r>
            <a:r>
              <a:rPr sz="1050" b="0">
                <a:solidFill>
                  <a:srgbClr val="A8B0BD"/>
                </a:solidFill>
                <a:latin typeface="Segoe UI"/>
              </a:rPr>
              <a:t>the simulator runs one symbol at a time with its own capital. It is a trade pool, not a shared-capital portfolio — so a true portfolio-level return figure does not yet exist.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11  ·  SIMULATION</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Backtesting engine</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536192"/>
            <a:ext cx="6081811" cy="30175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01   </a:t>
            </a:r>
            <a:r>
              <a:rPr sz="1000" b="0">
                <a:solidFill>
                  <a:srgbClr val="E9E7E2"/>
                </a:solidFill>
                <a:latin typeface="Segoe UI"/>
              </a:rPr>
              <a:t>Historical market data</a:t>
            </a:r>
          </a:p>
        </p:txBody>
      </p:sp>
      <p:sp>
        <p:nvSpPr>
          <p:cNvPr id="7" name="TextBox 6"/>
          <p:cNvSpPr txBox="1"/>
          <p:nvPr/>
        </p:nvSpPr>
        <p:spPr>
          <a:xfrm>
            <a:off x="4499899" y="1595628"/>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daily bars</a:t>
            </a:r>
          </a:p>
        </p:txBody>
      </p:sp>
      <p:sp>
        <p:nvSpPr>
          <p:cNvPr id="8" name="Rectangle 7"/>
          <p:cNvSpPr/>
          <p:nvPr/>
        </p:nvSpPr>
        <p:spPr>
          <a:xfrm>
            <a:off x="3603333" y="1837944"/>
            <a:ext cx="9000" cy="91440"/>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Isosceles Triangle 8"/>
          <p:cNvSpPr/>
          <p:nvPr/>
        </p:nvSpPr>
        <p:spPr>
          <a:xfrm rot="10800000">
            <a:off x="3562113" y="1879092"/>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1929384"/>
            <a:ext cx="6081811" cy="30175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02   </a:t>
            </a:r>
            <a:r>
              <a:rPr sz="1000" b="0">
                <a:solidFill>
                  <a:srgbClr val="E9E7E2"/>
                </a:solidFill>
                <a:latin typeface="Segoe UI"/>
              </a:rPr>
              <a:t>Historical signal fires</a:t>
            </a:r>
          </a:p>
        </p:txBody>
      </p:sp>
      <p:sp>
        <p:nvSpPr>
          <p:cNvPr id="11" name="TextBox 10"/>
          <p:cNvSpPr txBox="1"/>
          <p:nvPr/>
        </p:nvSpPr>
        <p:spPr>
          <a:xfrm>
            <a:off x="4499899" y="1988820"/>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from the rule engine</a:t>
            </a:r>
          </a:p>
        </p:txBody>
      </p:sp>
      <p:sp>
        <p:nvSpPr>
          <p:cNvPr id="12" name="Rectangle 11"/>
          <p:cNvSpPr/>
          <p:nvPr/>
        </p:nvSpPr>
        <p:spPr>
          <a:xfrm>
            <a:off x="3603333" y="2231136"/>
            <a:ext cx="9000" cy="91440"/>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Isosceles Triangle 12"/>
          <p:cNvSpPr/>
          <p:nvPr/>
        </p:nvSpPr>
        <p:spPr>
          <a:xfrm rot="10800000">
            <a:off x="3562113" y="2272284"/>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566928" y="2322576"/>
            <a:ext cx="6081811" cy="30175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03   </a:t>
            </a:r>
            <a:r>
              <a:rPr sz="1000" b="0">
                <a:solidFill>
                  <a:srgbClr val="E9E7E2"/>
                </a:solidFill>
                <a:latin typeface="Segoe UI"/>
              </a:rPr>
              <a:t>Execution timing / delay</a:t>
            </a:r>
          </a:p>
        </p:txBody>
      </p:sp>
      <p:sp>
        <p:nvSpPr>
          <p:cNvPr id="15" name="TextBox 14"/>
          <p:cNvSpPr txBox="1"/>
          <p:nvPr/>
        </p:nvSpPr>
        <p:spPr>
          <a:xfrm>
            <a:off x="4499899" y="2382012"/>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no same-instant fills</a:t>
            </a:r>
          </a:p>
        </p:txBody>
      </p:sp>
      <p:sp>
        <p:nvSpPr>
          <p:cNvPr id="16" name="Rectangle 15"/>
          <p:cNvSpPr/>
          <p:nvPr/>
        </p:nvSpPr>
        <p:spPr>
          <a:xfrm>
            <a:off x="3603333" y="2624328"/>
            <a:ext cx="9000" cy="91440"/>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Isosceles Triangle 16"/>
          <p:cNvSpPr/>
          <p:nvPr/>
        </p:nvSpPr>
        <p:spPr>
          <a:xfrm rot="10800000">
            <a:off x="3562113" y="2665476"/>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66928" y="2715768"/>
            <a:ext cx="6081811" cy="30175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04   </a:t>
            </a:r>
            <a:r>
              <a:rPr sz="1000" b="0">
                <a:solidFill>
                  <a:srgbClr val="E9E7E2"/>
                </a:solidFill>
                <a:latin typeface="Segoe UI"/>
              </a:rPr>
              <a:t>Entry at modelled price</a:t>
            </a:r>
          </a:p>
        </p:txBody>
      </p:sp>
      <p:sp>
        <p:nvSpPr>
          <p:cNvPr id="19" name="TextBox 18"/>
          <p:cNvSpPr txBox="1"/>
          <p:nvPr/>
        </p:nvSpPr>
        <p:spPr>
          <a:xfrm>
            <a:off x="4499899" y="2775204"/>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slippage + costs applied</a:t>
            </a:r>
          </a:p>
        </p:txBody>
      </p:sp>
      <p:sp>
        <p:nvSpPr>
          <p:cNvPr id="20" name="Rectangle 19"/>
          <p:cNvSpPr/>
          <p:nvPr/>
        </p:nvSpPr>
        <p:spPr>
          <a:xfrm>
            <a:off x="3603333" y="3017520"/>
            <a:ext cx="9000" cy="91440"/>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Isosceles Triangle 20"/>
          <p:cNvSpPr/>
          <p:nvPr/>
        </p:nvSpPr>
        <p:spPr>
          <a:xfrm rot="10800000">
            <a:off x="3562113" y="3058668"/>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566928" y="3108960"/>
            <a:ext cx="6081811" cy="30175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05   </a:t>
            </a:r>
            <a:r>
              <a:rPr sz="1000" b="0">
                <a:solidFill>
                  <a:srgbClr val="E9E7E2"/>
                </a:solidFill>
                <a:latin typeface="Segoe UI"/>
              </a:rPr>
              <a:t>Position management</a:t>
            </a:r>
          </a:p>
        </p:txBody>
      </p:sp>
      <p:sp>
        <p:nvSpPr>
          <p:cNvPr id="23" name="TextBox 22"/>
          <p:cNvSpPr txBox="1"/>
          <p:nvPr/>
        </p:nvSpPr>
        <p:spPr>
          <a:xfrm>
            <a:off x="4499899" y="3168396"/>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bar by bar</a:t>
            </a:r>
          </a:p>
        </p:txBody>
      </p:sp>
      <p:sp>
        <p:nvSpPr>
          <p:cNvPr id="24" name="Rectangle 23"/>
          <p:cNvSpPr/>
          <p:nvPr/>
        </p:nvSpPr>
        <p:spPr>
          <a:xfrm>
            <a:off x="3603333" y="3410712"/>
            <a:ext cx="9000" cy="91440"/>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Isosceles Triangle 24"/>
          <p:cNvSpPr/>
          <p:nvPr/>
        </p:nvSpPr>
        <p:spPr>
          <a:xfrm rot="10800000">
            <a:off x="3562113" y="3451860"/>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566928" y="3502152"/>
            <a:ext cx="6081811" cy="30175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06   </a:t>
            </a:r>
            <a:r>
              <a:rPr sz="1000" b="0">
                <a:solidFill>
                  <a:srgbClr val="E9E7E2"/>
                </a:solidFill>
                <a:latin typeface="Segoe UI"/>
              </a:rPr>
              <a:t>SL / TP / trailing checks</a:t>
            </a:r>
          </a:p>
        </p:txBody>
      </p:sp>
      <p:sp>
        <p:nvSpPr>
          <p:cNvPr id="27" name="TextBox 26"/>
          <p:cNvSpPr txBox="1"/>
          <p:nvPr/>
        </p:nvSpPr>
        <p:spPr>
          <a:xfrm>
            <a:off x="4499899" y="3561588"/>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gap-aware</a:t>
            </a:r>
          </a:p>
        </p:txBody>
      </p:sp>
      <p:sp>
        <p:nvSpPr>
          <p:cNvPr id="28" name="Rectangle 27"/>
          <p:cNvSpPr/>
          <p:nvPr/>
        </p:nvSpPr>
        <p:spPr>
          <a:xfrm>
            <a:off x="3603333" y="3803904"/>
            <a:ext cx="9000" cy="91440"/>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Isosceles Triangle 28"/>
          <p:cNvSpPr/>
          <p:nvPr/>
        </p:nvSpPr>
        <p:spPr>
          <a:xfrm rot="10800000">
            <a:off x="3562113" y="3845052"/>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66928" y="3895344"/>
            <a:ext cx="6081811" cy="30175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07   </a:t>
            </a:r>
            <a:r>
              <a:rPr sz="1000" b="0">
                <a:solidFill>
                  <a:srgbClr val="E9E7E2"/>
                </a:solidFill>
                <a:latin typeface="Segoe UI"/>
              </a:rPr>
              <a:t>Exit with reason recorded</a:t>
            </a:r>
          </a:p>
        </p:txBody>
      </p:sp>
      <p:sp>
        <p:nvSpPr>
          <p:cNvPr id="31" name="TextBox 30"/>
          <p:cNvSpPr txBox="1"/>
          <p:nvPr/>
        </p:nvSpPr>
        <p:spPr>
          <a:xfrm>
            <a:off x="4499899" y="3954780"/>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SL · TP · TIME · GAP</a:t>
            </a:r>
          </a:p>
        </p:txBody>
      </p:sp>
      <p:sp>
        <p:nvSpPr>
          <p:cNvPr id="32" name="Rectangle 31"/>
          <p:cNvSpPr/>
          <p:nvPr/>
        </p:nvSpPr>
        <p:spPr>
          <a:xfrm>
            <a:off x="3603333" y="4197096"/>
            <a:ext cx="9000" cy="91440"/>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Isosceles Triangle 32"/>
          <p:cNvSpPr/>
          <p:nvPr/>
        </p:nvSpPr>
        <p:spPr>
          <a:xfrm rot="10800000">
            <a:off x="3562113" y="4238244"/>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566928" y="4288536"/>
            <a:ext cx="6081811" cy="30175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08   </a:t>
            </a:r>
            <a:r>
              <a:rPr sz="1000" b="0">
                <a:solidFill>
                  <a:srgbClr val="E9E7E2"/>
                </a:solidFill>
                <a:latin typeface="Segoe UI"/>
              </a:rPr>
              <a:t>Trade log → metrics</a:t>
            </a:r>
          </a:p>
        </p:txBody>
      </p:sp>
      <p:sp>
        <p:nvSpPr>
          <p:cNvPr id="35" name="TextBox 34"/>
          <p:cNvSpPr txBox="1"/>
          <p:nvPr/>
        </p:nvSpPr>
        <p:spPr>
          <a:xfrm>
            <a:off x="4499899" y="4347972"/>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win rate · PF · expectancy</a:t>
            </a:r>
          </a:p>
        </p:txBody>
      </p:sp>
      <p:sp>
        <p:nvSpPr>
          <p:cNvPr id="36" name="Rectangle 35"/>
          <p:cNvSpPr/>
          <p:nvPr/>
        </p:nvSpPr>
        <p:spPr>
          <a:xfrm>
            <a:off x="7032787" y="1536192"/>
            <a:ext cx="4591979" cy="21031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233955" y="1700784"/>
            <a:ext cx="4189643"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REALISM BUILT IN</a:t>
            </a:r>
          </a:p>
        </p:txBody>
      </p:sp>
      <p:sp>
        <p:nvSpPr>
          <p:cNvPr id="38" name="TextBox 37"/>
          <p:cNvSpPr txBox="1"/>
          <p:nvPr/>
        </p:nvSpPr>
        <p:spPr>
          <a:xfrm>
            <a:off x="7233955" y="1993392"/>
            <a:ext cx="4189643" cy="151790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Execution delay</a:t>
            </a:r>
            <a:r>
              <a:rPr sz="1000" b="0">
                <a:solidFill>
                  <a:srgbClr val="A8B0BD"/>
                </a:solidFill>
                <a:latin typeface="Segoe UI"/>
              </a:rPr>
              <a:t> — a signal on today's close cannot be filled at today's close</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Gap handling</a:t>
            </a:r>
            <a:r>
              <a:rPr sz="1000" b="0">
                <a:solidFill>
                  <a:srgbClr val="A8B0BD"/>
                </a:solidFill>
                <a:latin typeface="Segoe UI"/>
              </a:rPr>
              <a:t> — if the stock opens past your stop, you exit at the gap</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Same-bar SL and TP</a:t>
            </a:r>
            <a:r>
              <a:rPr sz="1000" b="0">
                <a:solidFill>
                  <a:srgbClr val="A8B0BD"/>
                </a:solidFill>
                <a:latin typeface="Segoe UI"/>
              </a:rPr>
              <a:t> — resolved explicitly, not assumed favourable</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Exit reasons recorded</a:t>
            </a:r>
            <a:r>
              <a:rPr sz="1000" b="0">
                <a:solidFill>
                  <a:srgbClr val="A8B0BD"/>
                </a:solidFill>
                <a:latin typeface="Segoe UI"/>
              </a:rPr>
              <a:t> — so failures can be diagnosed, not just counted</a:t>
            </a:r>
          </a:p>
        </p:txBody>
      </p:sp>
      <p:sp>
        <p:nvSpPr>
          <p:cNvPr id="39" name="Rectangle 38"/>
          <p:cNvSpPr/>
          <p:nvPr/>
        </p:nvSpPr>
        <p:spPr>
          <a:xfrm>
            <a:off x="7032787" y="3822192"/>
            <a:ext cx="4591979" cy="960120"/>
          </a:xfrm>
          <a:prstGeom prst="rect">
            <a:avLst/>
          </a:prstGeom>
          <a:solidFill>
            <a:srgbClr val="12161D"/>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7032787" y="3822192"/>
            <a:ext cx="25000" cy="96012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233955" y="3959352"/>
            <a:ext cx="4189643" cy="704088"/>
          </a:xfrm>
          <a:prstGeom prst="rect">
            <a:avLst/>
          </a:prstGeom>
          <a:noFill/>
        </p:spPr>
        <p:txBody>
          <a:bodyPr wrap="square" lIns="0" rIns="0" tIns="0" bIns="0" anchor="t">
            <a:spAutoFit/>
          </a:bodyPr>
          <a:lstStyle/>
          <a:p>
            <a:pPr>
              <a:lnSpc>
                <a:spcPct val="140000"/>
              </a:lnSpc>
              <a:spcBef>
                <a:spcPts val="0"/>
              </a:spcBef>
              <a:spcAft>
                <a:spcPts val="0"/>
              </a:spcAft>
            </a:pPr>
            <a:r>
              <a:rPr sz="1050" b="0">
                <a:solidFill>
                  <a:srgbClr val="A8B0BD"/>
                </a:solidFill>
                <a:latin typeface="Segoe UI"/>
              </a:rPr>
              <a:t>The engine was audited against 29 constructed scenarios: </a:t>
            </a:r>
            <a:r>
              <a:rPr sz="1050" b="1">
                <a:solidFill>
                  <a:srgbClr val="4E9E78"/>
                </a:solidFill>
                <a:latin typeface="Segoe UI"/>
              </a:rPr>
              <a:t>28 passed</a:t>
            </a:r>
            <a:r>
              <a:rPr sz="1050" b="0">
                <a:solidFill>
                  <a:srgbClr val="A8B0BD"/>
                </a:solidFill>
                <a:latin typeface="Segoe UI"/>
              </a:rPr>
              <a:t>. The one failure required a configuration value production never uses — traced, documented, now covered by a regression test.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12  ·  BASELINE RESULT</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Baseline backtest — the full-history result</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536192"/>
            <a:ext cx="2757316" cy="93268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49808" y="1682496"/>
            <a:ext cx="2391556" cy="658368"/>
          </a:xfrm>
          <a:prstGeom prst="rect">
            <a:avLst/>
          </a:prstGeom>
          <a:noFill/>
        </p:spPr>
        <p:txBody>
          <a:bodyPr wrap="square" lIns="0" rIns="0" tIns="0" bIns="0" anchor="t">
            <a:spAutoFit/>
          </a:bodyPr>
          <a:lstStyle/>
          <a:p>
            <a:pPr>
              <a:lnSpc>
                <a:spcPct val="135000"/>
              </a:lnSpc>
              <a:spcBef>
                <a:spcPts val="0"/>
              </a:spcBef>
              <a:spcAft>
                <a:spcPts val="600"/>
              </a:spcAft>
            </a:pPr>
            <a:r>
              <a:rPr sz="750" b="0" i="0" spc="120">
                <a:solidFill>
                  <a:srgbClr val="727C8C"/>
                </a:solidFill>
                <a:latin typeface="Consolas"/>
              </a:rPr>
              <a:t>COMPLETED TRADES</a:t>
            </a:r>
          </a:p>
          <a:p>
            <a:pPr>
              <a:lnSpc>
                <a:spcPct val="100000"/>
              </a:lnSpc>
              <a:spcBef>
                <a:spcPts val="0"/>
              </a:spcBef>
              <a:spcAft>
                <a:spcPts val="500"/>
              </a:spcAft>
            </a:pPr>
            <a:r>
              <a:rPr sz="2500" b="0" i="0">
                <a:solidFill>
                  <a:srgbClr val="E9E7E2"/>
                </a:solidFill>
                <a:latin typeface="Georgia"/>
              </a:rPr>
              <a:t>1,051</a:t>
            </a:r>
          </a:p>
          <a:p>
            <a:pPr>
              <a:lnSpc>
                <a:spcPct val="135000"/>
              </a:lnSpc>
              <a:spcBef>
                <a:spcPts val="0"/>
              </a:spcBef>
              <a:spcAft>
                <a:spcPts val="0"/>
              </a:spcAft>
            </a:pPr>
            <a:r>
              <a:rPr sz="800" b="0" i="0">
                <a:solidFill>
                  <a:srgbClr val="727C8C"/>
                </a:solidFill>
                <a:latin typeface="Consolas"/>
              </a:rPr>
              <a:t>from 1,275 signals</a:t>
            </a:r>
          </a:p>
        </p:txBody>
      </p:sp>
      <p:sp>
        <p:nvSpPr>
          <p:cNvPr id="8" name="Rectangle 7"/>
          <p:cNvSpPr/>
          <p:nvPr/>
        </p:nvSpPr>
        <p:spPr>
          <a:xfrm>
            <a:off x="3333769" y="1536192"/>
            <a:ext cx="2757316" cy="93268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516649" y="1682496"/>
            <a:ext cx="2391556" cy="658368"/>
          </a:xfrm>
          <a:prstGeom prst="rect">
            <a:avLst/>
          </a:prstGeom>
          <a:noFill/>
        </p:spPr>
        <p:txBody>
          <a:bodyPr wrap="square" lIns="0" rIns="0" tIns="0" bIns="0" anchor="t">
            <a:spAutoFit/>
          </a:bodyPr>
          <a:lstStyle/>
          <a:p>
            <a:pPr>
              <a:lnSpc>
                <a:spcPct val="135000"/>
              </a:lnSpc>
              <a:spcBef>
                <a:spcPts val="0"/>
              </a:spcBef>
              <a:spcAft>
                <a:spcPts val="600"/>
              </a:spcAft>
            </a:pPr>
            <a:r>
              <a:rPr sz="750" b="0" i="0" spc="120">
                <a:solidFill>
                  <a:srgbClr val="727C8C"/>
                </a:solidFill>
                <a:latin typeface="Consolas"/>
              </a:rPr>
              <a:t>WIN RATE</a:t>
            </a:r>
          </a:p>
          <a:p>
            <a:pPr>
              <a:lnSpc>
                <a:spcPct val="100000"/>
              </a:lnSpc>
              <a:spcBef>
                <a:spcPts val="0"/>
              </a:spcBef>
              <a:spcAft>
                <a:spcPts val="500"/>
              </a:spcAft>
            </a:pPr>
            <a:r>
              <a:rPr sz="2500" b="0" i="0">
                <a:solidFill>
                  <a:srgbClr val="E9E7E2"/>
                </a:solidFill>
                <a:latin typeface="Georgia"/>
              </a:rPr>
              <a:t>42.3%</a:t>
            </a:r>
          </a:p>
          <a:p>
            <a:pPr>
              <a:lnSpc>
                <a:spcPct val="135000"/>
              </a:lnSpc>
              <a:spcBef>
                <a:spcPts val="0"/>
              </a:spcBef>
              <a:spcAft>
                <a:spcPts val="0"/>
              </a:spcAft>
            </a:pPr>
            <a:r>
              <a:rPr sz="800" b="0" i="0">
                <a:solidFill>
                  <a:srgbClr val="727C8C"/>
                </a:solidFill>
                <a:latin typeface="Consolas"/>
              </a:rPr>
              <a:t>majority of trades lose</a:t>
            </a:r>
          </a:p>
        </p:txBody>
      </p:sp>
      <p:sp>
        <p:nvSpPr>
          <p:cNvPr id="10" name="Rectangle 9"/>
          <p:cNvSpPr/>
          <p:nvPr/>
        </p:nvSpPr>
        <p:spPr>
          <a:xfrm>
            <a:off x="6100610" y="1536192"/>
            <a:ext cx="2757316" cy="93268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83490" y="1682496"/>
            <a:ext cx="2391556" cy="658368"/>
          </a:xfrm>
          <a:prstGeom prst="rect">
            <a:avLst/>
          </a:prstGeom>
          <a:noFill/>
        </p:spPr>
        <p:txBody>
          <a:bodyPr wrap="square" lIns="0" rIns="0" tIns="0" bIns="0" anchor="t">
            <a:spAutoFit/>
          </a:bodyPr>
          <a:lstStyle/>
          <a:p>
            <a:pPr>
              <a:lnSpc>
                <a:spcPct val="135000"/>
              </a:lnSpc>
              <a:spcBef>
                <a:spcPts val="0"/>
              </a:spcBef>
              <a:spcAft>
                <a:spcPts val="600"/>
              </a:spcAft>
            </a:pPr>
            <a:r>
              <a:rPr sz="750" b="0" i="0" spc="120">
                <a:solidFill>
                  <a:srgbClr val="727C8C"/>
                </a:solidFill>
                <a:latin typeface="Consolas"/>
              </a:rPr>
              <a:t>PROFIT FACTOR</a:t>
            </a:r>
          </a:p>
          <a:p>
            <a:pPr>
              <a:lnSpc>
                <a:spcPct val="100000"/>
              </a:lnSpc>
              <a:spcBef>
                <a:spcPts val="0"/>
              </a:spcBef>
              <a:spcAft>
                <a:spcPts val="500"/>
              </a:spcAft>
            </a:pPr>
            <a:r>
              <a:rPr sz="2500" b="0" i="0">
                <a:solidFill>
                  <a:srgbClr val="E9E7E2"/>
                </a:solidFill>
                <a:latin typeface="Georgia"/>
              </a:rPr>
              <a:t>1.14</a:t>
            </a:r>
          </a:p>
          <a:p>
            <a:pPr>
              <a:lnSpc>
                <a:spcPct val="135000"/>
              </a:lnSpc>
              <a:spcBef>
                <a:spcPts val="0"/>
              </a:spcBef>
              <a:spcAft>
                <a:spcPts val="0"/>
              </a:spcAft>
            </a:pPr>
            <a:r>
              <a:rPr sz="800" b="0" i="0">
                <a:solidFill>
                  <a:srgbClr val="727C8C"/>
                </a:solidFill>
                <a:latin typeface="Consolas"/>
              </a:rPr>
              <a:t>₹1.14 won per ₹1 lost</a:t>
            </a:r>
          </a:p>
        </p:txBody>
      </p:sp>
      <p:sp>
        <p:nvSpPr>
          <p:cNvPr id="12" name="Rectangle 11"/>
          <p:cNvSpPr/>
          <p:nvPr/>
        </p:nvSpPr>
        <p:spPr>
          <a:xfrm>
            <a:off x="8867451" y="1536192"/>
            <a:ext cx="2757316" cy="93268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050331" y="1682496"/>
            <a:ext cx="2391556" cy="658368"/>
          </a:xfrm>
          <a:prstGeom prst="rect">
            <a:avLst/>
          </a:prstGeom>
          <a:noFill/>
        </p:spPr>
        <p:txBody>
          <a:bodyPr wrap="square" lIns="0" rIns="0" tIns="0" bIns="0" anchor="t">
            <a:spAutoFit/>
          </a:bodyPr>
          <a:lstStyle/>
          <a:p>
            <a:pPr>
              <a:lnSpc>
                <a:spcPct val="135000"/>
              </a:lnSpc>
              <a:spcBef>
                <a:spcPts val="0"/>
              </a:spcBef>
              <a:spcAft>
                <a:spcPts val="600"/>
              </a:spcAft>
            </a:pPr>
            <a:r>
              <a:rPr sz="750" b="0" i="0" spc="120">
                <a:solidFill>
                  <a:srgbClr val="727C8C"/>
                </a:solidFill>
                <a:latin typeface="Consolas"/>
              </a:rPr>
              <a:t>EXPECTANCY</a:t>
            </a:r>
          </a:p>
          <a:p>
            <a:pPr>
              <a:lnSpc>
                <a:spcPct val="100000"/>
              </a:lnSpc>
              <a:spcBef>
                <a:spcPts val="0"/>
              </a:spcBef>
              <a:spcAft>
                <a:spcPts val="500"/>
              </a:spcAft>
            </a:pPr>
            <a:r>
              <a:rPr sz="2500" b="0" i="0">
                <a:solidFill>
                  <a:srgbClr val="E9E7E2"/>
                </a:solidFill>
                <a:latin typeface="Georgia"/>
              </a:rPr>
              <a:t>₹329</a:t>
            </a:r>
          </a:p>
          <a:p>
            <a:pPr>
              <a:lnSpc>
                <a:spcPct val="135000"/>
              </a:lnSpc>
              <a:spcBef>
                <a:spcPts val="0"/>
              </a:spcBef>
              <a:spcAft>
                <a:spcPts val="0"/>
              </a:spcAft>
            </a:pPr>
            <a:r>
              <a:rPr sz="800" b="0" i="0">
                <a:solidFill>
                  <a:srgbClr val="727C8C"/>
                </a:solidFill>
                <a:latin typeface="Consolas"/>
              </a:rPr>
              <a:t>average per trade</a:t>
            </a:r>
          </a:p>
        </p:txBody>
      </p:sp>
      <p:sp>
        <p:nvSpPr>
          <p:cNvPr id="14" name="Rectangle 13"/>
          <p:cNvSpPr/>
          <p:nvPr/>
        </p:nvSpPr>
        <p:spPr>
          <a:xfrm>
            <a:off x="566928" y="2706624"/>
            <a:ext cx="5750076" cy="169164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68096" y="2871216"/>
            <a:ext cx="5347740"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READING THIS HONESTLY</a:t>
            </a:r>
          </a:p>
        </p:txBody>
      </p:sp>
      <p:sp>
        <p:nvSpPr>
          <p:cNvPr id="16" name="TextBox 15"/>
          <p:cNvSpPr txBox="1"/>
          <p:nvPr/>
        </p:nvSpPr>
        <p:spPr>
          <a:xfrm>
            <a:off x="768096" y="3163824"/>
            <a:ext cx="5347740" cy="110642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8 patterns traded; 2 of the 8 had negative expectancy</a:t>
            </a:r>
          </a:p>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Per-symbol outcomes ranged from +9.5% to −5.8% over the identical window</a:t>
            </a:r>
          </a:p>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The engine's own SL/TP consistency check found 0 mismatches across all 1,051 trades</a:t>
            </a:r>
          </a:p>
        </p:txBody>
      </p:sp>
      <p:sp>
        <p:nvSpPr>
          <p:cNvPr id="17" name="Rectangle 16"/>
          <p:cNvSpPr/>
          <p:nvPr/>
        </p:nvSpPr>
        <p:spPr>
          <a:xfrm>
            <a:off x="6701052" y="2706624"/>
            <a:ext cx="4923714" cy="1691640"/>
          </a:xfrm>
          <a:prstGeom prst="rect">
            <a:avLst/>
          </a:prstGeom>
          <a:solidFill>
            <a:srgbClr val="1C1611"/>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701052" y="2706624"/>
            <a:ext cx="25000" cy="169164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02220" y="2843784"/>
            <a:ext cx="4521378" cy="1435608"/>
          </a:xfrm>
          <a:prstGeom prst="rect">
            <a:avLst/>
          </a:prstGeom>
          <a:noFill/>
        </p:spPr>
        <p:txBody>
          <a:bodyPr wrap="square" lIns="0" rIns="0" tIns="0" bIns="0" anchor="t">
            <a:spAutoFit/>
          </a:bodyPr>
          <a:lstStyle/>
          <a:p>
            <a:pPr>
              <a:lnSpc>
                <a:spcPct val="140000"/>
              </a:lnSpc>
              <a:spcBef>
                <a:spcPts val="0"/>
              </a:spcBef>
              <a:spcAft>
                <a:spcPts val="0"/>
              </a:spcAft>
            </a:pPr>
            <a:r>
              <a:rPr sz="1050" b="1">
                <a:solidFill>
                  <a:srgbClr val="E9E7E2"/>
                </a:solidFill>
                <a:latin typeface="Segoe UI"/>
              </a:rPr>
              <a:t>This is a modest historical edge — not proof of profitability. </a:t>
            </a:r>
            <a:r>
              <a:rPr sz="1050" b="0">
                <a:solidFill>
                  <a:srgbClr val="A8B0BD"/>
                </a:solidFill>
                <a:latin typeface="Segoe UI"/>
              </a:rPr>
              <a:t>A profit factor of 1.14 means the strategy barely wins more than it loses over four years of history. It is a starting point for research, not a green light for capital.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13  ·  VALIDATION</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The validation framework</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536192"/>
            <a:ext cx="11057839" cy="384048"/>
          </a:xfrm>
          <a:prstGeom prst="rect">
            <a:avLst/>
          </a:prstGeom>
          <a:noFill/>
        </p:spPr>
        <p:txBody>
          <a:bodyPr wrap="square" lIns="0" rIns="0" tIns="0" bIns="0" anchor="t">
            <a:spAutoFit/>
          </a:bodyPr>
          <a:lstStyle/>
          <a:p>
            <a:pPr>
              <a:lnSpc>
                <a:spcPct val="130000"/>
              </a:lnSpc>
              <a:spcBef>
                <a:spcPts val="0"/>
              </a:spcBef>
              <a:spcAft>
                <a:spcPts val="0"/>
              </a:spcAft>
            </a:pPr>
            <a:r>
              <a:rPr sz="1150" b="0" i="0">
                <a:solidFill>
                  <a:srgbClr val="E9E7E2"/>
                </a:solidFill>
                <a:latin typeface="Segoe UI"/>
              </a:rPr>
              <a:t>One backtest result is an opinion. Twenty independent diagnostics, each recomputing an expected value before comparing, is evidence. No production file was modified to produce any of these results.</a:t>
            </a:r>
          </a:p>
        </p:txBody>
      </p:sp>
      <p:graphicFrame>
        <p:nvGraphicFramePr>
          <p:cNvPr id="7" name="Table 6"/>
          <p:cNvGraphicFramePr>
            <a:graphicFrameLocks noGrp="1"/>
          </p:cNvGraphicFramePr>
          <p:nvPr/>
        </p:nvGraphicFramePr>
        <p:xfrm>
          <a:off x="566928" y="2084832"/>
          <a:ext cx="11057838" cy="2866644"/>
        </p:xfrm>
        <a:graphic>
          <a:graphicData uri="http://schemas.openxmlformats.org/drawingml/2006/table">
            <a:tbl>
              <a:tblPr firstRow="1" bandRow="1">
                <a:tableStyleId>{5C22544A-7EE6-4342-B048-85BDC9FD1C3A}</a:tableStyleId>
              </a:tblPr>
              <a:tblGrid>
                <a:gridCol w="2653881"/>
                <a:gridCol w="4976027"/>
                <a:gridCol w="3427930"/>
              </a:tblGrid>
              <a:tr h="274320">
                <a:tc>
                  <a:txBody>
                    <a:bodyPr wrap="square"/>
                    <a:lstStyle/>
                    <a:p>
                      <a:pPr>
                        <a:spcAft>
                          <a:spcPts val="0"/>
                        </a:spcAft>
                      </a:pPr>
                      <a:r>
                        <a:rPr sz="750" b="0">
                          <a:solidFill>
                            <a:srgbClr val="727C8C"/>
                          </a:solidFill>
                          <a:latin typeface="Consolas"/>
                        </a:rPr>
                        <a:t>INVESTIGATION</a:t>
                      </a:r>
                    </a:p>
                  </a:txBody>
                  <a:tcPr marL="82296" marR="82296" marT="36576" marB="36576" anchor="ctr">
                    <a:solidFill>
                      <a:srgbClr val="12161D"/>
                    </a:solidFill>
                  </a:tcPr>
                </a:tc>
                <a:tc>
                  <a:txBody>
                    <a:bodyPr wrap="square"/>
                    <a:lstStyle/>
                    <a:p>
                      <a:pPr>
                        <a:spcAft>
                          <a:spcPts val="0"/>
                        </a:spcAft>
                      </a:pPr>
                      <a:r>
                        <a:rPr sz="750" b="0">
                          <a:solidFill>
                            <a:srgbClr val="727C8C"/>
                          </a:solidFill>
                          <a:latin typeface="Consolas"/>
                        </a:rPr>
                        <a:t>QUESTION IT ANSWERS</a:t>
                      </a:r>
                    </a:p>
                  </a:txBody>
                  <a:tcPr marL="82296" marR="82296" marT="36576" marB="36576" anchor="ctr">
                    <a:solidFill>
                      <a:srgbClr val="12161D"/>
                    </a:solidFill>
                  </a:tcPr>
                </a:tc>
                <a:tc>
                  <a:txBody>
                    <a:bodyPr wrap="square"/>
                    <a:lstStyle/>
                    <a:p>
                      <a:pPr>
                        <a:spcAft>
                          <a:spcPts val="0"/>
                        </a:spcAft>
                      </a:pPr>
                      <a:r>
                        <a:rPr sz="750" b="0">
                          <a:solidFill>
                            <a:srgbClr val="727C8C"/>
                          </a:solidFill>
                          <a:latin typeface="Consolas"/>
                        </a:rPr>
                        <a:t>OUTCOME</a:t>
                      </a:r>
                    </a:p>
                  </a:txBody>
                  <a:tcPr marL="82296" marR="82296" marT="36576" marB="36576" anchor="ctr">
                    <a:solidFill>
                      <a:srgbClr val="12161D"/>
                    </a:solidFill>
                  </a:tcPr>
                </a:tc>
              </a:tr>
              <a:tr h="288036">
                <a:tc>
                  <a:txBody>
                    <a:bodyPr wrap="square"/>
                    <a:lstStyle/>
                    <a:p>
                      <a:pPr>
                        <a:lnSpc>
                          <a:spcPct val="115000"/>
                        </a:lnSpc>
                        <a:spcAft>
                          <a:spcPts val="0"/>
                        </a:spcAft>
                      </a:pPr>
                      <a:r>
                        <a:rPr sz="950" b="1">
                          <a:solidFill>
                            <a:srgbClr val="E9E7E2"/>
                          </a:solidFill>
                          <a:latin typeface="Segoe UI"/>
                        </a:rPr>
                        <a:t>Indicator verification</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Do RSI, ATR, ADX, MA match an independent reference?</a:t>
                      </a:r>
                    </a:p>
                  </a:txBody>
                  <a:tcPr marL="82296" marR="82296" marT="27432" marB="27432" anchor="ctr">
                    <a:solidFill>
                      <a:srgbClr val="171C25"/>
                    </a:solidFill>
                  </a:tcPr>
                </a:tc>
                <a:tc>
                  <a:txBody>
                    <a:bodyPr wrap="square"/>
                    <a:lstStyle/>
                    <a:p>
                      <a:pPr>
                        <a:lnSpc>
                          <a:spcPct val="115000"/>
                        </a:lnSpc>
                        <a:spcAft>
                          <a:spcPts val="0"/>
                        </a:spcAft>
                      </a:pPr>
                      <a:r>
                        <a:rPr sz="950" b="1">
                          <a:solidFill>
                            <a:srgbClr val="4E9E78"/>
                          </a:solidFill>
                          <a:latin typeface="Segoe UI"/>
                        </a:rPr>
                        <a:t>Pass</a:t>
                      </a:r>
                      <a:r>
                        <a:rPr sz="950" b="0">
                          <a:solidFill>
                            <a:srgbClr val="A8B0BD"/>
                          </a:solidFill>
                          <a:latin typeface="Segoe UI"/>
                        </a:rPr>
                        <a:t> — ADX, ATR, MA all matched</a:t>
                      </a:r>
                    </a:p>
                  </a:txBody>
                  <a:tcPr marL="82296" marR="82296" marT="27432" marB="27432" anchor="ctr">
                    <a:solidFill>
                      <a:srgbClr val="171C25"/>
                    </a:solidFill>
                  </a:tcPr>
                </a:tc>
              </a:tr>
              <a:tr h="288036">
                <a:tc>
                  <a:txBody>
                    <a:bodyPr wrap="square"/>
                    <a:lstStyle/>
                    <a:p>
                      <a:pPr>
                        <a:lnSpc>
                          <a:spcPct val="115000"/>
                        </a:lnSpc>
                        <a:spcAft>
                          <a:spcPts val="0"/>
                        </a:spcAft>
                      </a:pPr>
                      <a:r>
                        <a:rPr sz="950" b="1">
                          <a:solidFill>
                            <a:srgbClr val="E9E7E2"/>
                          </a:solidFill>
                          <a:latin typeface="Segoe UI"/>
                        </a:rPr>
                        <a:t>Look-ahead testing</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Does any stage secretly use future data?</a:t>
                      </a:r>
                    </a:p>
                  </a:txBody>
                  <a:tcPr marL="82296" marR="82296" marT="27432" marB="27432" anchor="ctr">
                    <a:solidFill>
                      <a:srgbClr val="171C25"/>
                    </a:solidFill>
                  </a:tcPr>
                </a:tc>
                <a:tc>
                  <a:txBody>
                    <a:bodyPr wrap="square"/>
                    <a:lstStyle/>
                    <a:p>
                      <a:pPr>
                        <a:lnSpc>
                          <a:spcPct val="115000"/>
                        </a:lnSpc>
                        <a:spcAft>
                          <a:spcPts val="0"/>
                        </a:spcAft>
                      </a:pPr>
                      <a:r>
                        <a:rPr sz="950" b="1">
                          <a:solidFill>
                            <a:srgbClr val="4E9E78"/>
                          </a:solidFill>
                          <a:latin typeface="Segoe UI"/>
                        </a:rPr>
                        <a:t>Pass</a:t>
                      </a:r>
                      <a:r>
                        <a:rPr sz="950" b="0">
                          <a:solidFill>
                            <a:srgbClr val="A8B0BD"/>
                          </a:solidFill>
                          <a:latin typeface="Segoe UI"/>
                        </a:rPr>
                        <a:t> — 4 of 4 checks clean</a:t>
                      </a:r>
                    </a:p>
                  </a:txBody>
                  <a:tcPr marL="82296" marR="82296" marT="27432" marB="27432" anchor="ctr">
                    <a:solidFill>
                      <a:srgbClr val="171C25"/>
                    </a:solidFill>
                  </a:tcPr>
                </a:tc>
              </a:tr>
              <a:tr h="288036">
                <a:tc>
                  <a:txBody>
                    <a:bodyPr wrap="square"/>
                    <a:lstStyle/>
                    <a:p>
                      <a:pPr>
                        <a:lnSpc>
                          <a:spcPct val="115000"/>
                        </a:lnSpc>
                        <a:spcAft>
                          <a:spcPts val="0"/>
                        </a:spcAft>
                      </a:pPr>
                      <a:r>
                        <a:rPr sz="950" b="1">
                          <a:solidFill>
                            <a:srgbClr val="E9E7E2"/>
                          </a:solidFill>
                          <a:latin typeface="Segoe UI"/>
                        </a:rPr>
                        <a:t>Gate diagnostics</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Which filters actually reject anything?</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Documented — several rejected 0%</a:t>
                      </a:r>
                    </a:p>
                  </a:txBody>
                  <a:tcPr marL="82296" marR="82296" marT="27432" marB="27432" anchor="ctr">
                    <a:solidFill>
                      <a:srgbClr val="171C25"/>
                    </a:solidFill>
                  </a:tcPr>
                </a:tc>
              </a:tr>
              <a:tr h="288036">
                <a:tc>
                  <a:txBody>
                    <a:bodyPr wrap="square"/>
                    <a:lstStyle/>
                    <a:p>
                      <a:pPr>
                        <a:lnSpc>
                          <a:spcPct val="115000"/>
                        </a:lnSpc>
                        <a:spcAft>
                          <a:spcPts val="0"/>
                        </a:spcAft>
                      </a:pPr>
                      <a:r>
                        <a:rPr sz="950" b="1">
                          <a:solidFill>
                            <a:srgbClr val="E9E7E2"/>
                          </a:solidFill>
                          <a:latin typeface="Segoe UI"/>
                        </a:rPr>
                        <a:t>Ablation studies</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If I switch one gate off, does performance change?</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Mixed — see next slides</a:t>
                      </a:r>
                    </a:p>
                  </a:txBody>
                  <a:tcPr marL="82296" marR="82296" marT="27432" marB="27432" anchor="ctr">
                    <a:solidFill>
                      <a:srgbClr val="171C25"/>
                    </a:solidFill>
                  </a:tcPr>
                </a:tc>
              </a:tr>
              <a:tr h="288036">
                <a:tc>
                  <a:txBody>
                    <a:bodyPr wrap="square"/>
                    <a:lstStyle/>
                    <a:p>
                      <a:pPr>
                        <a:lnSpc>
                          <a:spcPct val="115000"/>
                        </a:lnSpc>
                        <a:spcAft>
                          <a:spcPts val="0"/>
                        </a:spcAft>
                      </a:pPr>
                      <a:r>
                        <a:rPr sz="950" b="1">
                          <a:solidFill>
                            <a:srgbClr val="E9E7E2"/>
                          </a:solidFill>
                          <a:latin typeface="Segoe UI"/>
                        </a:rPr>
                        <a:t>Cost sensitivity</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At what cost level does the edge disappear?</a:t>
                      </a:r>
                    </a:p>
                  </a:txBody>
                  <a:tcPr marL="82296" marR="82296" marT="27432" marB="27432" anchor="ctr">
                    <a:solidFill>
                      <a:srgbClr val="171C25"/>
                    </a:solidFill>
                  </a:tcPr>
                </a:tc>
                <a:tc>
                  <a:txBody>
                    <a:bodyPr wrap="square"/>
                    <a:lstStyle/>
                    <a:p>
                      <a:pPr>
                        <a:lnSpc>
                          <a:spcPct val="115000"/>
                        </a:lnSpc>
                        <a:spcAft>
                          <a:spcPts val="0"/>
                        </a:spcAft>
                      </a:pPr>
                      <a:r>
                        <a:rPr sz="950" b="1">
                          <a:solidFill>
                            <a:srgbClr val="CC6152"/>
                          </a:solidFill>
                          <a:latin typeface="Segoe UI"/>
                        </a:rPr>
                        <a:t>Thin</a:t>
                      </a:r>
                      <a:r>
                        <a:rPr sz="950" b="0">
                          <a:solidFill>
                            <a:srgbClr val="A8B0BD"/>
                          </a:solidFill>
                          <a:latin typeface="Segoe UI"/>
                        </a:rPr>
                        <a:t> — edge gone by ~10–20 bps</a:t>
                      </a:r>
                    </a:p>
                  </a:txBody>
                  <a:tcPr marL="82296" marR="82296" marT="27432" marB="27432" anchor="ctr">
                    <a:solidFill>
                      <a:srgbClr val="171C25"/>
                    </a:solidFill>
                  </a:tcPr>
                </a:tc>
              </a:tr>
              <a:tr h="288036">
                <a:tc>
                  <a:txBody>
                    <a:bodyPr wrap="square"/>
                    <a:lstStyle/>
                    <a:p>
                      <a:pPr>
                        <a:lnSpc>
                          <a:spcPct val="115000"/>
                        </a:lnSpc>
                        <a:spcAft>
                          <a:spcPts val="0"/>
                        </a:spcAft>
                      </a:pPr>
                      <a:r>
                        <a:rPr sz="950" b="1">
                          <a:solidFill>
                            <a:srgbClr val="E9E7E2"/>
                          </a:solidFill>
                          <a:latin typeface="Segoe UI"/>
                        </a:rPr>
                        <a:t>Multiple-testing correction</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Are the RSI-zone edges just luck from many tests?</a:t>
                      </a:r>
                    </a:p>
                  </a:txBody>
                  <a:tcPr marL="82296" marR="82296" marT="27432" marB="27432" anchor="ctr">
                    <a:solidFill>
                      <a:srgbClr val="171C25"/>
                    </a:solidFill>
                  </a:tcPr>
                </a:tc>
                <a:tc>
                  <a:txBody>
                    <a:bodyPr wrap="square"/>
                    <a:lstStyle/>
                    <a:p>
                      <a:pPr>
                        <a:lnSpc>
                          <a:spcPct val="115000"/>
                        </a:lnSpc>
                        <a:spcAft>
                          <a:spcPts val="0"/>
                        </a:spcAft>
                      </a:pPr>
                      <a:r>
                        <a:rPr sz="950" b="1">
                          <a:solidFill>
                            <a:srgbClr val="CC6152"/>
                          </a:solidFill>
                          <a:latin typeface="Segoe UI"/>
                        </a:rPr>
                        <a:t>0 of 20</a:t>
                      </a:r>
                      <a:r>
                        <a:rPr sz="950" b="0">
                          <a:solidFill>
                            <a:srgbClr val="A8B0BD"/>
                          </a:solidFill>
                          <a:latin typeface="Segoe UI"/>
                        </a:rPr>
                        <a:t> survived correction</a:t>
                      </a:r>
                    </a:p>
                  </a:txBody>
                  <a:tcPr marL="82296" marR="82296" marT="27432" marB="27432" anchor="ctr">
                    <a:solidFill>
                      <a:srgbClr val="171C25"/>
                    </a:solidFill>
                  </a:tcPr>
                </a:tc>
              </a:tr>
              <a:tr h="288036">
                <a:tc>
                  <a:txBody>
                    <a:bodyPr wrap="square"/>
                    <a:lstStyle/>
                    <a:p>
                      <a:pPr>
                        <a:lnSpc>
                          <a:spcPct val="115000"/>
                        </a:lnSpc>
                        <a:spcAft>
                          <a:spcPts val="0"/>
                        </a:spcAft>
                      </a:pPr>
                      <a:r>
                        <a:rPr sz="950" b="1">
                          <a:solidFill>
                            <a:srgbClr val="E9E7E2"/>
                          </a:solidFill>
                          <a:latin typeface="Segoe UI"/>
                        </a:rPr>
                        <a:t>Walk-forward validation</a:t>
                      </a:r>
                    </a:p>
                  </a:txBody>
                  <a:tcPr marL="82296" marR="82296" marT="27432" marB="27432" anchor="ctr">
                    <a:solidFill>
                      <a:srgbClr val="1A1F29"/>
                    </a:solidFill>
                  </a:tcPr>
                </a:tc>
                <a:tc>
                  <a:txBody>
                    <a:bodyPr wrap="square"/>
                    <a:lstStyle/>
                    <a:p>
                      <a:pPr>
                        <a:lnSpc>
                          <a:spcPct val="115000"/>
                        </a:lnSpc>
                        <a:spcAft>
                          <a:spcPts val="0"/>
                        </a:spcAft>
                      </a:pPr>
                      <a:r>
                        <a:rPr sz="950" b="0">
                          <a:solidFill>
                            <a:srgbClr val="A8B0BD"/>
                          </a:solidFill>
                          <a:latin typeface="Segoe UI"/>
                        </a:rPr>
                        <a:t>Does the edge hold on unseen, later data?</a:t>
                      </a:r>
                    </a:p>
                  </a:txBody>
                  <a:tcPr marL="82296" marR="82296" marT="27432" marB="27432" anchor="ctr">
                    <a:solidFill>
                      <a:srgbClr val="1A1F29"/>
                    </a:solidFill>
                  </a:tcPr>
                </a:tc>
                <a:tc>
                  <a:txBody>
                    <a:bodyPr wrap="square"/>
                    <a:lstStyle/>
                    <a:p>
                      <a:pPr>
                        <a:lnSpc>
                          <a:spcPct val="115000"/>
                        </a:lnSpc>
                        <a:spcAft>
                          <a:spcPts val="0"/>
                        </a:spcAft>
                      </a:pPr>
                      <a:r>
                        <a:rPr sz="950" b="1">
                          <a:solidFill>
                            <a:srgbClr val="CC6152"/>
                          </a:solidFill>
                          <a:latin typeface="Segoe UI"/>
                        </a:rPr>
                        <a:t>Failed</a:t>
                      </a:r>
                      <a:r>
                        <a:rPr sz="950" b="0">
                          <a:solidFill>
                            <a:srgbClr val="A8B0BD"/>
                          </a:solidFill>
                          <a:latin typeface="Segoe UI"/>
                        </a:rPr>
                        <a:t> — the headline finding</a:t>
                      </a:r>
                    </a:p>
                  </a:txBody>
                  <a:tcPr marL="82296" marR="82296" marT="27432" marB="27432" anchor="ctr">
                    <a:solidFill>
                      <a:srgbClr val="1A1F29"/>
                    </a:solidFill>
                  </a:tcPr>
                </a:tc>
              </a:tr>
              <a:tr h="288036">
                <a:tc>
                  <a:txBody>
                    <a:bodyPr wrap="square"/>
                    <a:lstStyle/>
                    <a:p>
                      <a:pPr>
                        <a:lnSpc>
                          <a:spcPct val="115000"/>
                        </a:lnSpc>
                        <a:spcAft>
                          <a:spcPts val="0"/>
                        </a:spcAft>
                      </a:pPr>
                      <a:r>
                        <a:rPr sz="950" b="1">
                          <a:solidFill>
                            <a:srgbClr val="E9E7E2"/>
                          </a:solidFill>
                          <a:latin typeface="Segoe UI"/>
                        </a:rPr>
                        <a:t>Pattern-level diagnosis</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Which specific patterns broke down?</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Isolated to three</a:t>
                      </a:r>
                    </a:p>
                  </a:txBody>
                  <a:tcPr marL="82296" marR="82296" marT="27432" marB="27432" anchor="ctr">
                    <a:solidFill>
                      <a:srgbClr val="171C25"/>
                    </a:solidFill>
                  </a:tcPr>
                </a:tc>
              </a:tr>
              <a:tr h="288036">
                <a:tc>
                  <a:txBody>
                    <a:bodyPr wrap="square"/>
                    <a:lstStyle/>
                    <a:p>
                      <a:pPr>
                        <a:lnSpc>
                          <a:spcPct val="115000"/>
                        </a:lnSpc>
                        <a:spcAft>
                          <a:spcPts val="0"/>
                        </a:spcAft>
                      </a:pPr>
                      <a:r>
                        <a:rPr sz="950" b="1">
                          <a:solidFill>
                            <a:srgbClr val="E9E7E2"/>
                          </a:solidFill>
                          <a:latin typeface="Segoe UI"/>
                        </a:rPr>
                        <a:t>Regime analysis</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Did market conditions differ between periods?</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Materially, yes</a:t>
                      </a:r>
                    </a:p>
                  </a:txBody>
                  <a:tcPr marL="82296" marR="82296" marT="27432" marB="27432" anchor="ctr">
                    <a:solidFill>
                      <a:srgbClr val="171C25"/>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14  ·  OUT-OF-SAMPLE</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The edge did not survive out of sample</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536192"/>
            <a:ext cx="11057839" cy="365760"/>
          </a:xfrm>
          <a:prstGeom prst="rect">
            <a:avLst/>
          </a:prstGeom>
          <a:noFill/>
        </p:spPr>
        <p:txBody>
          <a:bodyPr wrap="square" lIns="0" rIns="0" tIns="0" bIns="0" anchor="t">
            <a:spAutoFit/>
          </a:bodyPr>
          <a:lstStyle/>
          <a:p>
            <a:pPr>
              <a:lnSpc>
                <a:spcPct val="135000"/>
              </a:lnSpc>
              <a:spcBef>
                <a:spcPts val="0"/>
              </a:spcBef>
              <a:spcAft>
                <a:spcPts val="0"/>
              </a:spcAft>
            </a:pPr>
            <a:r>
              <a:rPr sz="1150" b="0">
                <a:solidFill>
                  <a:srgbClr val="A8B0BD"/>
                </a:solidFill>
                <a:latin typeface="Segoe UI"/>
              </a:rPr>
              <a:t>70% of history as the earlier period, the most recent 30% held back. </a:t>
            </a:r>
            <a:r>
              <a:rPr sz="1150" b="1">
                <a:solidFill>
                  <a:srgbClr val="E9E7E2"/>
                </a:solidFill>
                <a:latin typeface="Segoe UI"/>
              </a:rPr>
              <a:t>No refitting between the two. </a:t>
            </a:r>
            <a:r>
              <a:rPr sz="1150" b="0">
                <a:solidFill>
                  <a:srgbClr val="A8B0BD"/>
                </a:solidFill>
                <a:latin typeface="Segoe UI"/>
              </a:rPr>
              <a:t>The identical, unchanged configuration was applied to both halves.</a:t>
            </a:r>
          </a:p>
        </p:txBody>
      </p:sp>
      <p:sp>
        <p:nvSpPr>
          <p:cNvPr id="7" name="TextBox 6"/>
          <p:cNvSpPr txBox="1"/>
          <p:nvPr/>
        </p:nvSpPr>
        <p:spPr>
          <a:xfrm>
            <a:off x="2075688" y="2066544"/>
            <a:ext cx="8726119" cy="182880"/>
          </a:xfrm>
          <a:prstGeom prst="rect">
            <a:avLst/>
          </a:prstGeom>
          <a:noFill/>
        </p:spPr>
        <p:txBody>
          <a:bodyPr wrap="square" lIns="0" rIns="0" tIns="0" bIns="0" anchor="t">
            <a:spAutoFit/>
          </a:bodyPr>
          <a:lstStyle/>
          <a:p>
            <a:pPr>
              <a:lnSpc>
                <a:spcPct val="135000"/>
              </a:lnSpc>
              <a:spcBef>
                <a:spcPts val="0"/>
              </a:spcBef>
              <a:spcAft>
                <a:spcPts val="0"/>
              </a:spcAft>
            </a:pPr>
            <a:r>
              <a:rPr sz="850" b="0">
                <a:solidFill>
                  <a:srgbClr val="7FA8BC"/>
                </a:solidFill>
                <a:latin typeface="Consolas"/>
              </a:rPr>
              <a:t>▬ Earlier 70% (tune)      </a:t>
            </a:r>
            <a:r>
              <a:rPr sz="850" b="0">
                <a:solidFill>
                  <a:srgbClr val="CC6152"/>
                </a:solidFill>
                <a:latin typeface="Consolas"/>
              </a:rPr>
              <a:t>▬ Recent 30% (validation)</a:t>
            </a:r>
          </a:p>
        </p:txBody>
      </p:sp>
      <p:sp>
        <p:nvSpPr>
          <p:cNvPr id="8" name="Rectangle 7"/>
          <p:cNvSpPr/>
          <p:nvPr/>
        </p:nvSpPr>
        <p:spPr>
          <a:xfrm>
            <a:off x="6042105" y="2313432"/>
            <a:ext cx="9525" cy="2688336"/>
          </a:xfrm>
          <a:prstGeom prst="rect">
            <a:avLst/>
          </a:prstGeom>
          <a:solidFill>
            <a:srgbClr val="72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767785" y="2130552"/>
            <a:ext cx="548640" cy="164592"/>
          </a:xfrm>
          <a:prstGeom prst="rect">
            <a:avLst/>
          </a:prstGeom>
          <a:noFill/>
        </p:spPr>
        <p:txBody>
          <a:bodyPr wrap="square" lIns="0" rIns="0" tIns="0" bIns="0" anchor="t">
            <a:spAutoFit/>
          </a:bodyPr>
          <a:lstStyle/>
          <a:p>
            <a:pPr algn="ctr">
              <a:lnSpc>
                <a:spcPct val="135000"/>
              </a:lnSpc>
              <a:spcBef>
                <a:spcPts val="0"/>
              </a:spcBef>
              <a:spcAft>
                <a:spcPts val="0"/>
              </a:spcAft>
            </a:pPr>
            <a:r>
              <a:rPr sz="750" b="0" i="0">
                <a:solidFill>
                  <a:srgbClr val="727C8C"/>
                </a:solidFill>
                <a:latin typeface="Consolas"/>
              </a:rPr>
              <a:t>PF 1.0</a:t>
            </a:r>
          </a:p>
        </p:txBody>
      </p:sp>
      <p:sp>
        <p:nvSpPr>
          <p:cNvPr id="10" name="TextBox 9"/>
          <p:cNvSpPr txBox="1"/>
          <p:nvPr/>
        </p:nvSpPr>
        <p:spPr>
          <a:xfrm>
            <a:off x="566928" y="2386584"/>
            <a:ext cx="1417320" cy="274320"/>
          </a:xfrm>
          <a:prstGeom prst="rect">
            <a:avLst/>
          </a:prstGeom>
          <a:noFill/>
        </p:spPr>
        <p:txBody>
          <a:bodyPr wrap="square" lIns="0" rIns="0" tIns="0" bIns="0" anchor="ctr">
            <a:spAutoFit/>
          </a:bodyPr>
          <a:lstStyle/>
          <a:p>
            <a:pPr algn="r">
              <a:lnSpc>
                <a:spcPct val="135000"/>
              </a:lnSpc>
              <a:spcBef>
                <a:spcPts val="0"/>
              </a:spcBef>
              <a:spcAft>
                <a:spcPts val="0"/>
              </a:spcAft>
            </a:pPr>
            <a:r>
              <a:rPr sz="900" b="0" i="0">
                <a:solidFill>
                  <a:srgbClr val="A8B0BD"/>
                </a:solidFill>
                <a:latin typeface="Consolas"/>
              </a:rPr>
              <a:t>baseline</a:t>
            </a:r>
          </a:p>
        </p:txBody>
      </p:sp>
      <p:sp>
        <p:nvSpPr>
          <p:cNvPr id="11" name="Rectangle 10"/>
          <p:cNvSpPr/>
          <p:nvPr/>
        </p:nvSpPr>
        <p:spPr>
          <a:xfrm>
            <a:off x="2075688" y="2340864"/>
            <a:ext cx="8726119" cy="329184"/>
          </a:xfrm>
          <a:prstGeom prst="rect">
            <a:avLst/>
          </a:prstGeom>
          <a:solidFill>
            <a:srgbClr val="12161D"/>
          </a:solidFill>
          <a:ln w="6350">
            <a:solidFill>
              <a:srgbClr val="22293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2075688" y="2386584"/>
            <a:ext cx="5552984" cy="91440"/>
          </a:xfrm>
          <a:prstGeom prst="rect">
            <a:avLst/>
          </a:prstGeom>
          <a:solidFill>
            <a:srgbClr val="7FA8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683536" y="2354580"/>
            <a:ext cx="548640" cy="164592"/>
          </a:xfrm>
          <a:prstGeom prst="rect">
            <a:avLst/>
          </a:prstGeom>
          <a:noFill/>
        </p:spPr>
        <p:txBody>
          <a:bodyPr wrap="square" lIns="0" rIns="0" tIns="0" bIns="0" anchor="t">
            <a:spAutoFit/>
          </a:bodyPr>
          <a:lstStyle/>
          <a:p>
            <a:pPr>
              <a:lnSpc>
                <a:spcPct val="135000"/>
              </a:lnSpc>
              <a:spcBef>
                <a:spcPts val="0"/>
              </a:spcBef>
              <a:spcAft>
                <a:spcPts val="0"/>
              </a:spcAft>
            </a:pPr>
            <a:r>
              <a:rPr sz="800" b="0" i="0">
                <a:solidFill>
                  <a:srgbClr val="7FA8BC"/>
                </a:solidFill>
                <a:latin typeface="Consolas"/>
              </a:rPr>
              <a:t>1.400</a:t>
            </a:r>
          </a:p>
        </p:txBody>
      </p:sp>
      <p:sp>
        <p:nvSpPr>
          <p:cNvPr id="14" name="Rectangle 13"/>
          <p:cNvSpPr/>
          <p:nvPr/>
        </p:nvSpPr>
        <p:spPr>
          <a:xfrm>
            <a:off x="2075688" y="2523744"/>
            <a:ext cx="2954981" cy="91440"/>
          </a:xfrm>
          <a:prstGeom prst="rect">
            <a:avLst/>
          </a:prstGeom>
          <a:solidFill>
            <a:srgbClr val="CC61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085533" y="2491740"/>
            <a:ext cx="548640" cy="164592"/>
          </a:xfrm>
          <a:prstGeom prst="rect">
            <a:avLst/>
          </a:prstGeom>
          <a:noFill/>
        </p:spPr>
        <p:txBody>
          <a:bodyPr wrap="square" lIns="0" rIns="0" tIns="0" bIns="0" anchor="t">
            <a:spAutoFit/>
          </a:bodyPr>
          <a:lstStyle/>
          <a:p>
            <a:pPr>
              <a:lnSpc>
                <a:spcPct val="135000"/>
              </a:lnSpc>
              <a:spcBef>
                <a:spcPts val="0"/>
              </a:spcBef>
              <a:spcAft>
                <a:spcPts val="0"/>
              </a:spcAft>
            </a:pPr>
            <a:r>
              <a:rPr sz="800" b="0" i="0">
                <a:solidFill>
                  <a:srgbClr val="CC6152"/>
                </a:solidFill>
                <a:latin typeface="Consolas"/>
              </a:rPr>
              <a:t>0.745</a:t>
            </a:r>
          </a:p>
        </p:txBody>
      </p:sp>
      <p:sp>
        <p:nvSpPr>
          <p:cNvPr id="16" name="TextBox 15"/>
          <p:cNvSpPr txBox="1"/>
          <p:nvPr/>
        </p:nvSpPr>
        <p:spPr>
          <a:xfrm>
            <a:off x="566928" y="2788920"/>
            <a:ext cx="1417320" cy="274320"/>
          </a:xfrm>
          <a:prstGeom prst="rect">
            <a:avLst/>
          </a:prstGeom>
          <a:noFill/>
        </p:spPr>
        <p:txBody>
          <a:bodyPr wrap="square" lIns="0" rIns="0" tIns="0" bIns="0" anchor="ctr">
            <a:spAutoFit/>
          </a:bodyPr>
          <a:lstStyle/>
          <a:p>
            <a:pPr algn="r">
              <a:lnSpc>
                <a:spcPct val="135000"/>
              </a:lnSpc>
              <a:spcBef>
                <a:spcPts val="0"/>
              </a:spcBef>
              <a:spcAft>
                <a:spcPts val="0"/>
              </a:spcAft>
            </a:pPr>
            <a:r>
              <a:rPr sz="900" b="0" i="0">
                <a:solidFill>
                  <a:srgbClr val="A8B0BD"/>
                </a:solidFill>
                <a:latin typeface="Consolas"/>
              </a:rPr>
              <a:t>trend_wider_sl</a:t>
            </a:r>
          </a:p>
        </p:txBody>
      </p:sp>
      <p:sp>
        <p:nvSpPr>
          <p:cNvPr id="17" name="Rectangle 16"/>
          <p:cNvSpPr/>
          <p:nvPr/>
        </p:nvSpPr>
        <p:spPr>
          <a:xfrm>
            <a:off x="2075688" y="2743200"/>
            <a:ext cx="8726119" cy="329184"/>
          </a:xfrm>
          <a:prstGeom prst="rect">
            <a:avLst/>
          </a:prstGeom>
          <a:solidFill>
            <a:srgbClr val="12161D"/>
          </a:solidFill>
          <a:ln w="6350">
            <a:solidFill>
              <a:srgbClr val="22293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2075688" y="2788920"/>
            <a:ext cx="5568850" cy="91440"/>
          </a:xfrm>
          <a:prstGeom prst="rect">
            <a:avLst/>
          </a:prstGeom>
          <a:solidFill>
            <a:srgbClr val="7FA8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699402" y="2756916"/>
            <a:ext cx="548640" cy="164592"/>
          </a:xfrm>
          <a:prstGeom prst="rect">
            <a:avLst/>
          </a:prstGeom>
          <a:noFill/>
        </p:spPr>
        <p:txBody>
          <a:bodyPr wrap="square" lIns="0" rIns="0" tIns="0" bIns="0" anchor="t">
            <a:spAutoFit/>
          </a:bodyPr>
          <a:lstStyle/>
          <a:p>
            <a:pPr>
              <a:lnSpc>
                <a:spcPct val="135000"/>
              </a:lnSpc>
              <a:spcBef>
                <a:spcPts val="0"/>
              </a:spcBef>
              <a:spcAft>
                <a:spcPts val="0"/>
              </a:spcAft>
            </a:pPr>
            <a:r>
              <a:rPr sz="800" b="0" i="0">
                <a:solidFill>
                  <a:srgbClr val="7FA8BC"/>
                </a:solidFill>
                <a:latin typeface="Consolas"/>
              </a:rPr>
              <a:t>1.404</a:t>
            </a:r>
          </a:p>
        </p:txBody>
      </p:sp>
      <p:sp>
        <p:nvSpPr>
          <p:cNvPr id="20" name="Rectangle 19"/>
          <p:cNvSpPr/>
          <p:nvPr/>
        </p:nvSpPr>
        <p:spPr>
          <a:xfrm>
            <a:off x="2075688" y="2926080"/>
            <a:ext cx="3058108" cy="91440"/>
          </a:xfrm>
          <a:prstGeom prst="rect">
            <a:avLst/>
          </a:prstGeom>
          <a:solidFill>
            <a:srgbClr val="CC61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188660" y="2894076"/>
            <a:ext cx="548640" cy="164592"/>
          </a:xfrm>
          <a:prstGeom prst="rect">
            <a:avLst/>
          </a:prstGeom>
          <a:noFill/>
        </p:spPr>
        <p:txBody>
          <a:bodyPr wrap="square" lIns="0" rIns="0" tIns="0" bIns="0" anchor="t">
            <a:spAutoFit/>
          </a:bodyPr>
          <a:lstStyle/>
          <a:p>
            <a:pPr>
              <a:lnSpc>
                <a:spcPct val="135000"/>
              </a:lnSpc>
              <a:spcBef>
                <a:spcPts val="0"/>
              </a:spcBef>
              <a:spcAft>
                <a:spcPts val="0"/>
              </a:spcAft>
            </a:pPr>
            <a:r>
              <a:rPr sz="800" b="0" i="0">
                <a:solidFill>
                  <a:srgbClr val="CC6152"/>
                </a:solidFill>
                <a:latin typeface="Consolas"/>
              </a:rPr>
              <a:t>0.771</a:t>
            </a:r>
          </a:p>
        </p:txBody>
      </p:sp>
      <p:sp>
        <p:nvSpPr>
          <p:cNvPr id="22" name="TextBox 21"/>
          <p:cNvSpPr txBox="1"/>
          <p:nvPr/>
        </p:nvSpPr>
        <p:spPr>
          <a:xfrm>
            <a:off x="566928" y="3191256"/>
            <a:ext cx="1417320" cy="274320"/>
          </a:xfrm>
          <a:prstGeom prst="rect">
            <a:avLst/>
          </a:prstGeom>
          <a:noFill/>
        </p:spPr>
        <p:txBody>
          <a:bodyPr wrap="square" lIns="0" rIns="0" tIns="0" bIns="0" anchor="ctr">
            <a:spAutoFit/>
          </a:bodyPr>
          <a:lstStyle/>
          <a:p>
            <a:pPr algn="r">
              <a:lnSpc>
                <a:spcPct val="135000"/>
              </a:lnSpc>
              <a:spcBef>
                <a:spcPts val="0"/>
              </a:spcBef>
              <a:spcAft>
                <a:spcPts val="0"/>
              </a:spcAft>
            </a:pPr>
            <a:r>
              <a:rPr sz="900" b="0" i="0">
                <a:solidFill>
                  <a:srgbClr val="A8B0BD"/>
                </a:solidFill>
                <a:latin typeface="Consolas"/>
              </a:rPr>
              <a:t>mr_tighter_tp</a:t>
            </a:r>
          </a:p>
        </p:txBody>
      </p:sp>
      <p:sp>
        <p:nvSpPr>
          <p:cNvPr id="23" name="Rectangle 22"/>
          <p:cNvSpPr/>
          <p:nvPr/>
        </p:nvSpPr>
        <p:spPr>
          <a:xfrm>
            <a:off x="2075688" y="3145536"/>
            <a:ext cx="8726119" cy="329184"/>
          </a:xfrm>
          <a:prstGeom prst="rect">
            <a:avLst/>
          </a:prstGeom>
          <a:solidFill>
            <a:srgbClr val="12161D"/>
          </a:solidFill>
          <a:ln w="6350">
            <a:solidFill>
              <a:srgbClr val="22293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075688" y="3191256"/>
            <a:ext cx="5556951" cy="91440"/>
          </a:xfrm>
          <a:prstGeom prst="rect">
            <a:avLst/>
          </a:prstGeom>
          <a:solidFill>
            <a:srgbClr val="7FA8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687503" y="3159252"/>
            <a:ext cx="548640" cy="164592"/>
          </a:xfrm>
          <a:prstGeom prst="rect">
            <a:avLst/>
          </a:prstGeom>
          <a:noFill/>
        </p:spPr>
        <p:txBody>
          <a:bodyPr wrap="square" lIns="0" rIns="0" tIns="0" bIns="0" anchor="t">
            <a:spAutoFit/>
          </a:bodyPr>
          <a:lstStyle/>
          <a:p>
            <a:pPr>
              <a:lnSpc>
                <a:spcPct val="135000"/>
              </a:lnSpc>
              <a:spcBef>
                <a:spcPts val="0"/>
              </a:spcBef>
              <a:spcAft>
                <a:spcPts val="0"/>
              </a:spcAft>
            </a:pPr>
            <a:r>
              <a:rPr sz="800" b="0" i="0">
                <a:solidFill>
                  <a:srgbClr val="7FA8BC"/>
                </a:solidFill>
                <a:latin typeface="Consolas"/>
              </a:rPr>
              <a:t>1.401</a:t>
            </a:r>
          </a:p>
        </p:txBody>
      </p:sp>
      <p:sp>
        <p:nvSpPr>
          <p:cNvPr id="26" name="Rectangle 25"/>
          <p:cNvSpPr/>
          <p:nvPr/>
        </p:nvSpPr>
        <p:spPr>
          <a:xfrm>
            <a:off x="2075688" y="3328416"/>
            <a:ext cx="2843921" cy="91440"/>
          </a:xfrm>
          <a:prstGeom prst="rect">
            <a:avLst/>
          </a:prstGeom>
          <a:solidFill>
            <a:srgbClr val="CC61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974473" y="3296412"/>
            <a:ext cx="548640" cy="164592"/>
          </a:xfrm>
          <a:prstGeom prst="rect">
            <a:avLst/>
          </a:prstGeom>
          <a:noFill/>
        </p:spPr>
        <p:txBody>
          <a:bodyPr wrap="square" lIns="0" rIns="0" tIns="0" bIns="0" anchor="t">
            <a:spAutoFit/>
          </a:bodyPr>
          <a:lstStyle/>
          <a:p>
            <a:pPr>
              <a:lnSpc>
                <a:spcPct val="135000"/>
              </a:lnSpc>
              <a:spcBef>
                <a:spcPts val="0"/>
              </a:spcBef>
              <a:spcAft>
                <a:spcPts val="0"/>
              </a:spcAft>
            </a:pPr>
            <a:r>
              <a:rPr sz="800" b="0" i="0">
                <a:solidFill>
                  <a:srgbClr val="CC6152"/>
                </a:solidFill>
                <a:latin typeface="Consolas"/>
              </a:rPr>
              <a:t>0.717</a:t>
            </a:r>
          </a:p>
        </p:txBody>
      </p:sp>
      <p:sp>
        <p:nvSpPr>
          <p:cNvPr id="28" name="TextBox 27"/>
          <p:cNvSpPr txBox="1"/>
          <p:nvPr/>
        </p:nvSpPr>
        <p:spPr>
          <a:xfrm>
            <a:off x="566928" y="3593592"/>
            <a:ext cx="1417320" cy="274320"/>
          </a:xfrm>
          <a:prstGeom prst="rect">
            <a:avLst/>
          </a:prstGeom>
          <a:noFill/>
        </p:spPr>
        <p:txBody>
          <a:bodyPr wrap="square" lIns="0" rIns="0" tIns="0" bIns="0" anchor="ctr">
            <a:spAutoFit/>
          </a:bodyPr>
          <a:lstStyle/>
          <a:p>
            <a:pPr algn="r">
              <a:lnSpc>
                <a:spcPct val="135000"/>
              </a:lnSpc>
              <a:spcBef>
                <a:spcPts val="0"/>
              </a:spcBef>
              <a:spcAft>
                <a:spcPts val="0"/>
              </a:spcAft>
            </a:pPr>
            <a:r>
              <a:rPr sz="900" b="0" i="0">
                <a:solidFill>
                  <a:srgbClr val="A8B0BD"/>
                </a:solidFill>
                <a:latin typeface="Consolas"/>
              </a:rPr>
              <a:t>time_stop_10</a:t>
            </a:r>
          </a:p>
        </p:txBody>
      </p:sp>
      <p:sp>
        <p:nvSpPr>
          <p:cNvPr id="29" name="Rectangle 28"/>
          <p:cNvSpPr/>
          <p:nvPr/>
        </p:nvSpPr>
        <p:spPr>
          <a:xfrm>
            <a:off x="2075688" y="3547872"/>
            <a:ext cx="8726119" cy="329184"/>
          </a:xfrm>
          <a:prstGeom prst="rect">
            <a:avLst/>
          </a:prstGeom>
          <a:solidFill>
            <a:srgbClr val="12161D"/>
          </a:solidFill>
          <a:ln w="6350">
            <a:solidFill>
              <a:srgbClr val="22293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2075688" y="3593592"/>
            <a:ext cx="5552984" cy="91440"/>
          </a:xfrm>
          <a:prstGeom prst="rect">
            <a:avLst/>
          </a:prstGeom>
          <a:solidFill>
            <a:srgbClr val="7FA8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683536" y="3561588"/>
            <a:ext cx="548640" cy="164592"/>
          </a:xfrm>
          <a:prstGeom prst="rect">
            <a:avLst/>
          </a:prstGeom>
          <a:noFill/>
        </p:spPr>
        <p:txBody>
          <a:bodyPr wrap="square" lIns="0" rIns="0" tIns="0" bIns="0" anchor="t">
            <a:spAutoFit/>
          </a:bodyPr>
          <a:lstStyle/>
          <a:p>
            <a:pPr>
              <a:lnSpc>
                <a:spcPct val="135000"/>
              </a:lnSpc>
              <a:spcBef>
                <a:spcPts val="0"/>
              </a:spcBef>
              <a:spcAft>
                <a:spcPts val="0"/>
              </a:spcAft>
            </a:pPr>
            <a:r>
              <a:rPr sz="800" b="0" i="0">
                <a:solidFill>
                  <a:srgbClr val="7FA8BC"/>
                </a:solidFill>
                <a:latin typeface="Consolas"/>
              </a:rPr>
              <a:t>1.400</a:t>
            </a:r>
          </a:p>
        </p:txBody>
      </p:sp>
      <p:sp>
        <p:nvSpPr>
          <p:cNvPr id="32" name="Rectangle 31"/>
          <p:cNvSpPr/>
          <p:nvPr/>
        </p:nvSpPr>
        <p:spPr>
          <a:xfrm>
            <a:off x="2075688" y="3730752"/>
            <a:ext cx="2954981" cy="91440"/>
          </a:xfrm>
          <a:prstGeom prst="rect">
            <a:avLst/>
          </a:prstGeom>
          <a:solidFill>
            <a:srgbClr val="CC61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085533" y="3698748"/>
            <a:ext cx="548640" cy="164592"/>
          </a:xfrm>
          <a:prstGeom prst="rect">
            <a:avLst/>
          </a:prstGeom>
          <a:noFill/>
        </p:spPr>
        <p:txBody>
          <a:bodyPr wrap="square" lIns="0" rIns="0" tIns="0" bIns="0" anchor="t">
            <a:spAutoFit/>
          </a:bodyPr>
          <a:lstStyle/>
          <a:p>
            <a:pPr>
              <a:lnSpc>
                <a:spcPct val="135000"/>
              </a:lnSpc>
              <a:spcBef>
                <a:spcPts val="0"/>
              </a:spcBef>
              <a:spcAft>
                <a:spcPts val="0"/>
              </a:spcAft>
            </a:pPr>
            <a:r>
              <a:rPr sz="800" b="0" i="0">
                <a:solidFill>
                  <a:srgbClr val="CC6152"/>
                </a:solidFill>
                <a:latin typeface="Consolas"/>
              </a:rPr>
              <a:t>0.745</a:t>
            </a:r>
          </a:p>
        </p:txBody>
      </p:sp>
      <p:sp>
        <p:nvSpPr>
          <p:cNvPr id="34" name="TextBox 33"/>
          <p:cNvSpPr txBox="1"/>
          <p:nvPr/>
        </p:nvSpPr>
        <p:spPr>
          <a:xfrm>
            <a:off x="566928" y="3995928"/>
            <a:ext cx="1417320" cy="274320"/>
          </a:xfrm>
          <a:prstGeom prst="rect">
            <a:avLst/>
          </a:prstGeom>
          <a:noFill/>
        </p:spPr>
        <p:txBody>
          <a:bodyPr wrap="square" lIns="0" rIns="0" tIns="0" bIns="0" anchor="ctr">
            <a:spAutoFit/>
          </a:bodyPr>
          <a:lstStyle/>
          <a:p>
            <a:pPr algn="r">
              <a:lnSpc>
                <a:spcPct val="135000"/>
              </a:lnSpc>
              <a:spcBef>
                <a:spcPts val="0"/>
              </a:spcBef>
              <a:spcAft>
                <a:spcPts val="0"/>
              </a:spcAft>
            </a:pPr>
            <a:r>
              <a:rPr sz="900" b="0" i="0">
                <a:solidFill>
                  <a:srgbClr val="A8B0BD"/>
                </a:solidFill>
                <a:latin typeface="Consolas"/>
              </a:rPr>
              <a:t>min_atr_p20</a:t>
            </a:r>
          </a:p>
        </p:txBody>
      </p:sp>
      <p:sp>
        <p:nvSpPr>
          <p:cNvPr id="35" name="Rectangle 34"/>
          <p:cNvSpPr/>
          <p:nvPr/>
        </p:nvSpPr>
        <p:spPr>
          <a:xfrm>
            <a:off x="2075688" y="3950208"/>
            <a:ext cx="8726119" cy="329184"/>
          </a:xfrm>
          <a:prstGeom prst="rect">
            <a:avLst/>
          </a:prstGeom>
          <a:solidFill>
            <a:srgbClr val="12161D"/>
          </a:solidFill>
          <a:ln w="6350">
            <a:solidFill>
              <a:srgbClr val="22293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2075688" y="3995928"/>
            <a:ext cx="5513320" cy="91440"/>
          </a:xfrm>
          <a:prstGeom prst="rect">
            <a:avLst/>
          </a:prstGeom>
          <a:solidFill>
            <a:srgbClr val="7FA8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643872" y="3963924"/>
            <a:ext cx="548640" cy="164592"/>
          </a:xfrm>
          <a:prstGeom prst="rect">
            <a:avLst/>
          </a:prstGeom>
          <a:noFill/>
        </p:spPr>
        <p:txBody>
          <a:bodyPr wrap="square" lIns="0" rIns="0" tIns="0" bIns="0" anchor="t">
            <a:spAutoFit/>
          </a:bodyPr>
          <a:lstStyle/>
          <a:p>
            <a:pPr>
              <a:lnSpc>
                <a:spcPct val="135000"/>
              </a:lnSpc>
              <a:spcBef>
                <a:spcPts val="0"/>
              </a:spcBef>
              <a:spcAft>
                <a:spcPts val="0"/>
              </a:spcAft>
            </a:pPr>
            <a:r>
              <a:rPr sz="800" b="0" i="0">
                <a:solidFill>
                  <a:srgbClr val="7FA8BC"/>
                </a:solidFill>
                <a:latin typeface="Consolas"/>
              </a:rPr>
              <a:t>1.390</a:t>
            </a:r>
          </a:p>
        </p:txBody>
      </p:sp>
      <p:sp>
        <p:nvSpPr>
          <p:cNvPr id="38" name="Rectangle 37"/>
          <p:cNvSpPr/>
          <p:nvPr/>
        </p:nvSpPr>
        <p:spPr>
          <a:xfrm>
            <a:off x="2075688" y="4133088"/>
            <a:ext cx="2919283" cy="91440"/>
          </a:xfrm>
          <a:prstGeom prst="rect">
            <a:avLst/>
          </a:prstGeom>
          <a:solidFill>
            <a:srgbClr val="CC61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5049835" y="4101084"/>
            <a:ext cx="548640" cy="164592"/>
          </a:xfrm>
          <a:prstGeom prst="rect">
            <a:avLst/>
          </a:prstGeom>
          <a:noFill/>
        </p:spPr>
        <p:txBody>
          <a:bodyPr wrap="square" lIns="0" rIns="0" tIns="0" bIns="0" anchor="t">
            <a:spAutoFit/>
          </a:bodyPr>
          <a:lstStyle/>
          <a:p>
            <a:pPr>
              <a:lnSpc>
                <a:spcPct val="135000"/>
              </a:lnSpc>
              <a:spcBef>
                <a:spcPts val="0"/>
              </a:spcBef>
              <a:spcAft>
                <a:spcPts val="0"/>
              </a:spcAft>
            </a:pPr>
            <a:r>
              <a:rPr sz="800" b="0" i="0">
                <a:solidFill>
                  <a:srgbClr val="CC6152"/>
                </a:solidFill>
                <a:latin typeface="Consolas"/>
              </a:rPr>
              <a:t>0.736</a:t>
            </a:r>
          </a:p>
        </p:txBody>
      </p:sp>
      <p:sp>
        <p:nvSpPr>
          <p:cNvPr id="40" name="TextBox 39"/>
          <p:cNvSpPr txBox="1"/>
          <p:nvPr/>
        </p:nvSpPr>
        <p:spPr>
          <a:xfrm>
            <a:off x="566928" y="4398264"/>
            <a:ext cx="1417320" cy="274320"/>
          </a:xfrm>
          <a:prstGeom prst="rect">
            <a:avLst/>
          </a:prstGeom>
          <a:noFill/>
        </p:spPr>
        <p:txBody>
          <a:bodyPr wrap="square" lIns="0" rIns="0" tIns="0" bIns="0" anchor="ctr">
            <a:spAutoFit/>
          </a:bodyPr>
          <a:lstStyle/>
          <a:p>
            <a:pPr algn="r">
              <a:lnSpc>
                <a:spcPct val="135000"/>
              </a:lnSpc>
              <a:spcBef>
                <a:spcPts val="0"/>
              </a:spcBef>
              <a:spcAft>
                <a:spcPts val="0"/>
              </a:spcAft>
            </a:pPr>
            <a:r>
              <a:rPr sz="900" b="0" i="0">
                <a:solidFill>
                  <a:srgbClr val="A8B0BD"/>
                </a:solidFill>
                <a:latin typeface="Consolas"/>
              </a:rPr>
              <a:t>cooldown_plus2</a:t>
            </a:r>
          </a:p>
        </p:txBody>
      </p:sp>
      <p:sp>
        <p:nvSpPr>
          <p:cNvPr id="41" name="Rectangle 40"/>
          <p:cNvSpPr/>
          <p:nvPr/>
        </p:nvSpPr>
        <p:spPr>
          <a:xfrm>
            <a:off x="2075688" y="4352544"/>
            <a:ext cx="8726119" cy="329184"/>
          </a:xfrm>
          <a:prstGeom prst="rect">
            <a:avLst/>
          </a:prstGeom>
          <a:solidFill>
            <a:srgbClr val="12161D"/>
          </a:solidFill>
          <a:ln w="6350">
            <a:solidFill>
              <a:srgbClr val="22293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2075688" y="4398264"/>
            <a:ext cx="5410193" cy="91440"/>
          </a:xfrm>
          <a:prstGeom prst="rect">
            <a:avLst/>
          </a:prstGeom>
          <a:solidFill>
            <a:srgbClr val="7FA8B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540745" y="4366260"/>
            <a:ext cx="548640" cy="164592"/>
          </a:xfrm>
          <a:prstGeom prst="rect">
            <a:avLst/>
          </a:prstGeom>
          <a:noFill/>
        </p:spPr>
        <p:txBody>
          <a:bodyPr wrap="square" lIns="0" rIns="0" tIns="0" bIns="0" anchor="t">
            <a:spAutoFit/>
          </a:bodyPr>
          <a:lstStyle/>
          <a:p>
            <a:pPr>
              <a:lnSpc>
                <a:spcPct val="135000"/>
              </a:lnSpc>
              <a:spcBef>
                <a:spcPts val="0"/>
              </a:spcBef>
              <a:spcAft>
                <a:spcPts val="0"/>
              </a:spcAft>
            </a:pPr>
            <a:r>
              <a:rPr sz="800" b="0" i="0">
                <a:solidFill>
                  <a:srgbClr val="7FA8BC"/>
                </a:solidFill>
                <a:latin typeface="Consolas"/>
              </a:rPr>
              <a:t>1.364</a:t>
            </a:r>
          </a:p>
        </p:txBody>
      </p:sp>
      <p:sp>
        <p:nvSpPr>
          <p:cNvPr id="44" name="Rectangle 43"/>
          <p:cNvSpPr/>
          <p:nvPr/>
        </p:nvSpPr>
        <p:spPr>
          <a:xfrm>
            <a:off x="2075688" y="4535424"/>
            <a:ext cx="2859787" cy="91440"/>
          </a:xfrm>
          <a:prstGeom prst="rect">
            <a:avLst/>
          </a:prstGeom>
          <a:solidFill>
            <a:srgbClr val="CC61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4990339" y="4503420"/>
            <a:ext cx="548640" cy="164592"/>
          </a:xfrm>
          <a:prstGeom prst="rect">
            <a:avLst/>
          </a:prstGeom>
          <a:noFill/>
        </p:spPr>
        <p:txBody>
          <a:bodyPr wrap="square" lIns="0" rIns="0" tIns="0" bIns="0" anchor="t">
            <a:spAutoFit/>
          </a:bodyPr>
          <a:lstStyle/>
          <a:p>
            <a:pPr>
              <a:lnSpc>
                <a:spcPct val="135000"/>
              </a:lnSpc>
              <a:spcBef>
                <a:spcPts val="0"/>
              </a:spcBef>
              <a:spcAft>
                <a:spcPts val="0"/>
              </a:spcAft>
            </a:pPr>
            <a:r>
              <a:rPr sz="800" b="0" i="0">
                <a:solidFill>
                  <a:srgbClr val="CC6152"/>
                </a:solidFill>
                <a:latin typeface="Consolas"/>
              </a:rPr>
              <a:t>0.721</a:t>
            </a:r>
          </a:p>
        </p:txBody>
      </p:sp>
      <p:sp>
        <p:nvSpPr>
          <p:cNvPr id="46" name="Rectangle 45"/>
          <p:cNvSpPr/>
          <p:nvPr/>
        </p:nvSpPr>
        <p:spPr>
          <a:xfrm>
            <a:off x="566928" y="4864608"/>
            <a:ext cx="4644292" cy="86868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768096" y="5029200"/>
            <a:ext cx="4241956"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EXPECTANCY FLIPPED SIGN IN ALL SIX</a:t>
            </a:r>
          </a:p>
        </p:txBody>
      </p:sp>
      <p:sp>
        <p:nvSpPr>
          <p:cNvPr id="48" name="TextBox 47"/>
          <p:cNvSpPr txBox="1"/>
          <p:nvPr/>
        </p:nvSpPr>
        <p:spPr>
          <a:xfrm>
            <a:off x="768096" y="5321808"/>
            <a:ext cx="4241956" cy="283464"/>
          </a:xfrm>
          <a:prstGeom prst="rect">
            <a:avLst/>
          </a:prstGeom>
          <a:noFill/>
        </p:spPr>
        <p:txBody>
          <a:bodyPr wrap="square" lIns="0" rIns="0" tIns="0" bIns="0" anchor="t">
            <a:spAutoFit/>
          </a:bodyPr>
          <a:lstStyle/>
          <a:p/>
        </p:txBody>
      </p:sp>
      <p:sp>
        <p:nvSpPr>
          <p:cNvPr id="49" name="TextBox 48"/>
          <p:cNvSpPr txBox="1"/>
          <p:nvPr/>
        </p:nvSpPr>
        <p:spPr>
          <a:xfrm>
            <a:off x="768096" y="5303520"/>
            <a:ext cx="4241956" cy="365760"/>
          </a:xfrm>
          <a:prstGeom prst="rect">
            <a:avLst/>
          </a:prstGeom>
          <a:noFill/>
        </p:spPr>
        <p:txBody>
          <a:bodyPr wrap="square" lIns="0" rIns="0" tIns="0" bIns="0" anchor="t">
            <a:spAutoFit/>
          </a:bodyPr>
          <a:lstStyle/>
          <a:p>
            <a:pPr>
              <a:lnSpc>
                <a:spcPct val="135000"/>
              </a:lnSpc>
              <a:spcBef>
                <a:spcPts val="0"/>
              </a:spcBef>
              <a:spcAft>
                <a:spcPts val="0"/>
              </a:spcAft>
            </a:pPr>
            <a:r>
              <a:rPr sz="1000" b="0">
                <a:solidFill>
                  <a:srgbClr val="A8B0BD"/>
                </a:solidFill>
                <a:latin typeface="Segoe UI"/>
              </a:rPr>
              <a:t>Baseline: </a:t>
            </a:r>
            <a:r>
              <a:rPr sz="1000" b="1">
                <a:solidFill>
                  <a:srgbClr val="4E9E78"/>
                </a:solidFill>
                <a:latin typeface="Segoe UI"/>
              </a:rPr>
              <a:t>+₹814</a:t>
            </a:r>
            <a:r>
              <a:rPr sz="1000" b="0">
                <a:solidFill>
                  <a:srgbClr val="A8B0BD"/>
                </a:solidFill>
                <a:latin typeface="Segoe UI"/>
              </a:rPr>
              <a:t> per trade earlier → </a:t>
            </a:r>
            <a:r>
              <a:rPr sz="1000" b="1">
                <a:solidFill>
                  <a:srgbClr val="CC6152"/>
                </a:solidFill>
                <a:latin typeface="Segoe UI"/>
              </a:rPr>
              <a:t>−₹661</a:t>
            </a:r>
            <a:r>
              <a:rPr sz="1000" b="0">
                <a:solidFill>
                  <a:srgbClr val="A8B0BD"/>
                </a:solidFill>
                <a:latin typeface="Segoe UI"/>
              </a:rPr>
              <a:t> per trade recently. Every preset did the same.</a:t>
            </a:r>
          </a:p>
        </p:txBody>
      </p:sp>
      <p:sp>
        <p:nvSpPr>
          <p:cNvPr id="50" name="Rectangle 49"/>
          <p:cNvSpPr/>
          <p:nvPr/>
        </p:nvSpPr>
        <p:spPr>
          <a:xfrm>
            <a:off x="5595268" y="4864608"/>
            <a:ext cx="6029498" cy="868680"/>
          </a:xfrm>
          <a:prstGeom prst="rect">
            <a:avLst/>
          </a:prstGeom>
          <a:solidFill>
            <a:srgbClr val="1C1611"/>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Rectangle 50"/>
          <p:cNvSpPr/>
          <p:nvPr/>
        </p:nvSpPr>
        <p:spPr>
          <a:xfrm>
            <a:off x="5595268" y="4864608"/>
            <a:ext cx="25000" cy="86868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5796436" y="5001768"/>
            <a:ext cx="5627162" cy="612648"/>
          </a:xfrm>
          <a:prstGeom prst="rect">
            <a:avLst/>
          </a:prstGeom>
          <a:noFill/>
        </p:spPr>
        <p:txBody>
          <a:bodyPr wrap="square" lIns="0" rIns="0" tIns="0" bIns="0" anchor="t">
            <a:spAutoFit/>
          </a:bodyPr>
          <a:lstStyle/>
          <a:p>
            <a:pPr>
              <a:lnSpc>
                <a:spcPct val="140000"/>
              </a:lnSpc>
              <a:spcBef>
                <a:spcPts val="0"/>
              </a:spcBef>
              <a:spcAft>
                <a:spcPts val="0"/>
              </a:spcAft>
            </a:pPr>
            <a:r>
              <a:rPr sz="1050" b="1">
                <a:solidFill>
                  <a:srgbClr val="E9E7E2"/>
                </a:solidFill>
                <a:latin typeface="Segoe UI"/>
              </a:rPr>
              <a:t>Conclusion: </a:t>
            </a:r>
            <a:r>
              <a:rPr sz="1050" b="0">
                <a:solidFill>
                  <a:srgbClr val="A8B0BD"/>
                </a:solidFill>
                <a:latin typeface="Segoe UI"/>
              </a:rPr>
              <a:t>the historical edge did not generalise. The current strategy must not be treated as proven profitable. This is a robustness problem, not a tuning problem.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15  ·  DIAGNOSIS</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Why did it deteriorate?</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66928" y="1536192"/>
          <a:ext cx="6800568" cy="2578608"/>
        </p:xfrm>
        <a:graphic>
          <a:graphicData uri="http://schemas.openxmlformats.org/drawingml/2006/table">
            <a:tbl>
              <a:tblPr firstRow="1" bandRow="1">
                <a:tableStyleId>{5C22544A-7EE6-4342-B048-85BDC9FD1C3A}</a:tableStyleId>
              </a:tblPr>
              <a:tblGrid>
                <a:gridCol w="2040171"/>
                <a:gridCol w="1292108"/>
                <a:gridCol w="1428119"/>
                <a:gridCol w="1020085"/>
                <a:gridCol w="1020085"/>
              </a:tblGrid>
              <a:tr h="274320">
                <a:tc>
                  <a:txBody>
                    <a:bodyPr wrap="square"/>
                    <a:lstStyle/>
                    <a:p>
                      <a:pPr>
                        <a:spcAft>
                          <a:spcPts val="0"/>
                        </a:spcAft>
                      </a:pPr>
                      <a:r>
                        <a:rPr sz="750" b="0">
                          <a:solidFill>
                            <a:srgbClr val="727C8C"/>
                          </a:solidFill>
                          <a:latin typeface="Consolas"/>
                        </a:rPr>
                        <a:t>PATTERN</a:t>
                      </a:r>
                    </a:p>
                  </a:txBody>
                  <a:tcPr marL="82296" marR="82296" marT="36576" marB="36576" anchor="ctr">
                    <a:solidFill>
                      <a:srgbClr val="12161D"/>
                    </a:solidFill>
                  </a:tcPr>
                </a:tc>
                <a:tc>
                  <a:txBody>
                    <a:bodyPr wrap="square"/>
                    <a:lstStyle/>
                    <a:p>
                      <a:pPr algn="r">
                        <a:spcAft>
                          <a:spcPts val="0"/>
                        </a:spcAft>
                      </a:pPr>
                      <a:r>
                        <a:rPr sz="750" b="0">
                          <a:solidFill>
                            <a:srgbClr val="727C8C"/>
                          </a:solidFill>
                          <a:latin typeface="Consolas"/>
                        </a:rPr>
                        <a:t>TRADES</a:t>
                      </a:r>
                    </a:p>
                  </a:txBody>
                  <a:tcPr marL="82296" marR="82296" marT="36576" marB="36576" anchor="ctr">
                    <a:solidFill>
                      <a:srgbClr val="12161D"/>
                    </a:solidFill>
                  </a:tcPr>
                </a:tc>
                <a:tc>
                  <a:txBody>
                    <a:bodyPr wrap="square"/>
                    <a:lstStyle/>
                    <a:p>
                      <a:pPr algn="r">
                        <a:spcAft>
                          <a:spcPts val="0"/>
                        </a:spcAft>
                      </a:pPr>
                      <a:r>
                        <a:rPr sz="750" b="0">
                          <a:solidFill>
                            <a:srgbClr val="727C8C"/>
                          </a:solidFill>
                          <a:latin typeface="Consolas"/>
                        </a:rPr>
                        <a:t>WIN RATE</a:t>
                      </a:r>
                    </a:p>
                  </a:txBody>
                  <a:tcPr marL="82296" marR="82296" marT="36576" marB="36576" anchor="ctr">
                    <a:solidFill>
                      <a:srgbClr val="12161D"/>
                    </a:solidFill>
                  </a:tcPr>
                </a:tc>
                <a:tc>
                  <a:txBody>
                    <a:bodyPr wrap="square"/>
                    <a:lstStyle/>
                    <a:p>
                      <a:pPr algn="r">
                        <a:spcAft>
                          <a:spcPts val="0"/>
                        </a:spcAft>
                      </a:pPr>
                      <a:r>
                        <a:rPr sz="750" b="0">
                          <a:solidFill>
                            <a:srgbClr val="727C8C"/>
                          </a:solidFill>
                          <a:latin typeface="Consolas"/>
                        </a:rPr>
                        <a:t>PF EARLIER</a:t>
                      </a:r>
                    </a:p>
                  </a:txBody>
                  <a:tcPr marL="82296" marR="82296" marT="36576" marB="36576" anchor="ctr">
                    <a:solidFill>
                      <a:srgbClr val="12161D"/>
                    </a:solidFill>
                  </a:tcPr>
                </a:tc>
                <a:tc>
                  <a:txBody>
                    <a:bodyPr wrap="square"/>
                    <a:lstStyle/>
                    <a:p>
                      <a:pPr algn="r">
                        <a:spcAft>
                          <a:spcPts val="0"/>
                        </a:spcAft>
                      </a:pPr>
                      <a:r>
                        <a:rPr sz="750" b="0">
                          <a:solidFill>
                            <a:srgbClr val="727C8C"/>
                          </a:solidFill>
                          <a:latin typeface="Consolas"/>
                        </a:rPr>
                        <a:t>PF RECENT</a:t>
                      </a:r>
                    </a:p>
                  </a:txBody>
                  <a:tcPr marL="82296" marR="82296" marT="36576" marB="36576" anchor="ctr">
                    <a:solidFill>
                      <a:srgbClr val="12161D"/>
                    </a:solidFill>
                  </a:tcPr>
                </a:tc>
              </a:tr>
              <a:tr h="288036">
                <a:tc>
                  <a:txBody>
                    <a:bodyPr wrap="square"/>
                    <a:lstStyle/>
                    <a:p>
                      <a:pPr>
                        <a:lnSpc>
                          <a:spcPct val="115000"/>
                        </a:lnSpc>
                        <a:spcAft>
                          <a:spcPts val="0"/>
                        </a:spcAft>
                      </a:pPr>
                      <a:r>
                        <a:rPr sz="950" b="1">
                          <a:solidFill>
                            <a:srgbClr val="E9E7E2"/>
                          </a:solidFill>
                          <a:latin typeface="Segoe UI"/>
                        </a:rPr>
                        <a:t>Hammer</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A8B0BD"/>
                          </a:solidFill>
                          <a:latin typeface="Consolas"/>
                        </a:rPr>
                        <a:t>113 → 108</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A8B0BD"/>
                          </a:solidFill>
                          <a:latin typeface="Consolas"/>
                        </a:rPr>
                        <a:t>54.0 → </a:t>
                      </a:r>
                      <a:r>
                        <a:rPr sz="950" b="0">
                          <a:solidFill>
                            <a:srgbClr val="CC6152"/>
                          </a:solidFill>
                          <a:latin typeface="Consolas"/>
                        </a:rPr>
                        <a:t>27.8</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4E9E78"/>
                          </a:solidFill>
                          <a:latin typeface="Consolas"/>
                        </a:rPr>
                        <a:t>1.78</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CC6152"/>
                          </a:solidFill>
                          <a:latin typeface="Consolas"/>
                        </a:rPr>
                        <a:t>0.49</a:t>
                      </a:r>
                    </a:p>
                  </a:txBody>
                  <a:tcPr marL="82296" marR="82296" marT="27432" marB="27432" anchor="ctr">
                    <a:solidFill>
                      <a:srgbClr val="1A1F29"/>
                    </a:solidFill>
                  </a:tcPr>
                </a:tc>
              </a:tr>
              <a:tr h="288036">
                <a:tc>
                  <a:txBody>
                    <a:bodyPr wrap="square"/>
                    <a:lstStyle/>
                    <a:p>
                      <a:pPr>
                        <a:lnSpc>
                          <a:spcPct val="115000"/>
                        </a:lnSpc>
                        <a:spcAft>
                          <a:spcPts val="0"/>
                        </a:spcAft>
                      </a:pPr>
                      <a:r>
                        <a:rPr sz="950" b="1">
                          <a:solidFill>
                            <a:srgbClr val="E9E7E2"/>
                          </a:solidFill>
                          <a:latin typeface="Segoe UI"/>
                        </a:rPr>
                        <a:t>BearishEngulfing</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A8B0BD"/>
                          </a:solidFill>
                          <a:latin typeface="Consolas"/>
                        </a:rPr>
                        <a:t>96 → 48</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A8B0BD"/>
                          </a:solidFill>
                          <a:latin typeface="Consolas"/>
                        </a:rPr>
                        <a:t>58.3 → </a:t>
                      </a:r>
                      <a:r>
                        <a:rPr sz="950" b="0">
                          <a:solidFill>
                            <a:srgbClr val="CC6152"/>
                          </a:solidFill>
                          <a:latin typeface="Consolas"/>
                        </a:rPr>
                        <a:t>39.6</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4E9E78"/>
                          </a:solidFill>
                          <a:latin typeface="Consolas"/>
                        </a:rPr>
                        <a:t>2.03</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CC6152"/>
                          </a:solidFill>
                          <a:latin typeface="Consolas"/>
                        </a:rPr>
                        <a:t>0.69</a:t>
                      </a:r>
                    </a:p>
                  </a:txBody>
                  <a:tcPr marL="82296" marR="82296" marT="27432" marB="27432" anchor="ctr">
                    <a:solidFill>
                      <a:srgbClr val="1A1F29"/>
                    </a:solidFill>
                  </a:tcPr>
                </a:tc>
              </a:tr>
              <a:tr h="288036">
                <a:tc>
                  <a:txBody>
                    <a:bodyPr wrap="square"/>
                    <a:lstStyle/>
                    <a:p>
                      <a:pPr>
                        <a:lnSpc>
                          <a:spcPct val="115000"/>
                        </a:lnSpc>
                        <a:spcAft>
                          <a:spcPts val="0"/>
                        </a:spcAft>
                      </a:pPr>
                      <a:r>
                        <a:rPr sz="950" b="1">
                          <a:solidFill>
                            <a:srgbClr val="E9E7E2"/>
                          </a:solidFill>
                          <a:latin typeface="Segoe UI"/>
                        </a:rPr>
                        <a:t>PullbackToMA20</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A8B0BD"/>
                          </a:solidFill>
                          <a:latin typeface="Consolas"/>
                        </a:rPr>
                        <a:t>226 → 66</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A8B0BD"/>
                          </a:solidFill>
                          <a:latin typeface="Consolas"/>
                        </a:rPr>
                        <a:t>41.6 → </a:t>
                      </a:r>
                      <a:r>
                        <a:rPr sz="950" b="0">
                          <a:solidFill>
                            <a:srgbClr val="CC6152"/>
                          </a:solidFill>
                          <a:latin typeface="Consolas"/>
                        </a:rPr>
                        <a:t>34.8</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4E9E78"/>
                          </a:solidFill>
                          <a:latin typeface="Consolas"/>
                        </a:rPr>
                        <a:t>1.35</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CC6152"/>
                          </a:solidFill>
                          <a:latin typeface="Consolas"/>
                        </a:rPr>
                        <a:t>0.81</a:t>
                      </a:r>
                    </a:p>
                  </a:txBody>
                  <a:tcPr marL="82296" marR="82296" marT="27432" marB="27432" anchor="ctr">
                    <a:solidFill>
                      <a:srgbClr val="1A1F29"/>
                    </a:solidFill>
                  </a:tcPr>
                </a:tc>
              </a:tr>
              <a:tr h="288036">
                <a:tc>
                  <a:txBody>
                    <a:bodyPr wrap="square"/>
                    <a:lstStyle/>
                    <a:p>
                      <a:pPr>
                        <a:lnSpc>
                          <a:spcPct val="115000"/>
                        </a:lnSpc>
                        <a:spcAft>
                          <a:spcPts val="0"/>
                        </a:spcAft>
                      </a:pPr>
                      <a:r>
                        <a:rPr sz="950" b="1">
                          <a:solidFill>
                            <a:srgbClr val="E9E7E2"/>
                          </a:solidFill>
                          <a:latin typeface="Segoe UI"/>
                        </a:rPr>
                        <a:t>BB_BuyDip</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55 → 14</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49.1 → 28.6</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4E9E78"/>
                          </a:solidFill>
                          <a:latin typeface="Consolas"/>
                        </a:rPr>
                        <a:t>1.60</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CC6152"/>
                          </a:solidFill>
                          <a:latin typeface="Consolas"/>
                        </a:rPr>
                        <a:t>0.76</a:t>
                      </a:r>
                    </a:p>
                  </a:txBody>
                  <a:tcPr marL="82296" marR="82296" marT="27432" marB="27432" anchor="ctr">
                    <a:solidFill>
                      <a:srgbClr val="171C25"/>
                    </a:solidFill>
                  </a:tcPr>
                </a:tc>
              </a:tr>
              <a:tr h="288036">
                <a:tc>
                  <a:txBody>
                    <a:bodyPr wrap="square"/>
                    <a:lstStyle/>
                    <a:p>
                      <a:pPr>
                        <a:lnSpc>
                          <a:spcPct val="115000"/>
                        </a:lnSpc>
                        <a:spcAft>
                          <a:spcPts val="0"/>
                        </a:spcAft>
                      </a:pPr>
                      <a:r>
                        <a:rPr sz="950" b="1">
                          <a:solidFill>
                            <a:srgbClr val="E9E7E2"/>
                          </a:solidFill>
                          <a:latin typeface="Segoe UI"/>
                        </a:rPr>
                        <a:t>Breakout55</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107 → 27</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43.9 → 29.6</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4E9E78"/>
                          </a:solidFill>
                          <a:latin typeface="Consolas"/>
                        </a:rPr>
                        <a:t>1.20</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CC6152"/>
                          </a:solidFill>
                          <a:latin typeface="Consolas"/>
                        </a:rPr>
                        <a:t>0.75</a:t>
                      </a:r>
                    </a:p>
                  </a:txBody>
                  <a:tcPr marL="82296" marR="82296" marT="27432" marB="27432" anchor="ctr">
                    <a:solidFill>
                      <a:srgbClr val="171C25"/>
                    </a:solidFill>
                  </a:tcPr>
                </a:tc>
              </a:tr>
              <a:tr h="288036">
                <a:tc>
                  <a:txBody>
                    <a:bodyPr wrap="square"/>
                    <a:lstStyle/>
                    <a:p>
                      <a:pPr>
                        <a:lnSpc>
                          <a:spcPct val="115000"/>
                        </a:lnSpc>
                        <a:spcAft>
                          <a:spcPts val="0"/>
                        </a:spcAft>
                      </a:pPr>
                      <a:r>
                        <a:rPr sz="950" b="1">
                          <a:solidFill>
                            <a:srgbClr val="E9E7E2"/>
                          </a:solidFill>
                          <a:latin typeface="Segoe UI"/>
                        </a:rPr>
                        <a:t>MACD variant</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31 → 12</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41.9 → 33.3</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4E9E78"/>
                          </a:solidFill>
                          <a:latin typeface="Consolas"/>
                        </a:rPr>
                        <a:t>1.19</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CC6152"/>
                          </a:solidFill>
                          <a:latin typeface="Consolas"/>
                        </a:rPr>
                        <a:t>0.89</a:t>
                      </a:r>
                    </a:p>
                  </a:txBody>
                  <a:tcPr marL="82296" marR="82296" marT="27432" marB="27432" anchor="ctr">
                    <a:solidFill>
                      <a:srgbClr val="171C25"/>
                    </a:solidFill>
                  </a:tcPr>
                </a:tc>
              </a:tr>
              <a:tr h="288036">
                <a:tc>
                  <a:txBody>
                    <a:bodyPr wrap="square"/>
                    <a:lstStyle/>
                    <a:p>
                      <a:pPr>
                        <a:lnSpc>
                          <a:spcPct val="115000"/>
                        </a:lnSpc>
                        <a:spcAft>
                          <a:spcPts val="0"/>
                        </a:spcAft>
                      </a:pPr>
                      <a:r>
                        <a:rPr sz="950" b="1">
                          <a:solidFill>
                            <a:srgbClr val="E9E7E2"/>
                          </a:solidFill>
                          <a:latin typeface="Segoe UI"/>
                        </a:rPr>
                        <a:t>BullishEngulfing</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105 → 28</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39.0 → 42.9</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CC6152"/>
                          </a:solidFill>
                          <a:latin typeface="Consolas"/>
                        </a:rPr>
                        <a:t>0.98</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CC6152"/>
                          </a:solidFill>
                          <a:latin typeface="Consolas"/>
                        </a:rPr>
                        <a:t>0.98</a:t>
                      </a:r>
                    </a:p>
                  </a:txBody>
                  <a:tcPr marL="82296" marR="82296" marT="27432" marB="27432" anchor="ctr">
                    <a:solidFill>
                      <a:srgbClr val="171C25"/>
                    </a:solidFill>
                  </a:tcPr>
                </a:tc>
              </a:tr>
              <a:tr h="288036">
                <a:tc>
                  <a:txBody>
                    <a:bodyPr wrap="square"/>
                    <a:lstStyle/>
                    <a:p>
                      <a:pPr>
                        <a:lnSpc>
                          <a:spcPct val="115000"/>
                        </a:lnSpc>
                        <a:spcAft>
                          <a:spcPts val="0"/>
                        </a:spcAft>
                      </a:pPr>
                      <a:r>
                        <a:rPr sz="950" b="1">
                          <a:solidFill>
                            <a:srgbClr val="E9E7E2"/>
                          </a:solidFill>
                          <a:latin typeface="Segoe UI"/>
                        </a:rPr>
                        <a:t>Breakout20</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11 → 4</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36.4 → 50.0</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4E9E78"/>
                          </a:solidFill>
                          <a:latin typeface="Consolas"/>
                        </a:rPr>
                        <a:t>1.75</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4E9E78"/>
                          </a:solidFill>
                          <a:latin typeface="Consolas"/>
                        </a:rPr>
                        <a:t>1.91</a:t>
                      </a:r>
                    </a:p>
                  </a:txBody>
                  <a:tcPr marL="82296" marR="82296" marT="27432" marB="27432" anchor="ctr">
                    <a:solidFill>
                      <a:srgbClr val="171C25"/>
                    </a:solidFill>
                  </a:tcPr>
                </a:tc>
              </a:tr>
            </a:tbl>
          </a:graphicData>
        </a:graphic>
      </p:graphicFrame>
      <p:sp>
        <p:nvSpPr>
          <p:cNvPr id="7" name="Rectangle 6"/>
          <p:cNvSpPr/>
          <p:nvPr/>
        </p:nvSpPr>
        <p:spPr>
          <a:xfrm>
            <a:off x="7751546" y="1536192"/>
            <a:ext cx="3873220" cy="19659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952714" y="1700784"/>
            <a:ext cx="3470884"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WHAT CHANGED MECHANICALLY</a:t>
            </a:r>
          </a:p>
        </p:txBody>
      </p:sp>
      <p:sp>
        <p:nvSpPr>
          <p:cNvPr id="9" name="TextBox 8"/>
          <p:cNvSpPr txBox="1"/>
          <p:nvPr/>
        </p:nvSpPr>
        <p:spPr>
          <a:xfrm>
            <a:off x="7952714" y="1993392"/>
            <a:ext cx="3470884" cy="138074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Win rate fell 46.1% → 33.2% pooled</a:t>
            </a:r>
          </a:p>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Stop-loss exits took a larger share; take-profit exits became rare</a:t>
            </a:r>
          </a:p>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Average losses grew, average wins shrank</a:t>
            </a:r>
          </a:p>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Long side collapsed: PF 1.35 → 0.65</a:t>
            </a:r>
          </a:p>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Short side also fell: PF 1.77 → 0.73</a:t>
            </a:r>
          </a:p>
        </p:txBody>
      </p:sp>
      <p:sp>
        <p:nvSpPr>
          <p:cNvPr id="10" name="Rectangle 9"/>
          <p:cNvSpPr/>
          <p:nvPr/>
        </p:nvSpPr>
        <p:spPr>
          <a:xfrm>
            <a:off x="7751546" y="3685032"/>
            <a:ext cx="3873220" cy="777240"/>
          </a:xfrm>
          <a:prstGeom prst="rect">
            <a:avLst/>
          </a:prstGeom>
          <a:solidFill>
            <a:srgbClr val="12161D"/>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751546" y="3685032"/>
            <a:ext cx="25000" cy="77724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952714" y="3822192"/>
            <a:ext cx="3470884" cy="521208"/>
          </a:xfrm>
          <a:prstGeom prst="rect">
            <a:avLst/>
          </a:prstGeom>
          <a:noFill/>
        </p:spPr>
        <p:txBody>
          <a:bodyPr wrap="square" lIns="0" rIns="0" tIns="0" bIns="0" anchor="t">
            <a:spAutoFit/>
          </a:bodyPr>
          <a:lstStyle/>
          <a:p>
            <a:pPr>
              <a:lnSpc>
                <a:spcPct val="140000"/>
              </a:lnSpc>
              <a:spcBef>
                <a:spcPts val="0"/>
              </a:spcBef>
              <a:spcAft>
                <a:spcPts val="0"/>
              </a:spcAft>
            </a:pPr>
            <a:r>
              <a:rPr sz="1050" b="0">
                <a:solidFill>
                  <a:srgbClr val="A8B0BD"/>
                </a:solidFill>
                <a:latin typeface="Segoe UI"/>
              </a:rPr>
              <a:t>Breakout20 improved — but on 4 validation trades. Too few to mean anything, and worth saying so out loud.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16  ·  ABLATIONS</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Which filters actually earn their place?</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536192"/>
            <a:ext cx="11057839" cy="320040"/>
          </a:xfrm>
          <a:prstGeom prst="rect">
            <a:avLst/>
          </a:prstGeom>
          <a:noFill/>
        </p:spPr>
        <p:txBody>
          <a:bodyPr wrap="square" lIns="0" rIns="0" tIns="0" bIns="0" anchor="t">
            <a:spAutoFit/>
          </a:bodyPr>
          <a:lstStyle/>
          <a:p>
            <a:pPr>
              <a:lnSpc>
                <a:spcPct val="135000"/>
              </a:lnSpc>
              <a:spcBef>
                <a:spcPts val="0"/>
              </a:spcBef>
              <a:spcAft>
                <a:spcPts val="0"/>
              </a:spcAft>
            </a:pPr>
            <a:r>
              <a:rPr sz="1150" b="0" i="0">
                <a:solidFill>
                  <a:srgbClr val="E9E7E2"/>
                </a:solidFill>
                <a:latin typeface="Segoe UI"/>
              </a:rPr>
              <a:t>Each test changes exactly one setting and reruns the whole universe. This is descriptive evidence about this dataset — it does not establish causation.</a:t>
            </a:r>
          </a:p>
        </p:txBody>
      </p:sp>
      <p:graphicFrame>
        <p:nvGraphicFramePr>
          <p:cNvPr id="7" name="Table 6"/>
          <p:cNvGraphicFramePr>
            <a:graphicFrameLocks noGrp="1"/>
          </p:cNvGraphicFramePr>
          <p:nvPr/>
        </p:nvGraphicFramePr>
        <p:xfrm>
          <a:off x="566928" y="1993392"/>
          <a:ext cx="11057836" cy="1783080"/>
        </p:xfrm>
        <a:graphic>
          <a:graphicData uri="http://schemas.openxmlformats.org/drawingml/2006/table">
            <a:tbl>
              <a:tblPr firstRow="1" bandRow="1">
                <a:tableStyleId>{5C22544A-7EE6-4342-B048-85BDC9FD1C3A}</a:tableStyleId>
              </a:tblPr>
              <a:tblGrid>
                <a:gridCol w="2653881"/>
                <a:gridCol w="1548097"/>
                <a:gridCol w="1879832"/>
                <a:gridCol w="1879832"/>
                <a:gridCol w="3096194"/>
              </a:tblGrid>
              <a:tr h="274320">
                <a:tc>
                  <a:txBody>
                    <a:bodyPr wrap="square"/>
                    <a:lstStyle/>
                    <a:p>
                      <a:pPr>
                        <a:spcAft>
                          <a:spcPts val="0"/>
                        </a:spcAft>
                      </a:pPr>
                      <a:r>
                        <a:rPr sz="750" b="0">
                          <a:solidFill>
                            <a:srgbClr val="727C8C"/>
                          </a:solidFill>
                          <a:latin typeface="Consolas"/>
                        </a:rPr>
                        <a:t>GATE CHANGED</a:t>
                      </a:r>
                    </a:p>
                  </a:txBody>
                  <a:tcPr marL="82296" marR="82296" marT="36576" marB="36576" anchor="ctr">
                    <a:solidFill>
                      <a:srgbClr val="12161D"/>
                    </a:solidFill>
                  </a:tcPr>
                </a:tc>
                <a:tc>
                  <a:txBody>
                    <a:bodyPr wrap="square"/>
                    <a:lstStyle/>
                    <a:p>
                      <a:pPr algn="r">
                        <a:spcAft>
                          <a:spcPts val="0"/>
                        </a:spcAft>
                      </a:pPr>
                      <a:r>
                        <a:rPr sz="750" b="0">
                          <a:solidFill>
                            <a:srgbClr val="727C8C"/>
                          </a:solidFill>
                          <a:latin typeface="Consolas"/>
                        </a:rPr>
                        <a:t>TRADE COUNT</a:t>
                      </a:r>
                    </a:p>
                  </a:txBody>
                  <a:tcPr marL="82296" marR="82296" marT="36576" marB="36576" anchor="ctr">
                    <a:solidFill>
                      <a:srgbClr val="12161D"/>
                    </a:solidFill>
                  </a:tcPr>
                </a:tc>
                <a:tc>
                  <a:txBody>
                    <a:bodyPr wrap="square"/>
                    <a:lstStyle/>
                    <a:p>
                      <a:pPr algn="r">
                        <a:spcAft>
                          <a:spcPts val="0"/>
                        </a:spcAft>
                      </a:pPr>
                      <a:r>
                        <a:rPr sz="750" b="0">
                          <a:solidFill>
                            <a:srgbClr val="727C8C"/>
                          </a:solidFill>
                          <a:latin typeface="Consolas"/>
                        </a:rPr>
                        <a:t>PROFIT FACTOR</a:t>
                      </a:r>
                    </a:p>
                  </a:txBody>
                  <a:tcPr marL="82296" marR="82296" marT="36576" marB="36576" anchor="ctr">
                    <a:solidFill>
                      <a:srgbClr val="12161D"/>
                    </a:solidFill>
                  </a:tcPr>
                </a:tc>
                <a:tc>
                  <a:txBody>
                    <a:bodyPr wrap="square"/>
                    <a:lstStyle/>
                    <a:p>
                      <a:pPr algn="r">
                        <a:spcAft>
                          <a:spcPts val="0"/>
                        </a:spcAft>
                      </a:pPr>
                      <a:r>
                        <a:rPr sz="750" b="0">
                          <a:solidFill>
                            <a:srgbClr val="727C8C"/>
                          </a:solidFill>
                          <a:latin typeface="Consolas"/>
                        </a:rPr>
                        <a:t>EXPECTANCY</a:t>
                      </a:r>
                    </a:p>
                  </a:txBody>
                  <a:tcPr marL="82296" marR="82296" marT="36576" marB="36576" anchor="ctr">
                    <a:solidFill>
                      <a:srgbClr val="12161D"/>
                    </a:solidFill>
                  </a:tcPr>
                </a:tc>
                <a:tc>
                  <a:txBody>
                    <a:bodyPr wrap="square"/>
                    <a:lstStyle/>
                    <a:p>
                      <a:pPr>
                        <a:spcAft>
                          <a:spcPts val="0"/>
                        </a:spcAft>
                      </a:pPr>
                      <a:r>
                        <a:rPr sz="750" b="0">
                          <a:solidFill>
                            <a:srgbClr val="727C8C"/>
                          </a:solidFill>
                          <a:latin typeface="Consolas"/>
                        </a:rPr>
                        <a:t>READING</a:t>
                      </a:r>
                    </a:p>
                  </a:txBody>
                  <a:tcPr marL="82296" marR="82296" marT="36576" marB="36576" anchor="ctr">
                    <a:solidFill>
                      <a:srgbClr val="12161D"/>
                    </a:solidFill>
                  </a:tcPr>
                </a:tc>
              </a:tr>
              <a:tr h="301752">
                <a:tc>
                  <a:txBody>
                    <a:bodyPr wrap="square"/>
                    <a:lstStyle/>
                    <a:p>
                      <a:pPr>
                        <a:lnSpc>
                          <a:spcPct val="115000"/>
                        </a:lnSpc>
                        <a:spcAft>
                          <a:spcPts val="0"/>
                        </a:spcAft>
                      </a:pPr>
                      <a:r>
                        <a:rPr sz="950" b="1">
                          <a:solidFill>
                            <a:srgbClr val="E9E7E2"/>
                          </a:solidFill>
                          <a:latin typeface="Segoe UI"/>
                        </a:rPr>
                        <a:t>Market regime OFF</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A8B0BD"/>
                          </a:solidFill>
                          <a:latin typeface="Consolas"/>
                        </a:rPr>
                        <a:t>+217</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A8B0BD"/>
                          </a:solidFill>
                          <a:latin typeface="Consolas"/>
                        </a:rPr>
                        <a:t>1.14 → </a:t>
                      </a:r>
                      <a:r>
                        <a:rPr sz="950" b="0">
                          <a:solidFill>
                            <a:srgbClr val="CC6152"/>
                          </a:solidFill>
                          <a:latin typeface="Consolas"/>
                        </a:rPr>
                        <a:t>1.03</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A8B0BD"/>
                          </a:solidFill>
                          <a:latin typeface="Consolas"/>
                        </a:rPr>
                        <a:t>₹329 → </a:t>
                      </a:r>
                      <a:r>
                        <a:rPr sz="950" b="0">
                          <a:solidFill>
                            <a:srgbClr val="CC6152"/>
                          </a:solidFill>
                          <a:latin typeface="Consolas"/>
                        </a:rPr>
                        <a:t>₹73</a:t>
                      </a:r>
                    </a:p>
                  </a:txBody>
                  <a:tcPr marL="82296" marR="82296" marT="27432" marB="27432" anchor="ctr">
                    <a:solidFill>
                      <a:srgbClr val="1A1F29"/>
                    </a:solidFill>
                  </a:tcPr>
                </a:tc>
                <a:tc>
                  <a:txBody>
                    <a:bodyPr wrap="square"/>
                    <a:lstStyle/>
                    <a:p>
                      <a:pPr>
                        <a:lnSpc>
                          <a:spcPct val="115000"/>
                        </a:lnSpc>
                        <a:spcAft>
                          <a:spcPts val="0"/>
                        </a:spcAft>
                      </a:pPr>
                      <a:r>
                        <a:rPr sz="950" b="0">
                          <a:solidFill>
                            <a:srgbClr val="A8B0BD"/>
                          </a:solidFill>
                          <a:latin typeface="Segoe UI"/>
                        </a:rPr>
                        <a:t>Gate appears to add real value</a:t>
                      </a:r>
                    </a:p>
                  </a:txBody>
                  <a:tcPr marL="82296" marR="82296" marT="27432" marB="27432" anchor="ctr">
                    <a:solidFill>
                      <a:srgbClr val="1A1F29"/>
                    </a:solidFill>
                  </a:tcPr>
                </a:tc>
              </a:tr>
              <a:tr h="301752">
                <a:tc>
                  <a:txBody>
                    <a:bodyPr wrap="square"/>
                    <a:lstStyle/>
                    <a:p>
                      <a:pPr>
                        <a:lnSpc>
                          <a:spcPct val="115000"/>
                        </a:lnSpc>
                        <a:spcAft>
                          <a:spcPts val="0"/>
                        </a:spcAft>
                      </a:pPr>
                      <a:r>
                        <a:rPr sz="950" b="1">
                          <a:solidFill>
                            <a:srgbClr val="E9E7E2"/>
                          </a:solidFill>
                          <a:latin typeface="Segoe UI"/>
                        </a:rPr>
                        <a:t>Earnings blackout OFF</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+96</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1.14 → 1.10</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₹329 → ₹247</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Gate appears to add value</a:t>
                      </a:r>
                    </a:p>
                  </a:txBody>
                  <a:tcPr marL="82296" marR="82296" marT="27432" marB="27432" anchor="ctr">
                    <a:solidFill>
                      <a:srgbClr val="171C25"/>
                    </a:solidFill>
                  </a:tcPr>
                </a:tc>
              </a:tr>
              <a:tr h="301752">
                <a:tc>
                  <a:txBody>
                    <a:bodyPr wrap="square"/>
                    <a:lstStyle/>
                    <a:p>
                      <a:pPr>
                        <a:lnSpc>
                          <a:spcPct val="115000"/>
                        </a:lnSpc>
                        <a:spcAft>
                          <a:spcPts val="0"/>
                        </a:spcAft>
                      </a:pPr>
                      <a:r>
                        <a:rPr sz="950" b="1">
                          <a:solidFill>
                            <a:srgbClr val="E9E7E2"/>
                          </a:solidFill>
                          <a:latin typeface="Segoe UI"/>
                        </a:rPr>
                        <a:t>Relative strength OFF</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+37</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1.14 → 1.12</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₹329 → ₹279</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Gate appears to add value</a:t>
                      </a:r>
                    </a:p>
                  </a:txBody>
                  <a:tcPr marL="82296" marR="82296" marT="27432" marB="27432" anchor="ctr">
                    <a:solidFill>
                      <a:srgbClr val="171C25"/>
                    </a:solidFill>
                  </a:tcPr>
                </a:tc>
              </a:tr>
              <a:tr h="301752">
                <a:tc>
                  <a:txBody>
                    <a:bodyPr wrap="square"/>
                    <a:lstStyle/>
                    <a:p>
                      <a:pPr>
                        <a:lnSpc>
                          <a:spcPct val="115000"/>
                        </a:lnSpc>
                        <a:spcAft>
                          <a:spcPts val="0"/>
                        </a:spcAft>
                      </a:pPr>
                      <a:r>
                        <a:rPr sz="950" b="1">
                          <a:solidFill>
                            <a:srgbClr val="E9E7E2"/>
                          </a:solidFill>
                          <a:latin typeface="Segoe UI"/>
                        </a:rPr>
                        <a:t>Breadth floor ON</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−28</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1.14 → 1.11</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₹329 → ₹260</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Correctly shipped off — redundant</a:t>
                      </a:r>
                    </a:p>
                  </a:txBody>
                  <a:tcPr marL="82296" marR="82296" marT="27432" marB="27432" anchor="ctr">
                    <a:solidFill>
                      <a:srgbClr val="171C25"/>
                    </a:solidFill>
                  </a:tcPr>
                </a:tc>
              </a:tr>
              <a:tr h="301752">
                <a:tc>
                  <a:txBody>
                    <a:bodyPr wrap="square"/>
                    <a:lstStyle/>
                    <a:p>
                      <a:pPr>
                        <a:lnSpc>
                          <a:spcPct val="115000"/>
                        </a:lnSpc>
                        <a:spcAft>
                          <a:spcPts val="0"/>
                        </a:spcAft>
                      </a:pPr>
                      <a:r>
                        <a:rPr sz="950" b="1">
                          <a:solidFill>
                            <a:srgbClr val="E9E7E2"/>
                          </a:solidFill>
                          <a:latin typeface="Segoe UI"/>
                        </a:rPr>
                        <a:t>Distribution-day cap OFF</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+254</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1.141 → </a:t>
                      </a:r>
                      <a:r>
                        <a:rPr sz="950" b="0">
                          <a:solidFill>
                            <a:srgbClr val="4E9E78"/>
                          </a:solidFill>
                          <a:latin typeface="Consolas"/>
                        </a:rPr>
                        <a:t>1.147</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727C8C"/>
                          </a:solidFill>
                          <a:latin typeface="Consolas"/>
                        </a:rPr>
                        <a:t>—</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Contradicts our own code comment</a:t>
                      </a:r>
                    </a:p>
                  </a:txBody>
                  <a:tcPr marL="82296" marR="82296" marT="27432" marB="27432" anchor="ctr">
                    <a:solidFill>
                      <a:srgbClr val="171C25"/>
                    </a:solidFill>
                  </a:tcPr>
                </a:tc>
              </a:tr>
            </a:tbl>
          </a:graphicData>
        </a:graphic>
      </p:graphicFrame>
      <p:sp>
        <p:nvSpPr>
          <p:cNvPr id="8" name="Rectangle 7"/>
          <p:cNvSpPr/>
          <p:nvPr/>
        </p:nvSpPr>
        <p:spPr>
          <a:xfrm>
            <a:off x="566928" y="3867912"/>
            <a:ext cx="5086605" cy="10515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68096" y="4032504"/>
            <a:ext cx="4684269"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THE CLEAREST SINGLE RESULT</a:t>
            </a:r>
          </a:p>
        </p:txBody>
      </p:sp>
      <p:sp>
        <p:nvSpPr>
          <p:cNvPr id="10" name="TextBox 9"/>
          <p:cNvSpPr txBox="1"/>
          <p:nvPr/>
        </p:nvSpPr>
        <p:spPr>
          <a:xfrm>
            <a:off x="768096" y="4325112"/>
            <a:ext cx="4684269" cy="466344"/>
          </a:xfrm>
          <a:prstGeom prst="rect">
            <a:avLst/>
          </a:prstGeom>
          <a:noFill/>
        </p:spPr>
        <p:txBody>
          <a:bodyPr wrap="square" lIns="0" rIns="0" tIns="0" bIns="0" anchor="t">
            <a:spAutoFit/>
          </a:bodyPr>
          <a:lstStyle/>
          <a:p>
            <a:pPr>
              <a:lnSpc>
                <a:spcPct val="138000"/>
              </a:lnSpc>
              <a:spcBef>
                <a:spcPts val="0"/>
              </a:spcBef>
              <a:spcAft>
                <a:spcPts val="600"/>
              </a:spcAft>
            </a:pPr>
            <a:r>
              <a:rPr sz="1050" b="0" i="0">
                <a:solidFill>
                  <a:srgbClr val="A8B0BD"/>
                </a:solidFill>
                <a:latin typeface="Segoe UI"/>
              </a:rPr>
              <a:t>Removing the market-regime check added 217 more trades but cut expectancy by 78% and reduced pooled P&amp;L by roughly ₹2.5 lakh. More trades, much worse trades.</a:t>
            </a:r>
          </a:p>
        </p:txBody>
      </p:sp>
      <p:sp>
        <p:nvSpPr>
          <p:cNvPr id="11" name="Rectangle 10"/>
          <p:cNvSpPr/>
          <p:nvPr/>
        </p:nvSpPr>
        <p:spPr>
          <a:xfrm>
            <a:off x="6037581" y="3867912"/>
            <a:ext cx="5587185" cy="1051560"/>
          </a:xfrm>
          <a:prstGeom prst="rect">
            <a:avLst/>
          </a:prstGeom>
          <a:solidFill>
            <a:srgbClr val="1C1611"/>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037581" y="3867912"/>
            <a:ext cx="25000" cy="105156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8749" y="4005072"/>
            <a:ext cx="5184849" cy="795528"/>
          </a:xfrm>
          <a:prstGeom prst="rect">
            <a:avLst/>
          </a:prstGeom>
          <a:noFill/>
        </p:spPr>
        <p:txBody>
          <a:bodyPr wrap="square" lIns="0" rIns="0" tIns="0" bIns="0" anchor="t">
            <a:spAutoFit/>
          </a:bodyPr>
          <a:lstStyle/>
          <a:p>
            <a:pPr>
              <a:lnSpc>
                <a:spcPct val="140000"/>
              </a:lnSpc>
              <a:spcBef>
                <a:spcPts val="0"/>
              </a:spcBef>
              <a:spcAft>
                <a:spcPts val="0"/>
              </a:spcAft>
            </a:pPr>
            <a:r>
              <a:rPr sz="1050" b="1">
                <a:solidFill>
                  <a:srgbClr val="E9E7E2"/>
                </a:solidFill>
                <a:latin typeface="Segoe UI"/>
              </a:rPr>
              <a:t>Discipline note: </a:t>
            </a:r>
            <a:r>
              <a:rPr sz="1050" b="0">
                <a:solidFill>
                  <a:srgbClr val="A8B0BD"/>
                </a:solidFill>
                <a:latin typeface="Segoe UI"/>
              </a:rPr>
              <a:t>the distribution-day result disagrees with a comment in our own source code claiming the gate was validated. It was flagged and not acted on — no threshold was changed to chase a better number.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17  ·  LESSONS</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What we learned</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536192"/>
            <a:ext cx="5336895" cy="169164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8096" y="1700784"/>
            <a:ext cx="4934559" cy="1399032"/>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A profitable backtest is not evidence.</a:t>
            </a:r>
            <a:r>
              <a:rPr sz="1000" b="0">
                <a:solidFill>
                  <a:srgbClr val="A8B0BD"/>
                </a:solidFill>
                <a:latin typeface="Segoe UI"/>
              </a:rPr>
              <a:t> Six presets looked good in-sample, all failed out of sample.</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Out-of-sample validation is not optional.</a:t>
            </a:r>
            <a:r>
              <a:rPr sz="1000" b="0">
                <a:solidFill>
                  <a:srgbClr val="A8B0BD"/>
                </a:solidFill>
                <a:latin typeface="Segoe UI"/>
              </a:rPr>
              <a:t> It is the only test that caught the real problem.</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Market regime matters.</a:t>
            </a:r>
            <a:r>
              <a:rPr sz="1000" b="0">
                <a:solidFill>
                  <a:srgbClr val="A8B0BD"/>
                </a:solidFill>
                <a:latin typeface="Segoe UI"/>
              </a:rPr>
              <a:t> The strongest single filter result in the study.</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Pattern edges decay.</a:t>
            </a:r>
            <a:r>
              <a:rPr sz="1000" b="0">
                <a:solidFill>
                  <a:srgbClr val="A8B0BD"/>
                </a:solidFill>
                <a:latin typeface="Segoe UI"/>
              </a:rPr>
              <a:t> Hammer's win rate halved between adjacent periods.</a:t>
            </a:r>
          </a:p>
        </p:txBody>
      </p:sp>
      <p:sp>
        <p:nvSpPr>
          <p:cNvPr id="8" name="Rectangle 7"/>
          <p:cNvSpPr/>
          <p:nvPr/>
        </p:nvSpPr>
        <p:spPr>
          <a:xfrm>
            <a:off x="6287871" y="1536192"/>
            <a:ext cx="5336895" cy="169164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489039" y="1700784"/>
            <a:ext cx="4934559" cy="1399032"/>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Costs decide thin edges.</a:t>
            </a:r>
            <a:r>
              <a:rPr sz="1000" b="0">
                <a:solidFill>
                  <a:srgbClr val="A8B0BD"/>
                </a:solidFill>
                <a:latin typeface="Segoe UI"/>
              </a:rPr>
              <a:t> This one disappears between 10 and 20 bps of slippage.</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Multiple testing is a real trap.</a:t>
            </a:r>
            <a:r>
              <a:rPr sz="1000" b="0">
                <a:solidFill>
                  <a:srgbClr val="A8B0BD"/>
                </a:solidFill>
                <a:latin typeface="Segoe UI"/>
              </a:rPr>
              <a:t> Zero of twenty RSI zones survived correction.</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Point-in-time tracking is necessary.</a:t>
            </a:r>
            <a:r>
              <a:rPr sz="1000" b="0">
                <a:solidFill>
                  <a:srgbClr val="A8B0BD"/>
                </a:solidFill>
                <a:latin typeface="Segoe UI"/>
              </a:rPr>
              <a:t> Only forward-recorded calls can be judged fairly.</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Small samples lie.</a:t>
            </a:r>
            <a:r>
              <a:rPr sz="1000" b="0">
                <a:solidFill>
                  <a:srgbClr val="A8B0BD"/>
                </a:solidFill>
                <a:latin typeface="Segoe UI"/>
              </a:rPr>
              <a:t> A four-trade improvement is not a finding.</a:t>
            </a:r>
          </a:p>
        </p:txBody>
      </p:sp>
      <p:graphicFrame>
        <p:nvGraphicFramePr>
          <p:cNvPr id="10" name="Table 9"/>
          <p:cNvGraphicFramePr>
            <a:graphicFrameLocks noGrp="1"/>
          </p:cNvGraphicFramePr>
          <p:nvPr/>
        </p:nvGraphicFramePr>
        <p:xfrm>
          <a:off x="566928" y="3410711"/>
          <a:ext cx="11057837" cy="1691640"/>
        </p:xfrm>
        <a:graphic>
          <a:graphicData uri="http://schemas.openxmlformats.org/drawingml/2006/table">
            <a:tbl>
              <a:tblPr firstRow="1" bandRow="1">
                <a:tableStyleId>{5C22544A-7EE6-4342-B048-85BDC9FD1C3A}</a:tableStyleId>
              </a:tblPr>
              <a:tblGrid>
                <a:gridCol w="3759665"/>
                <a:gridCol w="2100989"/>
                <a:gridCol w="2100989"/>
                <a:gridCol w="3096194"/>
              </a:tblGrid>
              <a:tr h="274320">
                <a:tc>
                  <a:txBody>
                    <a:bodyPr wrap="square"/>
                    <a:lstStyle/>
                    <a:p>
                      <a:pPr>
                        <a:spcAft>
                          <a:spcPts val="0"/>
                        </a:spcAft>
                      </a:pPr>
                      <a:r>
                        <a:rPr sz="750" b="0">
                          <a:solidFill>
                            <a:srgbClr val="727C8C"/>
                          </a:solidFill>
                          <a:latin typeface="Consolas"/>
                        </a:rPr>
                        <a:t>SLIPPAGE ASSUMPTION</a:t>
                      </a:r>
                    </a:p>
                  </a:txBody>
                  <a:tcPr marL="82296" marR="82296" marT="36576" marB="36576" anchor="ctr">
                    <a:solidFill>
                      <a:srgbClr val="12161D"/>
                    </a:solidFill>
                  </a:tcPr>
                </a:tc>
                <a:tc>
                  <a:txBody>
                    <a:bodyPr wrap="square"/>
                    <a:lstStyle/>
                    <a:p>
                      <a:pPr algn="r">
                        <a:spcAft>
                          <a:spcPts val="0"/>
                        </a:spcAft>
                      </a:pPr>
                      <a:r>
                        <a:rPr sz="750" b="0">
                          <a:solidFill>
                            <a:srgbClr val="727C8C"/>
                          </a:solidFill>
                          <a:latin typeface="Consolas"/>
                        </a:rPr>
                        <a:t>PROFIT FACTOR</a:t>
                      </a:r>
                    </a:p>
                  </a:txBody>
                  <a:tcPr marL="82296" marR="82296" marT="36576" marB="36576" anchor="ctr">
                    <a:solidFill>
                      <a:srgbClr val="12161D"/>
                    </a:solidFill>
                  </a:tcPr>
                </a:tc>
                <a:tc>
                  <a:txBody>
                    <a:bodyPr wrap="square"/>
                    <a:lstStyle/>
                    <a:p>
                      <a:pPr algn="r">
                        <a:spcAft>
                          <a:spcPts val="0"/>
                        </a:spcAft>
                      </a:pPr>
                      <a:r>
                        <a:rPr sz="750" b="0">
                          <a:solidFill>
                            <a:srgbClr val="727C8C"/>
                          </a:solidFill>
                          <a:latin typeface="Consolas"/>
                        </a:rPr>
                        <a:t>EXPECTANCY</a:t>
                      </a:r>
                    </a:p>
                  </a:txBody>
                  <a:tcPr marL="82296" marR="82296" marT="36576" marB="36576" anchor="ctr">
                    <a:solidFill>
                      <a:srgbClr val="12161D"/>
                    </a:solidFill>
                  </a:tcPr>
                </a:tc>
                <a:tc>
                  <a:txBody>
                    <a:bodyPr wrap="square"/>
                    <a:lstStyle/>
                    <a:p>
                      <a:pPr>
                        <a:spcAft>
                          <a:spcPts val="0"/>
                        </a:spcAft>
                      </a:pPr>
                      <a:r>
                        <a:rPr sz="750" b="0">
                          <a:solidFill>
                            <a:srgbClr val="727C8C"/>
                          </a:solidFill>
                          <a:latin typeface="Consolas"/>
                        </a:rPr>
                        <a:t>VERDICT</a:t>
                      </a:r>
                    </a:p>
                  </a:txBody>
                  <a:tcPr marL="82296" marR="82296" marT="36576" marB="36576" anchor="ctr">
                    <a:solidFill>
                      <a:srgbClr val="12161D"/>
                    </a:solidFill>
                  </a:tcPr>
                </a:tc>
              </a:tr>
              <a:tr h="283464">
                <a:tc>
                  <a:txBody>
                    <a:bodyPr wrap="square"/>
                    <a:lstStyle/>
                    <a:p>
                      <a:pPr>
                        <a:lnSpc>
                          <a:spcPct val="115000"/>
                        </a:lnSpc>
                        <a:spcAft>
                          <a:spcPts val="0"/>
                        </a:spcAft>
                      </a:pPr>
                      <a:r>
                        <a:rPr sz="950" b="1">
                          <a:solidFill>
                            <a:srgbClr val="E9E7E2"/>
                          </a:solidFill>
                          <a:latin typeface="Segoe UI"/>
                        </a:rPr>
                        <a:t>Zero cost (unrealistic)</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4E9E78"/>
                          </a:solidFill>
                          <a:latin typeface="Consolas"/>
                        </a:rPr>
                        <a:t>1.173</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₹397</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Fantasy baseline</a:t>
                      </a:r>
                    </a:p>
                  </a:txBody>
                  <a:tcPr marL="82296" marR="82296" marT="27432" marB="27432" anchor="ctr">
                    <a:solidFill>
                      <a:srgbClr val="171C25"/>
                    </a:solidFill>
                  </a:tcPr>
                </a:tc>
              </a:tr>
              <a:tr h="283464">
                <a:tc>
                  <a:txBody>
                    <a:bodyPr wrap="square"/>
                    <a:lstStyle/>
                    <a:p>
                      <a:pPr>
                        <a:lnSpc>
                          <a:spcPct val="115000"/>
                        </a:lnSpc>
                        <a:spcAft>
                          <a:spcPts val="0"/>
                        </a:spcAft>
                      </a:pPr>
                      <a:r>
                        <a:rPr sz="950" b="1">
                          <a:solidFill>
                            <a:srgbClr val="E9E7E2"/>
                          </a:solidFill>
                          <a:latin typeface="Segoe UI"/>
                        </a:rPr>
                        <a:t>2 bps — production assumption</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4E9E78"/>
                          </a:solidFill>
                          <a:latin typeface="Consolas"/>
                        </a:rPr>
                        <a:t>1.141</a:t>
                      </a:r>
                    </a:p>
                  </a:txBody>
                  <a:tcPr marL="82296" marR="82296" marT="27432" marB="27432" anchor="ctr">
                    <a:solidFill>
                      <a:srgbClr val="1A1F29"/>
                    </a:solidFill>
                  </a:tcPr>
                </a:tc>
                <a:tc>
                  <a:txBody>
                    <a:bodyPr wrap="square"/>
                    <a:lstStyle/>
                    <a:p>
                      <a:pPr algn="r">
                        <a:lnSpc>
                          <a:spcPct val="115000"/>
                        </a:lnSpc>
                        <a:spcAft>
                          <a:spcPts val="0"/>
                        </a:spcAft>
                      </a:pPr>
                      <a:r>
                        <a:rPr sz="950" b="0">
                          <a:solidFill>
                            <a:srgbClr val="A8B0BD"/>
                          </a:solidFill>
                          <a:latin typeface="Consolas"/>
                        </a:rPr>
                        <a:t>₹329</a:t>
                      </a:r>
                    </a:p>
                  </a:txBody>
                  <a:tcPr marL="82296" marR="82296" marT="27432" marB="27432" anchor="ctr">
                    <a:solidFill>
                      <a:srgbClr val="1A1F29"/>
                    </a:solidFill>
                  </a:tcPr>
                </a:tc>
                <a:tc>
                  <a:txBody>
                    <a:bodyPr wrap="square"/>
                    <a:lstStyle/>
                    <a:p>
                      <a:pPr>
                        <a:lnSpc>
                          <a:spcPct val="115000"/>
                        </a:lnSpc>
                        <a:spcAft>
                          <a:spcPts val="0"/>
                        </a:spcAft>
                      </a:pPr>
                      <a:r>
                        <a:rPr sz="950" b="0">
                          <a:solidFill>
                            <a:srgbClr val="A8B0BD"/>
                          </a:solidFill>
                          <a:latin typeface="Segoe UI"/>
                        </a:rPr>
                        <a:t>Our headline number</a:t>
                      </a:r>
                    </a:p>
                  </a:txBody>
                  <a:tcPr marL="82296" marR="82296" marT="27432" marB="27432" anchor="ctr">
                    <a:solidFill>
                      <a:srgbClr val="1A1F29"/>
                    </a:solidFill>
                  </a:tcPr>
                </a:tc>
              </a:tr>
              <a:tr h="283464">
                <a:tc>
                  <a:txBody>
                    <a:bodyPr wrap="square"/>
                    <a:lstStyle/>
                    <a:p>
                      <a:pPr>
                        <a:lnSpc>
                          <a:spcPct val="115000"/>
                        </a:lnSpc>
                        <a:spcAft>
                          <a:spcPts val="0"/>
                        </a:spcAft>
                      </a:pPr>
                      <a:r>
                        <a:rPr sz="950" b="1">
                          <a:solidFill>
                            <a:srgbClr val="E9E7E2"/>
                          </a:solidFill>
                          <a:latin typeface="Segoe UI"/>
                        </a:rPr>
                        <a:t>10 bps</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1.023</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A8B0BD"/>
                          </a:solidFill>
                          <a:latin typeface="Consolas"/>
                        </a:rPr>
                        <a:t>₹56</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Edge nearly gone</a:t>
                      </a:r>
                    </a:p>
                  </a:txBody>
                  <a:tcPr marL="82296" marR="82296" marT="27432" marB="27432" anchor="ctr">
                    <a:solidFill>
                      <a:srgbClr val="171C25"/>
                    </a:solidFill>
                  </a:tcPr>
                </a:tc>
              </a:tr>
              <a:tr h="283464">
                <a:tc>
                  <a:txBody>
                    <a:bodyPr wrap="square"/>
                    <a:lstStyle/>
                    <a:p>
                      <a:pPr>
                        <a:lnSpc>
                          <a:spcPct val="115000"/>
                        </a:lnSpc>
                        <a:spcAft>
                          <a:spcPts val="0"/>
                        </a:spcAft>
                      </a:pPr>
                      <a:r>
                        <a:rPr sz="950" b="1">
                          <a:solidFill>
                            <a:srgbClr val="E9E7E2"/>
                          </a:solidFill>
                          <a:latin typeface="Segoe UI"/>
                        </a:rPr>
                        <a:t>20 bps</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CC6152"/>
                          </a:solidFill>
                          <a:latin typeface="Consolas"/>
                        </a:rPr>
                        <a:t>0.895</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CC6152"/>
                          </a:solidFill>
                          <a:latin typeface="Consolas"/>
                        </a:rPr>
                        <a:t>−₹282</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Loses money</a:t>
                      </a:r>
                    </a:p>
                  </a:txBody>
                  <a:tcPr marL="82296" marR="82296" marT="27432" marB="27432" anchor="ctr">
                    <a:solidFill>
                      <a:srgbClr val="171C25"/>
                    </a:solidFill>
                  </a:tcPr>
                </a:tc>
              </a:tr>
              <a:tr h="283464">
                <a:tc>
                  <a:txBody>
                    <a:bodyPr wrap="square"/>
                    <a:lstStyle/>
                    <a:p>
                      <a:pPr>
                        <a:lnSpc>
                          <a:spcPct val="115000"/>
                        </a:lnSpc>
                        <a:spcAft>
                          <a:spcPts val="0"/>
                        </a:spcAft>
                      </a:pPr>
                      <a:r>
                        <a:rPr sz="950" b="1">
                          <a:solidFill>
                            <a:srgbClr val="E9E7E2"/>
                          </a:solidFill>
                          <a:latin typeface="Segoe UI"/>
                        </a:rPr>
                        <a:t>Realistic brokerage stack</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CC6152"/>
                          </a:solidFill>
                          <a:latin typeface="Consolas"/>
                        </a:rPr>
                        <a:t>0.941</a:t>
                      </a:r>
                    </a:p>
                  </a:txBody>
                  <a:tcPr marL="82296" marR="82296" marT="27432" marB="27432" anchor="ctr">
                    <a:solidFill>
                      <a:srgbClr val="171C25"/>
                    </a:solidFill>
                  </a:tcPr>
                </a:tc>
                <a:tc>
                  <a:txBody>
                    <a:bodyPr wrap="square"/>
                    <a:lstStyle/>
                    <a:p>
                      <a:pPr algn="r">
                        <a:lnSpc>
                          <a:spcPct val="115000"/>
                        </a:lnSpc>
                        <a:spcAft>
                          <a:spcPts val="0"/>
                        </a:spcAft>
                      </a:pPr>
                      <a:r>
                        <a:rPr sz="950" b="0">
                          <a:solidFill>
                            <a:srgbClr val="CC6152"/>
                          </a:solidFill>
                          <a:latin typeface="Consolas"/>
                        </a:rPr>
                        <a:t>−₹153</a:t>
                      </a:r>
                    </a:p>
                  </a:txBody>
                  <a:tcPr marL="82296" marR="82296" marT="27432" marB="27432" anchor="ctr">
                    <a:solidFill>
                      <a:srgbClr val="171C25"/>
                    </a:solidFill>
                  </a:tcPr>
                </a:tc>
                <a:tc>
                  <a:txBody>
                    <a:bodyPr wrap="square"/>
                    <a:lstStyle/>
                    <a:p>
                      <a:pPr>
                        <a:lnSpc>
                          <a:spcPct val="115000"/>
                        </a:lnSpc>
                        <a:spcAft>
                          <a:spcPts val="0"/>
                        </a:spcAft>
                      </a:pPr>
                      <a:r>
                        <a:rPr sz="950" b="0">
                          <a:solidFill>
                            <a:srgbClr val="A8B0BD"/>
                          </a:solidFill>
                          <a:latin typeface="Segoe UI"/>
                        </a:rPr>
                        <a:t>Loses money</a:t>
                      </a:r>
                    </a:p>
                  </a:txBody>
                  <a:tcPr marL="82296" marR="82296" marT="27432" marB="27432" anchor="ctr">
                    <a:solidFill>
                      <a:srgbClr val="171C25"/>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18  ·  PRODUCT</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What has actually been built</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536192"/>
            <a:ext cx="3429914" cy="21945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68096" y="1700784"/>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PLATFORM</a:t>
            </a:r>
          </a:p>
        </p:txBody>
      </p:sp>
      <p:sp>
        <p:nvSpPr>
          <p:cNvPr id="8" name="Rectangle 7"/>
          <p:cNvSpPr/>
          <p:nvPr/>
        </p:nvSpPr>
        <p:spPr>
          <a:xfrm>
            <a:off x="3320186" y="1673352"/>
            <a:ext cx="475488" cy="192024"/>
          </a:xfrm>
          <a:prstGeom prst="rect">
            <a:avLst/>
          </a:prstGeom>
          <a:solidFill>
            <a:srgbClr val="14231C"/>
          </a:solidFill>
          <a:ln w="7620">
            <a:solidFill>
              <a:srgbClr val="4E9E7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35000"/>
              </a:lnSpc>
              <a:spcBef>
                <a:spcPts val="0"/>
              </a:spcBef>
              <a:spcAft>
                <a:spcPts val="0"/>
              </a:spcAft>
            </a:pPr>
            <a:r>
              <a:rPr sz="750" b="0" i="0" spc="100">
                <a:solidFill>
                  <a:srgbClr val="4E9E78"/>
                </a:solidFill>
                <a:latin typeface="Consolas"/>
              </a:rPr>
              <a:t>BUILT</a:t>
            </a:r>
          </a:p>
        </p:txBody>
      </p:sp>
      <p:sp>
        <p:nvSpPr>
          <p:cNvPr id="9" name="TextBox 8"/>
          <p:cNvSpPr txBox="1"/>
          <p:nvPr/>
        </p:nvSpPr>
        <p:spPr>
          <a:xfrm>
            <a:off x="768096" y="1993392"/>
            <a:ext cx="3027578" cy="160934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API backend</a:t>
            </a:r>
            <a:r>
              <a:rPr sz="1000" b="0">
                <a:solidFill>
                  <a:srgbClr val="A8B0BD"/>
                </a:solidFill>
                <a:latin typeface="Segoe UI"/>
              </a:rPr>
              <a:t> — runs the full analysis per symbol, with caching</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Web frontend</a:t>
            </a:r>
            <a:r>
              <a:rPr sz="1000" b="0">
                <a:solidFill>
                  <a:srgbClr val="A8B0BD"/>
                </a:solidFill>
                <a:latin typeface="Segoe UI"/>
              </a:rPr>
              <a:t> — charts, holdings, pattern drawers, date controls</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Authentication</a:t>
            </a:r>
            <a:r>
              <a:rPr sz="1000" b="0">
                <a:solidFill>
                  <a:srgbClr val="A8B0BD"/>
                </a:solidFill>
                <a:latin typeface="Segoe UI"/>
              </a:rPr>
              <a:t> — multi-user accounts</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Market-context toggle</a:t>
            </a:r>
            <a:r>
              <a:rPr sz="1000" b="0">
                <a:solidFill>
                  <a:srgbClr val="A8B0BD"/>
                </a:solidFill>
                <a:latin typeface="Segoe UI"/>
              </a:rPr>
              <a:t> — market-aware vs stock-only view</a:t>
            </a:r>
          </a:p>
        </p:txBody>
      </p:sp>
      <p:sp>
        <p:nvSpPr>
          <p:cNvPr id="10" name="Rectangle 9"/>
          <p:cNvSpPr/>
          <p:nvPr/>
        </p:nvSpPr>
        <p:spPr>
          <a:xfrm>
            <a:off x="4380890" y="1536192"/>
            <a:ext cx="3429914" cy="21945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82058" y="1700784"/>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TRADING &amp; MARKET DATA</a:t>
            </a:r>
          </a:p>
        </p:txBody>
      </p:sp>
      <p:sp>
        <p:nvSpPr>
          <p:cNvPr id="12" name="Rectangle 11"/>
          <p:cNvSpPr/>
          <p:nvPr/>
        </p:nvSpPr>
        <p:spPr>
          <a:xfrm>
            <a:off x="7134148" y="1673352"/>
            <a:ext cx="475488" cy="192024"/>
          </a:xfrm>
          <a:prstGeom prst="rect">
            <a:avLst/>
          </a:prstGeom>
          <a:solidFill>
            <a:srgbClr val="14231C"/>
          </a:solidFill>
          <a:ln w="7620">
            <a:solidFill>
              <a:srgbClr val="4E9E7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35000"/>
              </a:lnSpc>
              <a:spcBef>
                <a:spcPts val="0"/>
              </a:spcBef>
              <a:spcAft>
                <a:spcPts val="0"/>
              </a:spcAft>
            </a:pPr>
            <a:r>
              <a:rPr sz="750" b="0" i="0" spc="100">
                <a:solidFill>
                  <a:srgbClr val="4E9E78"/>
                </a:solidFill>
                <a:latin typeface="Consolas"/>
              </a:rPr>
              <a:t>BUILT</a:t>
            </a:r>
          </a:p>
        </p:txBody>
      </p:sp>
      <p:sp>
        <p:nvSpPr>
          <p:cNvPr id="13" name="TextBox 12"/>
          <p:cNvSpPr txBox="1"/>
          <p:nvPr/>
        </p:nvSpPr>
        <p:spPr>
          <a:xfrm>
            <a:off x="4582058" y="1993392"/>
            <a:ext cx="3027578" cy="160934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Paper trading</a:t>
            </a:r>
            <a:r>
              <a:rPr sz="1000" b="0">
                <a:solidFill>
                  <a:srgbClr val="A8B0BD"/>
                </a:solidFill>
                <a:latin typeface="Segoe UI"/>
              </a:rPr>
              <a:t> — orders, pending orders, positions, auto-execution</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Live broker quotes</a:t>
            </a:r>
            <a:r>
              <a:rPr sz="1000" b="0">
                <a:solidFill>
                  <a:srgbClr val="A8B0BD"/>
                </a:solidFill>
                <a:latin typeface="Segoe UI"/>
              </a:rPr>
              <a:t> — real-time prices and streaming feed</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Ledger &amp; XIRR</a:t>
            </a:r>
            <a:r>
              <a:rPr sz="1000" b="0">
                <a:solidFill>
                  <a:srgbClr val="A8B0BD"/>
                </a:solidFill>
                <a:latin typeface="Segoe UI"/>
              </a:rPr>
              <a:t> — realised, time-weighted returns</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NSE market information</a:t>
            </a:r>
            <a:r>
              <a:rPr sz="1000" b="0">
                <a:solidFill>
                  <a:srgbClr val="A8B0BD"/>
                </a:solidFill>
                <a:latin typeface="Segoe UI"/>
              </a:rPr>
              <a:t> — bulk &amp; block deals, market depth</a:t>
            </a:r>
          </a:p>
        </p:txBody>
      </p:sp>
      <p:sp>
        <p:nvSpPr>
          <p:cNvPr id="14" name="Rectangle 13"/>
          <p:cNvSpPr/>
          <p:nvPr/>
        </p:nvSpPr>
        <p:spPr>
          <a:xfrm>
            <a:off x="8194852" y="1536192"/>
            <a:ext cx="3429914" cy="21945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396020" y="1700784"/>
            <a:ext cx="3027578"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AI LAYER</a:t>
            </a:r>
          </a:p>
        </p:txBody>
      </p:sp>
      <p:sp>
        <p:nvSpPr>
          <p:cNvPr id="16" name="Rectangle 15"/>
          <p:cNvSpPr/>
          <p:nvPr/>
        </p:nvSpPr>
        <p:spPr>
          <a:xfrm>
            <a:off x="10948111" y="1673352"/>
            <a:ext cx="475488" cy="192024"/>
          </a:xfrm>
          <a:prstGeom prst="rect">
            <a:avLst/>
          </a:prstGeom>
          <a:solidFill>
            <a:srgbClr val="14231C"/>
          </a:solidFill>
          <a:ln w="7620">
            <a:solidFill>
              <a:srgbClr val="4E9E7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35000"/>
              </a:lnSpc>
              <a:spcBef>
                <a:spcPts val="0"/>
              </a:spcBef>
              <a:spcAft>
                <a:spcPts val="0"/>
              </a:spcAft>
            </a:pPr>
            <a:r>
              <a:rPr sz="750" b="0" i="0" spc="100">
                <a:solidFill>
                  <a:srgbClr val="4E9E78"/>
                </a:solidFill>
                <a:latin typeface="Consolas"/>
              </a:rPr>
              <a:t>BUILT</a:t>
            </a:r>
          </a:p>
        </p:txBody>
      </p:sp>
      <p:sp>
        <p:nvSpPr>
          <p:cNvPr id="17" name="TextBox 16"/>
          <p:cNvSpPr txBox="1"/>
          <p:nvPr/>
        </p:nvSpPr>
        <p:spPr>
          <a:xfrm>
            <a:off x="8396020" y="1993392"/>
            <a:ext cx="3027578" cy="160934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Claude chat</a:t>
            </a:r>
            <a:r>
              <a:rPr sz="1000" b="0">
                <a:solidFill>
                  <a:srgbClr val="A8B0BD"/>
                </a:solidFill>
                <a:latin typeface="Segoe UI"/>
              </a:rPr>
              <a:t> — grounded in the current analysis payload</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Quick &amp; deep takes</a:t>
            </a:r>
            <a:r>
              <a:rPr sz="1000" b="0">
                <a:solidFill>
                  <a:srgbClr val="A8B0BD"/>
                </a:solidFill>
                <a:latin typeface="Segoe UI"/>
              </a:rPr>
              <a:t> — per-position assessments, cached, view-aware</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Rule &amp; backtest tools</a:t>
            </a:r>
            <a:r>
              <a:rPr sz="1000" b="0">
                <a:solidFill>
                  <a:srgbClr val="A8B0BD"/>
                </a:solidFill>
                <a:latin typeface="Segoe UI"/>
              </a:rPr>
              <a:t> — Claude can test a proposed rule for real</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Validation steward</a:t>
            </a:r>
            <a:r>
              <a:rPr sz="1000" b="0">
                <a:solidFill>
                  <a:srgbClr val="A8B0BD"/>
                </a:solidFill>
                <a:latin typeface="Segoe UI"/>
              </a:rPr>
              <a:t> — propose-only; can disable, never re-enable</a:t>
            </a:r>
          </a:p>
        </p:txBody>
      </p:sp>
      <p:sp>
        <p:nvSpPr>
          <p:cNvPr id="18" name="Rectangle 17"/>
          <p:cNvSpPr/>
          <p:nvPr/>
        </p:nvSpPr>
        <p:spPr>
          <a:xfrm>
            <a:off x="566928" y="3931920"/>
            <a:ext cx="11057839" cy="822960"/>
          </a:xfrm>
          <a:prstGeom prst="rect">
            <a:avLst/>
          </a:prstGeom>
          <a:solidFill>
            <a:srgbClr val="12161D"/>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66928" y="3931920"/>
            <a:ext cx="25000" cy="82296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68096" y="4069080"/>
            <a:ext cx="10655503" cy="566928"/>
          </a:xfrm>
          <a:prstGeom prst="rect">
            <a:avLst/>
          </a:prstGeom>
          <a:noFill/>
        </p:spPr>
        <p:txBody>
          <a:bodyPr wrap="square" lIns="0" rIns="0" tIns="0" bIns="0" anchor="t">
            <a:spAutoFit/>
          </a:bodyPr>
          <a:lstStyle/>
          <a:p>
            <a:pPr>
              <a:lnSpc>
                <a:spcPct val="140000"/>
              </a:lnSpc>
              <a:spcBef>
                <a:spcPts val="0"/>
              </a:spcBef>
              <a:spcAft>
                <a:spcPts val="0"/>
              </a:spcAft>
            </a:pPr>
            <a:r>
              <a:rPr sz="1050" b="0">
                <a:solidFill>
                  <a:srgbClr val="A8B0BD"/>
                </a:solidFill>
                <a:latin typeface="Segoe UI"/>
              </a:rPr>
              <a:t>The AI is not a chatbot bolted on top. When a user proposes "what if I only bought breakouts above the 50-day average?", that rule is compiled and run through the same simulator that produced every number in this deck — the answer comes back with real trade counts, not a guess.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19  ·  NEXT STEP</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Automated point-in-time paper trading</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7744968" y="768096"/>
            <a:ext cx="621792" cy="192024"/>
          </a:xfrm>
          <a:prstGeom prst="rect">
            <a:avLst/>
          </a:prstGeom>
          <a:solidFill>
            <a:srgbClr val="131E23"/>
          </a:solidFill>
          <a:ln w="7620">
            <a:solidFill>
              <a:srgbClr val="7FA8B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35000"/>
              </a:lnSpc>
              <a:spcBef>
                <a:spcPts val="0"/>
              </a:spcBef>
              <a:spcAft>
                <a:spcPts val="0"/>
              </a:spcAft>
            </a:pPr>
            <a:r>
              <a:rPr sz="750" b="0" i="0" spc="100">
                <a:solidFill>
                  <a:srgbClr val="7FA8BC"/>
                </a:solidFill>
                <a:latin typeface="Consolas"/>
              </a:rPr>
              <a:t>PROPOSED LOOP</a:t>
            </a:r>
          </a:p>
        </p:txBody>
      </p:sp>
      <p:sp>
        <p:nvSpPr>
          <p:cNvPr id="7" name="TextBox 6"/>
          <p:cNvSpPr txBox="1"/>
          <p:nvPr/>
        </p:nvSpPr>
        <p:spPr>
          <a:xfrm>
            <a:off x="566928" y="1536192"/>
            <a:ext cx="11057839" cy="320040"/>
          </a:xfrm>
          <a:prstGeom prst="rect">
            <a:avLst/>
          </a:prstGeom>
          <a:noFill/>
        </p:spPr>
        <p:txBody>
          <a:bodyPr wrap="square" lIns="0" rIns="0" tIns="0" bIns="0" anchor="t">
            <a:spAutoFit/>
          </a:bodyPr>
          <a:lstStyle/>
          <a:p>
            <a:pPr>
              <a:lnSpc>
                <a:spcPct val="135000"/>
              </a:lnSpc>
              <a:spcBef>
                <a:spcPts val="0"/>
              </a:spcBef>
              <a:spcAft>
                <a:spcPts val="0"/>
              </a:spcAft>
            </a:pPr>
            <a:r>
              <a:rPr sz="1150" b="0" i="0">
                <a:solidFill>
                  <a:srgbClr val="E9E7E2"/>
                </a:solidFill>
                <a:latin typeface="Segoe UI"/>
              </a:rPr>
              <a:t>The paper-trading engine exists today. What does not yet exist end-to-end is the automated loop that records a recommendation, freezes it, and grades it later against reality.</a:t>
            </a:r>
          </a:p>
        </p:txBody>
      </p:sp>
      <p:sp>
        <p:nvSpPr>
          <p:cNvPr id="8" name="Rectangle 7"/>
          <p:cNvSpPr/>
          <p:nvPr/>
        </p:nvSpPr>
        <p:spPr>
          <a:xfrm>
            <a:off x="566928" y="1993392"/>
            <a:ext cx="5528919" cy="2743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01   </a:t>
            </a:r>
            <a:r>
              <a:rPr sz="1000" b="0">
                <a:solidFill>
                  <a:srgbClr val="E9E7E2"/>
                </a:solidFill>
                <a:latin typeface="Segoe UI"/>
              </a:rPr>
              <a:t>Daily candles close</a:t>
            </a:r>
          </a:p>
        </p:txBody>
      </p:sp>
      <p:sp>
        <p:nvSpPr>
          <p:cNvPr id="9" name="TextBox 8"/>
          <p:cNvSpPr txBox="1"/>
          <p:nvPr/>
        </p:nvSpPr>
        <p:spPr>
          <a:xfrm>
            <a:off x="3947007" y="2039111"/>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after market hours</a:t>
            </a:r>
          </a:p>
        </p:txBody>
      </p:sp>
      <p:sp>
        <p:nvSpPr>
          <p:cNvPr id="10" name="Rectangle 9"/>
          <p:cNvSpPr/>
          <p:nvPr/>
        </p:nvSpPr>
        <p:spPr>
          <a:xfrm>
            <a:off x="3326887" y="2267712"/>
            <a:ext cx="9000" cy="77724"/>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Isosceles Triangle 10"/>
          <p:cNvSpPr/>
          <p:nvPr/>
        </p:nvSpPr>
        <p:spPr>
          <a:xfrm rot="10800000">
            <a:off x="3285667" y="2295144"/>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66928" y="2345436"/>
            <a:ext cx="5528919" cy="2743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02   </a:t>
            </a:r>
            <a:r>
              <a:rPr sz="1000" b="0">
                <a:solidFill>
                  <a:srgbClr val="E9E7E2"/>
                </a:solidFill>
                <a:latin typeface="Segoe UI"/>
              </a:rPr>
              <a:t>Run strategy across the universe</a:t>
            </a:r>
          </a:p>
        </p:txBody>
      </p:sp>
      <p:sp>
        <p:nvSpPr>
          <p:cNvPr id="13" name="TextBox 12"/>
          <p:cNvSpPr txBox="1"/>
          <p:nvPr/>
        </p:nvSpPr>
        <p:spPr>
          <a:xfrm>
            <a:off x="3947007" y="2391155"/>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scheduled job</a:t>
            </a:r>
          </a:p>
        </p:txBody>
      </p:sp>
      <p:sp>
        <p:nvSpPr>
          <p:cNvPr id="14" name="Rectangle 13"/>
          <p:cNvSpPr/>
          <p:nvPr/>
        </p:nvSpPr>
        <p:spPr>
          <a:xfrm>
            <a:off x="3326887" y="2619756"/>
            <a:ext cx="9000" cy="77724"/>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Isosceles Triangle 14"/>
          <p:cNvSpPr/>
          <p:nvPr/>
        </p:nvSpPr>
        <p:spPr>
          <a:xfrm rot="10800000">
            <a:off x="3285667" y="2647188"/>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566928" y="2697480"/>
            <a:ext cx="5528919" cy="2743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03   </a:t>
            </a:r>
            <a:r>
              <a:rPr sz="1000" b="0">
                <a:solidFill>
                  <a:srgbClr val="E9E7E2"/>
                </a:solidFill>
                <a:latin typeface="Segoe UI"/>
              </a:rPr>
              <a:t>Generate recommendation</a:t>
            </a:r>
          </a:p>
        </p:txBody>
      </p:sp>
      <p:sp>
        <p:nvSpPr>
          <p:cNvPr id="17" name="TextBox 16"/>
          <p:cNvSpPr txBox="1"/>
          <p:nvPr/>
        </p:nvSpPr>
        <p:spPr>
          <a:xfrm>
            <a:off x="3947007" y="2743199"/>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side · entry · SL · TP</a:t>
            </a:r>
          </a:p>
        </p:txBody>
      </p:sp>
      <p:sp>
        <p:nvSpPr>
          <p:cNvPr id="18" name="Rectangle 17"/>
          <p:cNvSpPr/>
          <p:nvPr/>
        </p:nvSpPr>
        <p:spPr>
          <a:xfrm>
            <a:off x="3326887" y="2971800"/>
            <a:ext cx="9000" cy="77724"/>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Isosceles Triangle 18"/>
          <p:cNvSpPr/>
          <p:nvPr/>
        </p:nvSpPr>
        <p:spPr>
          <a:xfrm rot="10800000">
            <a:off x="3285667" y="2999232"/>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66928" y="3049524"/>
            <a:ext cx="5528919" cy="2743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04   </a:t>
            </a:r>
            <a:r>
              <a:rPr sz="1000" b="0">
                <a:solidFill>
                  <a:srgbClr val="E9E7E2"/>
                </a:solidFill>
                <a:latin typeface="Segoe UI"/>
              </a:rPr>
              <a:t>Save immutable snapshot</a:t>
            </a:r>
          </a:p>
        </p:txBody>
      </p:sp>
      <p:sp>
        <p:nvSpPr>
          <p:cNvPr id="21" name="TextBox 20"/>
          <p:cNvSpPr txBox="1"/>
          <p:nvPr/>
        </p:nvSpPr>
        <p:spPr>
          <a:xfrm>
            <a:off x="3947007" y="3095243"/>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never edited afterwards</a:t>
            </a:r>
          </a:p>
        </p:txBody>
      </p:sp>
      <p:sp>
        <p:nvSpPr>
          <p:cNvPr id="22" name="Rectangle 21"/>
          <p:cNvSpPr/>
          <p:nvPr/>
        </p:nvSpPr>
        <p:spPr>
          <a:xfrm>
            <a:off x="3326887" y="3323844"/>
            <a:ext cx="9000" cy="77724"/>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Isosceles Triangle 22"/>
          <p:cNvSpPr/>
          <p:nvPr/>
        </p:nvSpPr>
        <p:spPr>
          <a:xfrm rot="10800000">
            <a:off x="3285667" y="3351276"/>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401568"/>
            <a:ext cx="5528919" cy="2743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05   </a:t>
            </a:r>
            <a:r>
              <a:rPr sz="1000" b="0">
                <a:solidFill>
                  <a:srgbClr val="E9E7E2"/>
                </a:solidFill>
                <a:latin typeface="Segoe UI"/>
              </a:rPr>
              <a:t>Next trading session opens</a:t>
            </a:r>
          </a:p>
        </p:txBody>
      </p:sp>
      <p:sp>
        <p:nvSpPr>
          <p:cNvPr id="25" name="TextBox 24"/>
          <p:cNvSpPr txBox="1"/>
          <p:nvPr/>
        </p:nvSpPr>
        <p:spPr>
          <a:xfrm>
            <a:off x="3947007" y="3447287"/>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the test begins</a:t>
            </a:r>
          </a:p>
        </p:txBody>
      </p:sp>
      <p:sp>
        <p:nvSpPr>
          <p:cNvPr id="26" name="Rectangle 25"/>
          <p:cNvSpPr/>
          <p:nvPr/>
        </p:nvSpPr>
        <p:spPr>
          <a:xfrm>
            <a:off x="3326887" y="3675888"/>
            <a:ext cx="9000" cy="77724"/>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Isosceles Triangle 26"/>
          <p:cNvSpPr/>
          <p:nvPr/>
        </p:nvSpPr>
        <p:spPr>
          <a:xfrm rot="10800000">
            <a:off x="3285667" y="3703320"/>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566928" y="3753612"/>
            <a:ext cx="5528919" cy="2743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06   </a:t>
            </a:r>
            <a:r>
              <a:rPr sz="1000" b="0">
                <a:solidFill>
                  <a:srgbClr val="E9E7E2"/>
                </a:solidFill>
                <a:latin typeface="Segoe UI"/>
              </a:rPr>
              <a:t>Record actual execution price</a:t>
            </a:r>
          </a:p>
        </p:txBody>
      </p:sp>
      <p:sp>
        <p:nvSpPr>
          <p:cNvPr id="29" name="TextBox 28"/>
          <p:cNvSpPr txBox="1"/>
          <p:nvPr/>
        </p:nvSpPr>
        <p:spPr>
          <a:xfrm>
            <a:off x="3947007" y="3799331"/>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separate field</a:t>
            </a:r>
          </a:p>
        </p:txBody>
      </p:sp>
      <p:sp>
        <p:nvSpPr>
          <p:cNvPr id="30" name="Rectangle 29"/>
          <p:cNvSpPr/>
          <p:nvPr/>
        </p:nvSpPr>
        <p:spPr>
          <a:xfrm>
            <a:off x="3326887" y="4027932"/>
            <a:ext cx="9000" cy="77724"/>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Isosceles Triangle 30"/>
          <p:cNvSpPr/>
          <p:nvPr/>
        </p:nvSpPr>
        <p:spPr>
          <a:xfrm rot="10800000">
            <a:off x="3285667" y="4055364"/>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566928" y="4105656"/>
            <a:ext cx="5528919" cy="2743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07   </a:t>
            </a:r>
            <a:r>
              <a:rPr sz="1000" b="0">
                <a:solidFill>
                  <a:srgbClr val="E9E7E2"/>
                </a:solidFill>
                <a:latin typeface="Segoe UI"/>
              </a:rPr>
              <a:t>Track SL / TP / expiry daily</a:t>
            </a:r>
          </a:p>
        </p:txBody>
      </p:sp>
      <p:sp>
        <p:nvSpPr>
          <p:cNvPr id="33" name="TextBox 32"/>
          <p:cNvSpPr txBox="1"/>
          <p:nvPr/>
        </p:nvSpPr>
        <p:spPr>
          <a:xfrm>
            <a:off x="3947007" y="4151375"/>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position monitor</a:t>
            </a:r>
          </a:p>
        </p:txBody>
      </p:sp>
      <p:sp>
        <p:nvSpPr>
          <p:cNvPr id="34" name="Rectangle 33"/>
          <p:cNvSpPr/>
          <p:nvPr/>
        </p:nvSpPr>
        <p:spPr>
          <a:xfrm>
            <a:off x="3326887" y="4379976"/>
            <a:ext cx="9000" cy="77724"/>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Isosceles Triangle 34"/>
          <p:cNvSpPr/>
          <p:nvPr/>
        </p:nvSpPr>
        <p:spPr>
          <a:xfrm rot="10800000">
            <a:off x="3285667" y="4407408"/>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566928" y="4457700"/>
            <a:ext cx="5528919" cy="2743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08   </a:t>
            </a:r>
            <a:r>
              <a:rPr sz="1000" b="0">
                <a:solidFill>
                  <a:srgbClr val="E9E7E2"/>
                </a:solidFill>
                <a:latin typeface="Segoe UI"/>
              </a:rPr>
              <a:t>Close paper trade, save outcome</a:t>
            </a:r>
          </a:p>
        </p:txBody>
      </p:sp>
      <p:sp>
        <p:nvSpPr>
          <p:cNvPr id="37" name="TextBox 36"/>
          <p:cNvSpPr txBox="1"/>
          <p:nvPr/>
        </p:nvSpPr>
        <p:spPr>
          <a:xfrm>
            <a:off x="3947007" y="4503419"/>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with exit reason</a:t>
            </a:r>
          </a:p>
        </p:txBody>
      </p:sp>
      <p:sp>
        <p:nvSpPr>
          <p:cNvPr id="38" name="Rectangle 37"/>
          <p:cNvSpPr/>
          <p:nvPr/>
        </p:nvSpPr>
        <p:spPr>
          <a:xfrm>
            <a:off x="3326887" y="4732020"/>
            <a:ext cx="9000" cy="77724"/>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Isosceles Triangle 38"/>
          <p:cNvSpPr/>
          <p:nvPr/>
        </p:nvSpPr>
        <p:spPr>
          <a:xfrm rot="10800000">
            <a:off x="3285667" y="4759452"/>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566928" y="4809744"/>
            <a:ext cx="5528919" cy="2743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09   </a:t>
            </a:r>
            <a:r>
              <a:rPr sz="1000" b="0">
                <a:solidFill>
                  <a:srgbClr val="E9E7E2"/>
                </a:solidFill>
                <a:latin typeface="Segoe UI"/>
              </a:rPr>
              <a:t>Weekly / monthly validation report</a:t>
            </a:r>
          </a:p>
        </p:txBody>
      </p:sp>
      <p:sp>
        <p:nvSpPr>
          <p:cNvPr id="41" name="TextBox 40"/>
          <p:cNvSpPr txBox="1"/>
          <p:nvPr/>
        </p:nvSpPr>
        <p:spPr>
          <a:xfrm>
            <a:off x="3947007" y="4855463"/>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forward-tested truth</a:t>
            </a:r>
          </a:p>
        </p:txBody>
      </p:sp>
      <p:sp>
        <p:nvSpPr>
          <p:cNvPr id="42" name="Rectangle 41"/>
          <p:cNvSpPr/>
          <p:nvPr/>
        </p:nvSpPr>
        <p:spPr>
          <a:xfrm>
            <a:off x="6479895" y="1993392"/>
            <a:ext cx="5144871" cy="1188720"/>
          </a:xfrm>
          <a:prstGeom prst="rect">
            <a:avLst/>
          </a:prstGeom>
          <a:solidFill>
            <a:srgbClr val="1C1611"/>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6479895" y="1993392"/>
            <a:ext cx="25000" cy="118872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681063" y="2130552"/>
            <a:ext cx="4742535" cy="932688"/>
          </a:xfrm>
          <a:prstGeom prst="rect">
            <a:avLst/>
          </a:prstGeom>
          <a:noFill/>
        </p:spPr>
        <p:txBody>
          <a:bodyPr wrap="square" lIns="0" rIns="0" tIns="0" bIns="0" anchor="t">
            <a:spAutoFit/>
          </a:bodyPr>
          <a:lstStyle/>
          <a:p>
            <a:pPr>
              <a:lnSpc>
                <a:spcPct val="135000"/>
              </a:lnSpc>
              <a:spcBef>
                <a:spcPts val="0"/>
              </a:spcBef>
              <a:spcAft>
                <a:spcPts val="600"/>
              </a:spcAft>
            </a:pPr>
            <a:r>
              <a:rPr sz="850" b="1" i="0" spc="110">
                <a:solidFill>
                  <a:srgbClr val="C99A3E"/>
                </a:solidFill>
                <a:latin typeface="Segoe UI"/>
              </a:rPr>
              <a:t>THE NON-NEGOTIABLE RULE</a:t>
            </a:r>
          </a:p>
          <a:p>
            <a:pPr>
              <a:lnSpc>
                <a:spcPct val="140000"/>
              </a:lnSpc>
              <a:spcBef>
                <a:spcPts val="0"/>
              </a:spcBef>
              <a:spcAft>
                <a:spcPts val="0"/>
              </a:spcAft>
            </a:pPr>
            <a:r>
              <a:rPr sz="1050" b="1">
                <a:solidFill>
                  <a:srgbClr val="E9E7E2"/>
                </a:solidFill>
                <a:latin typeface="Segoe UI"/>
              </a:rPr>
              <a:t>Recommended price ≠ execution price. </a:t>
            </a:r>
            <a:r>
              <a:rPr sz="1050" b="0">
                <a:solidFill>
                  <a:srgbClr val="A8B0BD"/>
                </a:solidFill>
                <a:latin typeface="Segoe UI"/>
              </a:rPr>
              <a:t>The recommendation is what the system said before the market opened. The execution price is what the market actually gave. Two separate stored fields — and the recommendation must never be rewritten to match the fill.</a:t>
            </a:r>
          </a:p>
        </p:txBody>
      </p:sp>
      <p:sp>
        <p:nvSpPr>
          <p:cNvPr id="45" name="Rectangle 44"/>
          <p:cNvSpPr/>
          <p:nvPr/>
        </p:nvSpPr>
        <p:spPr>
          <a:xfrm>
            <a:off x="6479895" y="3346704"/>
            <a:ext cx="5144871" cy="10515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681063" y="3511296"/>
            <a:ext cx="4742535"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WHY IMMUTABILITY IS THE WHOLE POINT</a:t>
            </a:r>
          </a:p>
        </p:txBody>
      </p:sp>
      <p:sp>
        <p:nvSpPr>
          <p:cNvPr id="47" name="TextBox 46"/>
          <p:cNvSpPr txBox="1"/>
          <p:nvPr/>
        </p:nvSpPr>
        <p:spPr>
          <a:xfrm>
            <a:off x="6681063" y="3803904"/>
            <a:ext cx="4742535" cy="466344"/>
          </a:xfrm>
          <a:prstGeom prst="rect">
            <a:avLst/>
          </a:prstGeom>
          <a:noFill/>
        </p:spPr>
        <p:txBody>
          <a:bodyPr wrap="square" lIns="0" rIns="0" tIns="0" bIns="0" anchor="t">
            <a:spAutoFit/>
          </a:bodyPr>
          <a:lstStyle/>
          <a:p>
            <a:pPr>
              <a:lnSpc>
                <a:spcPct val="138000"/>
              </a:lnSpc>
              <a:spcBef>
                <a:spcPts val="0"/>
              </a:spcBef>
              <a:spcAft>
                <a:spcPts val="600"/>
              </a:spcAft>
            </a:pPr>
            <a:r>
              <a:rPr sz="1050" b="0" i="0">
                <a:solidFill>
                  <a:srgbClr val="A8B0BD"/>
                </a:solidFill>
                <a:latin typeface="Segoe UI"/>
              </a:rPr>
              <a:t>If a recommendation can be edited after the fact, every forward test silently becomes another backtest — and backtests are exactly what just failed out of sample.</a:t>
            </a:r>
          </a:p>
        </p:txBody>
      </p:sp>
      <p:sp>
        <p:nvSpPr>
          <p:cNvPr id="48" name="Rectangle 47"/>
          <p:cNvSpPr/>
          <p:nvPr/>
        </p:nvSpPr>
        <p:spPr>
          <a:xfrm>
            <a:off x="6479895" y="4535424"/>
            <a:ext cx="5144871" cy="9601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681063" y="4700016"/>
            <a:ext cx="4742535"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STATUS TODAY</a:t>
            </a:r>
          </a:p>
        </p:txBody>
      </p:sp>
      <p:sp>
        <p:nvSpPr>
          <p:cNvPr id="50" name="TextBox 49"/>
          <p:cNvSpPr txBox="1"/>
          <p:nvPr/>
        </p:nvSpPr>
        <p:spPr>
          <a:xfrm>
            <a:off x="6681063" y="4992624"/>
            <a:ext cx="4742535" cy="374904"/>
          </a:xfrm>
          <a:prstGeom prst="rect">
            <a:avLst/>
          </a:prstGeom>
          <a:noFill/>
        </p:spPr>
        <p:txBody>
          <a:bodyPr wrap="square" lIns="0" rIns="0" tIns="0" bIns="0" anchor="t">
            <a:spAutoFit/>
          </a:bodyPr>
          <a:lstStyle/>
          <a:p/>
        </p:txBody>
      </p:sp>
      <p:sp>
        <p:nvSpPr>
          <p:cNvPr id="51" name="TextBox 50"/>
          <p:cNvSpPr txBox="1"/>
          <p:nvPr/>
        </p:nvSpPr>
        <p:spPr>
          <a:xfrm>
            <a:off x="6681063" y="4901184"/>
            <a:ext cx="4742535" cy="548640"/>
          </a:xfrm>
          <a:prstGeom prst="rect">
            <a:avLst/>
          </a:prstGeom>
          <a:noFill/>
        </p:spPr>
        <p:txBody>
          <a:bodyPr wrap="square" lIns="0" rIns="0" tIns="0" bIns="0" anchor="t">
            <a:spAutoFit/>
          </a:bodyPr>
          <a:lstStyle/>
          <a:p>
            <a:pPr>
              <a:lnSpc>
                <a:spcPct val="135000"/>
              </a:lnSpc>
              <a:spcBef>
                <a:spcPts val="0"/>
              </a:spcBef>
              <a:spcAft>
                <a:spcPts val="400"/>
              </a:spcAft>
            </a:pPr>
            <a:r>
              <a:rPr sz="950" b="0">
                <a:solidFill>
                  <a:srgbClr val="4E9E78"/>
                </a:solidFill>
                <a:latin typeface="Consolas"/>
              </a:rPr>
              <a:t>Built      </a:t>
            </a:r>
            <a:r>
              <a:rPr sz="950" b="0">
                <a:solidFill>
                  <a:srgbClr val="A8B0BD"/>
                </a:solidFill>
                <a:latin typeface="Consolas"/>
              </a:rPr>
              <a:t>Paper orders, positions, auto-executor, ledger</a:t>
            </a:r>
          </a:p>
          <a:p>
            <a:pPr>
              <a:lnSpc>
                <a:spcPct val="135000"/>
              </a:lnSpc>
              <a:spcBef>
                <a:spcPts val="0"/>
              </a:spcBef>
              <a:spcAft>
                <a:spcPts val="0"/>
              </a:spcAft>
            </a:pPr>
            <a:r>
              <a:rPr sz="950" b="0">
                <a:solidFill>
                  <a:srgbClr val="C99A3E"/>
                </a:solidFill>
                <a:latin typeface="Consolas"/>
              </a:rPr>
              <a:t>Missing    </a:t>
            </a:r>
            <a:r>
              <a:rPr sz="950" b="0">
                <a:solidFill>
                  <a:srgbClr val="A8B0BD"/>
                </a:solidFill>
                <a:latin typeface="Consolas"/>
              </a:rPr>
              <a:t>Scheduled daily run, immutable snapshot store, automated grading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20  ·  RESEARCH AGENDA</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Daily strategy candidates</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6144768" y="768096"/>
            <a:ext cx="530352" cy="192024"/>
          </a:xfrm>
          <a:prstGeom prst="rect">
            <a:avLst/>
          </a:prstGeom>
          <a:solidFill>
            <a:srgbClr val="131E23"/>
          </a:solidFill>
          <a:ln w="7620">
            <a:solidFill>
              <a:srgbClr val="7FA8B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35000"/>
              </a:lnSpc>
              <a:spcBef>
                <a:spcPts val="0"/>
              </a:spcBef>
              <a:spcAft>
                <a:spcPts val="0"/>
              </a:spcAft>
            </a:pPr>
            <a:r>
              <a:rPr sz="750" b="0" i="0" spc="100">
                <a:solidFill>
                  <a:srgbClr val="7FA8BC"/>
                </a:solidFill>
                <a:latin typeface="Consolas"/>
              </a:rPr>
              <a:t>RESEARCH</a:t>
            </a:r>
          </a:p>
        </p:txBody>
      </p:sp>
      <p:graphicFrame>
        <p:nvGraphicFramePr>
          <p:cNvPr id="7" name="Table 6"/>
          <p:cNvGraphicFramePr>
            <a:graphicFrameLocks noGrp="1"/>
          </p:cNvGraphicFramePr>
          <p:nvPr/>
        </p:nvGraphicFramePr>
        <p:xfrm>
          <a:off x="566928" y="1536192"/>
          <a:ext cx="11057837" cy="2688336"/>
        </p:xfrm>
        <a:graphic>
          <a:graphicData uri="http://schemas.openxmlformats.org/drawingml/2006/table">
            <a:tbl>
              <a:tblPr firstRow="1" bandRow="1">
                <a:tableStyleId>{5C22544A-7EE6-4342-B048-85BDC9FD1C3A}</a:tableStyleId>
              </a:tblPr>
              <a:tblGrid>
                <a:gridCol w="2322146"/>
                <a:gridCol w="2432724"/>
                <a:gridCol w="2322146"/>
                <a:gridCol w="2653881"/>
                <a:gridCol w="1326940"/>
              </a:tblGrid>
              <a:tr h="274320">
                <a:tc>
                  <a:txBody>
                    <a:bodyPr wrap="square"/>
                    <a:lstStyle/>
                    <a:p>
                      <a:pPr>
                        <a:spcAft>
                          <a:spcPts val="0"/>
                        </a:spcAft>
                      </a:pPr>
                      <a:r>
                        <a:rPr sz="750" b="0">
                          <a:solidFill>
                            <a:srgbClr val="727C8C"/>
                          </a:solidFill>
                          <a:latin typeface="Consolas"/>
                        </a:rPr>
                        <a:t>STRATEGY</a:t>
                      </a:r>
                    </a:p>
                  </a:txBody>
                  <a:tcPr marL="82296" marR="82296" marT="36576" marB="36576" anchor="ctr">
                    <a:solidFill>
                      <a:srgbClr val="12161D"/>
                    </a:solidFill>
                  </a:tcPr>
                </a:tc>
                <a:tc>
                  <a:txBody>
                    <a:bodyPr wrap="square"/>
                    <a:lstStyle/>
                    <a:p>
                      <a:pPr>
                        <a:spcAft>
                          <a:spcPts val="0"/>
                        </a:spcAft>
                      </a:pPr>
                      <a:r>
                        <a:rPr sz="750" b="0">
                          <a:solidFill>
                            <a:srgbClr val="727C8C"/>
                          </a:solidFill>
                          <a:latin typeface="Consolas"/>
                        </a:rPr>
                        <a:t>CORE IDEA</a:t>
                      </a:r>
                    </a:p>
                  </a:txBody>
                  <a:tcPr marL="82296" marR="82296" marT="36576" marB="36576" anchor="ctr">
                    <a:solidFill>
                      <a:srgbClr val="12161D"/>
                    </a:solidFill>
                  </a:tcPr>
                </a:tc>
                <a:tc>
                  <a:txBody>
                    <a:bodyPr wrap="square"/>
                    <a:lstStyle/>
                    <a:p>
                      <a:pPr>
                        <a:spcAft>
                          <a:spcPts val="0"/>
                        </a:spcAft>
                      </a:pPr>
                      <a:r>
                        <a:rPr sz="750" b="0">
                          <a:solidFill>
                            <a:srgbClr val="727C8C"/>
                          </a:solidFill>
                          <a:latin typeface="Consolas"/>
                        </a:rPr>
                        <a:t>STRENGTH</a:t>
                      </a:r>
                    </a:p>
                  </a:txBody>
                  <a:tcPr marL="82296" marR="82296" marT="36576" marB="36576" anchor="ctr">
                    <a:solidFill>
                      <a:srgbClr val="12161D"/>
                    </a:solidFill>
                  </a:tcPr>
                </a:tc>
                <a:tc>
                  <a:txBody>
                    <a:bodyPr wrap="square"/>
                    <a:lstStyle/>
                    <a:p>
                      <a:pPr>
                        <a:spcAft>
                          <a:spcPts val="0"/>
                        </a:spcAft>
                      </a:pPr>
                      <a:r>
                        <a:rPr sz="750" b="0">
                          <a:solidFill>
                            <a:srgbClr val="727C8C"/>
                          </a:solidFill>
                          <a:latin typeface="Consolas"/>
                        </a:rPr>
                        <a:t>WEAKNESS</a:t>
                      </a:r>
                    </a:p>
                  </a:txBody>
                  <a:tcPr marL="82296" marR="82296" marT="36576" marB="36576" anchor="ctr">
                    <a:solidFill>
                      <a:srgbClr val="12161D"/>
                    </a:solidFill>
                  </a:tcPr>
                </a:tc>
                <a:tc>
                  <a:txBody>
                    <a:bodyPr wrap="square"/>
                    <a:lstStyle/>
                    <a:p>
                      <a:pPr>
                        <a:spcAft>
                          <a:spcPts val="0"/>
                        </a:spcAft>
                      </a:pPr>
                      <a:r>
                        <a:rPr sz="750" b="0">
                          <a:solidFill>
                            <a:srgbClr val="727C8C"/>
                          </a:solidFill>
                          <a:latin typeface="Consolas"/>
                        </a:rPr>
                        <a:t>LONG-HORIZON FIT</a:t>
                      </a:r>
                    </a:p>
                  </a:txBody>
                  <a:tcPr marL="82296" marR="82296" marT="36576" marB="36576" anchor="ctr">
                    <a:solidFill>
                      <a:srgbClr val="12161D"/>
                    </a:solidFill>
                  </a:tcPr>
                </a:tc>
              </a:tr>
              <a:tr h="402336">
                <a:tc>
                  <a:txBody>
                    <a:bodyPr wrap="square"/>
                    <a:lstStyle/>
                    <a:p>
                      <a:pPr>
                        <a:lnSpc>
                          <a:spcPct val="115000"/>
                        </a:lnSpc>
                        <a:spcAft>
                          <a:spcPts val="0"/>
                        </a:spcAft>
                      </a:pPr>
                      <a:r>
                        <a:rPr sz="900" b="1">
                          <a:solidFill>
                            <a:srgbClr val="E9E7E2"/>
                          </a:solidFill>
                          <a:latin typeface="Segoe UI"/>
                        </a:rPr>
                        <a:t>Relative + absolute momentum</a:t>
                      </a:r>
                    </a:p>
                  </a:txBody>
                  <a:tcPr marL="82296" marR="82296" marT="27432" marB="27432" anchor="ctr">
                    <a:solidFill>
                      <a:srgbClr val="1A1F29"/>
                    </a:solidFill>
                  </a:tcPr>
                </a:tc>
                <a:tc>
                  <a:txBody>
                    <a:bodyPr wrap="square"/>
                    <a:lstStyle/>
                    <a:p>
                      <a:pPr>
                        <a:lnSpc>
                          <a:spcPct val="115000"/>
                        </a:lnSpc>
                        <a:spcAft>
                          <a:spcPts val="0"/>
                        </a:spcAft>
                      </a:pPr>
                      <a:r>
                        <a:rPr sz="900" b="0">
                          <a:solidFill>
                            <a:srgbClr val="A8B0BD"/>
                          </a:solidFill>
                          <a:latin typeface="Segoe UI"/>
                        </a:rPr>
                        <a:t>Buy what is rising, and rising faster than the market</a:t>
                      </a:r>
                    </a:p>
                  </a:txBody>
                  <a:tcPr marL="82296" marR="82296" marT="27432" marB="27432" anchor="ctr">
                    <a:solidFill>
                      <a:srgbClr val="1A1F29"/>
                    </a:solidFill>
                  </a:tcPr>
                </a:tc>
                <a:tc>
                  <a:txBody>
                    <a:bodyPr wrap="square"/>
                    <a:lstStyle/>
                    <a:p>
                      <a:pPr>
                        <a:lnSpc>
                          <a:spcPct val="115000"/>
                        </a:lnSpc>
                        <a:spcAft>
                          <a:spcPts val="0"/>
                        </a:spcAft>
                      </a:pPr>
                      <a:r>
                        <a:rPr sz="900" b="0">
                          <a:solidFill>
                            <a:srgbClr val="A8B0BD"/>
                          </a:solidFill>
                          <a:latin typeface="Segoe UI"/>
                        </a:rPr>
                        <a:t>Most persistent published anomaly; low turnover</a:t>
                      </a:r>
                    </a:p>
                  </a:txBody>
                  <a:tcPr marL="82296" marR="82296" marT="27432" marB="27432" anchor="ctr">
                    <a:solidFill>
                      <a:srgbClr val="1A1F29"/>
                    </a:solidFill>
                  </a:tcPr>
                </a:tc>
                <a:tc>
                  <a:txBody>
                    <a:bodyPr wrap="square"/>
                    <a:lstStyle/>
                    <a:p>
                      <a:pPr>
                        <a:lnSpc>
                          <a:spcPct val="115000"/>
                        </a:lnSpc>
                        <a:spcAft>
                          <a:spcPts val="0"/>
                        </a:spcAft>
                      </a:pPr>
                      <a:r>
                        <a:rPr sz="900" b="0">
                          <a:solidFill>
                            <a:srgbClr val="A8B0BD"/>
                          </a:solidFill>
                          <a:latin typeface="Segoe UI"/>
                        </a:rPr>
                        <a:t>Sharp reversals at regime turns</a:t>
                      </a:r>
                    </a:p>
                  </a:txBody>
                  <a:tcPr marL="82296" marR="82296" marT="27432" marB="27432" anchor="ctr">
                    <a:solidFill>
                      <a:srgbClr val="1A1F29"/>
                    </a:solidFill>
                  </a:tcPr>
                </a:tc>
                <a:tc>
                  <a:txBody>
                    <a:bodyPr wrap="square"/>
                    <a:lstStyle/>
                    <a:p>
                      <a:pPr>
                        <a:lnSpc>
                          <a:spcPct val="115000"/>
                        </a:lnSpc>
                        <a:spcAft>
                          <a:spcPts val="0"/>
                        </a:spcAft>
                      </a:pPr>
                      <a:r>
                        <a:rPr sz="900" b="1">
                          <a:solidFill>
                            <a:srgbClr val="4E9E78"/>
                          </a:solidFill>
                          <a:latin typeface="Segoe UI"/>
                        </a:rPr>
                        <a:t>Strong</a:t>
                      </a:r>
                    </a:p>
                  </a:txBody>
                  <a:tcPr marL="82296" marR="82296" marT="27432" marB="27432" anchor="ctr">
                    <a:solidFill>
                      <a:srgbClr val="1A1F29"/>
                    </a:solidFill>
                  </a:tcPr>
                </a:tc>
              </a:tr>
              <a:tr h="402336">
                <a:tc>
                  <a:txBody>
                    <a:bodyPr wrap="square"/>
                    <a:lstStyle/>
                    <a:p>
                      <a:pPr>
                        <a:lnSpc>
                          <a:spcPct val="115000"/>
                        </a:lnSpc>
                        <a:spcAft>
                          <a:spcPts val="0"/>
                        </a:spcAft>
                      </a:pPr>
                      <a:r>
                        <a:rPr sz="900" b="1">
                          <a:solidFill>
                            <a:srgbClr val="E9E7E2"/>
                          </a:solidFill>
                          <a:latin typeface="Segoe UI"/>
                        </a:rPr>
                        <a:t>Moving-average trend following</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Hold while price stays above a long average</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Simple, robust, few parameters</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Whipsaws in sideways markets</a:t>
                      </a:r>
                    </a:p>
                  </a:txBody>
                  <a:tcPr marL="82296" marR="82296" marT="27432" marB="27432" anchor="ctr">
                    <a:solidFill>
                      <a:srgbClr val="171C25"/>
                    </a:solidFill>
                  </a:tcPr>
                </a:tc>
                <a:tc>
                  <a:txBody>
                    <a:bodyPr wrap="square"/>
                    <a:lstStyle/>
                    <a:p>
                      <a:pPr>
                        <a:lnSpc>
                          <a:spcPct val="115000"/>
                        </a:lnSpc>
                        <a:spcAft>
                          <a:spcPts val="0"/>
                        </a:spcAft>
                      </a:pPr>
                      <a:r>
                        <a:rPr sz="900" b="1">
                          <a:solidFill>
                            <a:srgbClr val="4E9E78"/>
                          </a:solidFill>
                          <a:latin typeface="Segoe UI"/>
                        </a:rPr>
                        <a:t>Strong</a:t>
                      </a:r>
                    </a:p>
                  </a:txBody>
                  <a:tcPr marL="82296" marR="82296" marT="27432" marB="27432" anchor="ctr">
                    <a:solidFill>
                      <a:srgbClr val="171C25"/>
                    </a:solidFill>
                  </a:tcPr>
                </a:tc>
              </a:tr>
              <a:tr h="402336">
                <a:tc>
                  <a:txBody>
                    <a:bodyPr wrap="square"/>
                    <a:lstStyle/>
                    <a:p>
                      <a:pPr>
                        <a:lnSpc>
                          <a:spcPct val="115000"/>
                        </a:lnSpc>
                        <a:spcAft>
                          <a:spcPts val="0"/>
                        </a:spcAft>
                      </a:pPr>
                      <a:r>
                        <a:rPr sz="900" b="1">
                          <a:solidFill>
                            <a:srgbClr val="E9E7E2"/>
                          </a:solidFill>
                          <a:latin typeface="Segoe UI"/>
                        </a:rPr>
                        <a:t>20/50-day breakout + volume</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Enter on new range highs confirmed by volume</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Catches the start of large moves</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Many false breakouts; weak out of sample here</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Moderate</a:t>
                      </a:r>
                    </a:p>
                  </a:txBody>
                  <a:tcPr marL="82296" marR="82296" marT="27432" marB="27432" anchor="ctr">
                    <a:solidFill>
                      <a:srgbClr val="171C25"/>
                    </a:solidFill>
                  </a:tcPr>
                </a:tc>
              </a:tr>
              <a:tr h="402336">
                <a:tc>
                  <a:txBody>
                    <a:bodyPr wrap="square"/>
                    <a:lstStyle/>
                    <a:p>
                      <a:pPr>
                        <a:lnSpc>
                          <a:spcPct val="115000"/>
                        </a:lnSpc>
                        <a:spcAft>
                          <a:spcPts val="0"/>
                        </a:spcAft>
                      </a:pPr>
                      <a:r>
                        <a:rPr sz="900" b="1">
                          <a:solidFill>
                            <a:srgbClr val="E9E7E2"/>
                          </a:solidFill>
                          <a:latin typeface="Segoe UI"/>
                        </a:rPr>
                        <a:t>Pullback to moving average</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Buy dips inside an established uptrend</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Better entry price, tighter stop</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Our worst out-of-sample decliner by volume</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Moderate</a:t>
                      </a:r>
                    </a:p>
                  </a:txBody>
                  <a:tcPr marL="82296" marR="82296" marT="27432" marB="27432" anchor="ctr">
                    <a:solidFill>
                      <a:srgbClr val="171C25"/>
                    </a:solidFill>
                  </a:tcPr>
                </a:tc>
              </a:tr>
              <a:tr h="402336">
                <a:tc>
                  <a:txBody>
                    <a:bodyPr wrap="square"/>
                    <a:lstStyle/>
                    <a:p>
                      <a:pPr>
                        <a:lnSpc>
                          <a:spcPct val="115000"/>
                        </a:lnSpc>
                        <a:spcAft>
                          <a:spcPts val="0"/>
                        </a:spcAft>
                      </a:pPr>
                      <a:r>
                        <a:rPr sz="900" b="1">
                          <a:solidFill>
                            <a:srgbClr val="E9E7E2"/>
                          </a:solidFill>
                          <a:latin typeface="Segoe UI"/>
                        </a:rPr>
                        <a:t>RSI mean reversion</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Buy oversold, sell overbought</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High hit rate in ranging markets</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Fails in trends; 0 of 20 zones survived correction</a:t>
                      </a:r>
                    </a:p>
                  </a:txBody>
                  <a:tcPr marL="82296" marR="82296" marT="27432" marB="27432" anchor="ctr">
                    <a:solidFill>
                      <a:srgbClr val="171C25"/>
                    </a:solidFill>
                  </a:tcPr>
                </a:tc>
                <a:tc>
                  <a:txBody>
                    <a:bodyPr wrap="square"/>
                    <a:lstStyle/>
                    <a:p>
                      <a:pPr>
                        <a:lnSpc>
                          <a:spcPct val="115000"/>
                        </a:lnSpc>
                        <a:spcAft>
                          <a:spcPts val="0"/>
                        </a:spcAft>
                      </a:pPr>
                      <a:r>
                        <a:rPr sz="900" b="1">
                          <a:solidFill>
                            <a:srgbClr val="CC6152"/>
                          </a:solidFill>
                          <a:latin typeface="Segoe UI"/>
                        </a:rPr>
                        <a:t>Weak</a:t>
                      </a:r>
                    </a:p>
                  </a:txBody>
                  <a:tcPr marL="82296" marR="82296" marT="27432" marB="27432" anchor="ctr">
                    <a:solidFill>
                      <a:srgbClr val="171C25"/>
                    </a:solidFill>
                  </a:tcPr>
                </a:tc>
              </a:tr>
              <a:tr h="402336">
                <a:tc>
                  <a:txBody>
                    <a:bodyPr wrap="square"/>
                    <a:lstStyle/>
                    <a:p>
                      <a:pPr>
                        <a:lnSpc>
                          <a:spcPct val="115000"/>
                        </a:lnSpc>
                        <a:spcAft>
                          <a:spcPts val="0"/>
                        </a:spcAft>
                      </a:pPr>
                      <a:r>
                        <a:rPr sz="900" b="1">
                          <a:solidFill>
                            <a:srgbClr val="E9E7E2"/>
                          </a:solidFill>
                          <a:latin typeface="Segoe UI"/>
                        </a:rPr>
                        <a:t>Bollinger mean reversion</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Fade stretches away from the average</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Clear, objective entry trigger</a:t>
                      </a:r>
                    </a:p>
                  </a:txBody>
                  <a:tcPr marL="82296" marR="82296" marT="27432" marB="27432" anchor="ctr">
                    <a:solidFill>
                      <a:srgbClr val="171C25"/>
                    </a:solidFill>
                  </a:tcPr>
                </a:tc>
                <a:tc>
                  <a:txBody>
                    <a:bodyPr wrap="square"/>
                    <a:lstStyle/>
                    <a:p>
                      <a:pPr>
                        <a:lnSpc>
                          <a:spcPct val="115000"/>
                        </a:lnSpc>
                        <a:spcAft>
                          <a:spcPts val="0"/>
                        </a:spcAft>
                      </a:pPr>
                      <a:r>
                        <a:rPr sz="900" b="0">
                          <a:solidFill>
                            <a:srgbClr val="A8B0BD"/>
                          </a:solidFill>
                          <a:latin typeface="Segoe UI"/>
                        </a:rPr>
                        <a:t>Stretches keep stretching in volatile regimes</a:t>
                      </a:r>
                    </a:p>
                  </a:txBody>
                  <a:tcPr marL="82296" marR="82296" marT="27432" marB="27432" anchor="ctr">
                    <a:solidFill>
                      <a:srgbClr val="171C25"/>
                    </a:solidFill>
                  </a:tcPr>
                </a:tc>
                <a:tc>
                  <a:txBody>
                    <a:bodyPr wrap="square"/>
                    <a:lstStyle/>
                    <a:p>
                      <a:pPr>
                        <a:lnSpc>
                          <a:spcPct val="115000"/>
                        </a:lnSpc>
                        <a:spcAft>
                          <a:spcPts val="0"/>
                        </a:spcAft>
                      </a:pPr>
                      <a:r>
                        <a:rPr sz="900" b="1">
                          <a:solidFill>
                            <a:srgbClr val="CC6152"/>
                          </a:solidFill>
                          <a:latin typeface="Segoe UI"/>
                        </a:rPr>
                        <a:t>Weak</a:t>
                      </a:r>
                    </a:p>
                  </a:txBody>
                  <a:tcPr marL="82296" marR="82296" marT="27432" marB="27432" anchor="ctr">
                    <a:solidFill>
                      <a:srgbClr val="171C25"/>
                    </a:solidFill>
                  </a:tcPr>
                </a:tc>
              </a:tr>
            </a:tbl>
          </a:graphicData>
        </a:graphic>
      </p:graphicFrame>
      <p:sp>
        <p:nvSpPr>
          <p:cNvPr id="8" name="TextBox 7"/>
          <p:cNvSpPr txBox="1"/>
          <p:nvPr/>
        </p:nvSpPr>
        <p:spPr>
          <a:xfrm>
            <a:off x="566928" y="4553712"/>
            <a:ext cx="11057839" cy="274320"/>
          </a:xfrm>
          <a:prstGeom prst="rect">
            <a:avLst/>
          </a:prstGeom>
          <a:noFill/>
        </p:spPr>
        <p:txBody>
          <a:bodyPr wrap="square" lIns="0" rIns="0" tIns="0" bIns="0" anchor="t">
            <a:spAutoFit/>
          </a:bodyPr>
          <a:lstStyle/>
          <a:p>
            <a:pPr>
              <a:lnSpc>
                <a:spcPct val="135000"/>
              </a:lnSpc>
              <a:spcBef>
                <a:spcPts val="0"/>
              </a:spcBef>
              <a:spcAft>
                <a:spcPts val="0"/>
              </a:spcAft>
            </a:pPr>
            <a:r>
              <a:rPr sz="950" b="0" i="0">
                <a:solidFill>
                  <a:srgbClr val="727C8C"/>
                </a:solidFill>
                <a:latin typeface="Consolas"/>
              </a:rPr>
              <a:t>Long-horizon fit is a research prior for the next phase, informed by this audit — not a measured result.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21  ·  LEAD CANDIDATE</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Relative + absolute momentum</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7242048" y="768096"/>
            <a:ext cx="530352" cy="192024"/>
          </a:xfrm>
          <a:prstGeom prst="rect">
            <a:avLst/>
          </a:prstGeom>
          <a:solidFill>
            <a:srgbClr val="131E23"/>
          </a:solidFill>
          <a:ln w="7620">
            <a:solidFill>
              <a:srgbClr val="7FA8B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35000"/>
              </a:lnSpc>
              <a:spcBef>
                <a:spcPts val="0"/>
              </a:spcBef>
              <a:spcAft>
                <a:spcPts val="0"/>
              </a:spcAft>
            </a:pPr>
            <a:r>
              <a:rPr sz="750" b="0" i="0" spc="100">
                <a:solidFill>
                  <a:srgbClr val="7FA8BC"/>
                </a:solidFill>
                <a:latin typeface="Consolas"/>
              </a:rPr>
              <a:t>RESEARCH</a:t>
            </a:r>
          </a:p>
        </p:txBody>
      </p:sp>
      <p:sp>
        <p:nvSpPr>
          <p:cNvPr id="7" name="Rectangle 6"/>
          <p:cNvSpPr/>
          <p:nvPr/>
        </p:nvSpPr>
        <p:spPr>
          <a:xfrm>
            <a:off x="566928" y="1536192"/>
            <a:ext cx="3069613" cy="10515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 y="1700784"/>
            <a:ext cx="2667277"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ABSOLUTE MOMENTUM</a:t>
            </a:r>
          </a:p>
        </p:txBody>
      </p:sp>
      <p:sp>
        <p:nvSpPr>
          <p:cNvPr id="9" name="TextBox 8"/>
          <p:cNvSpPr txBox="1"/>
          <p:nvPr/>
        </p:nvSpPr>
        <p:spPr>
          <a:xfrm>
            <a:off x="768096" y="1993392"/>
            <a:ext cx="2667277" cy="466344"/>
          </a:xfrm>
          <a:prstGeom prst="rect">
            <a:avLst/>
          </a:prstGeom>
          <a:noFill/>
        </p:spPr>
        <p:txBody>
          <a:bodyPr wrap="square" lIns="0" rIns="0" tIns="0" bIns="0" anchor="t">
            <a:spAutoFit/>
          </a:bodyPr>
          <a:lstStyle/>
          <a:p>
            <a:pPr>
              <a:lnSpc>
                <a:spcPct val="138000"/>
              </a:lnSpc>
              <a:spcBef>
                <a:spcPts val="0"/>
              </a:spcBef>
              <a:spcAft>
                <a:spcPts val="600"/>
              </a:spcAft>
            </a:pPr>
            <a:r>
              <a:rPr sz="1050" b="0" i="0">
                <a:solidFill>
                  <a:srgbClr val="A8B0BD"/>
                </a:solidFill>
                <a:latin typeface="Segoe UI"/>
              </a:rPr>
              <a:t>"How has this stock performed on its own?" — is it up over the lookback window at all? A trend filter against itself.</a:t>
            </a:r>
          </a:p>
        </p:txBody>
      </p:sp>
      <p:sp>
        <p:nvSpPr>
          <p:cNvPr id="10" name="Rectangle 9"/>
          <p:cNvSpPr/>
          <p:nvPr/>
        </p:nvSpPr>
        <p:spPr>
          <a:xfrm>
            <a:off x="3910861" y="1536192"/>
            <a:ext cx="3069613" cy="10515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112029" y="1700784"/>
            <a:ext cx="2667277"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RELATIVE MOMENTUM</a:t>
            </a:r>
          </a:p>
        </p:txBody>
      </p:sp>
      <p:sp>
        <p:nvSpPr>
          <p:cNvPr id="12" name="TextBox 11"/>
          <p:cNvSpPr txBox="1"/>
          <p:nvPr/>
        </p:nvSpPr>
        <p:spPr>
          <a:xfrm>
            <a:off x="4112029" y="1993392"/>
            <a:ext cx="2667277" cy="466344"/>
          </a:xfrm>
          <a:prstGeom prst="rect">
            <a:avLst/>
          </a:prstGeom>
          <a:noFill/>
        </p:spPr>
        <p:txBody>
          <a:bodyPr wrap="square" lIns="0" rIns="0" tIns="0" bIns="0" anchor="t">
            <a:spAutoFit/>
          </a:bodyPr>
          <a:lstStyle/>
          <a:p>
            <a:pPr>
              <a:lnSpc>
                <a:spcPct val="138000"/>
              </a:lnSpc>
              <a:spcBef>
                <a:spcPts val="0"/>
              </a:spcBef>
              <a:spcAft>
                <a:spcPts val="600"/>
              </a:spcAft>
            </a:pPr>
            <a:r>
              <a:rPr sz="1050" b="0" i="0">
                <a:solidFill>
                  <a:srgbClr val="A8B0BD"/>
                </a:solidFill>
                <a:latin typeface="Segoe UI"/>
              </a:rPr>
              <a:t>"How has it performed compared to the market and its peers?" — a ranking, not a threshold.</a:t>
            </a:r>
          </a:p>
        </p:txBody>
      </p:sp>
      <p:sp>
        <p:nvSpPr>
          <p:cNvPr id="13" name="Rectangle 12"/>
          <p:cNvSpPr/>
          <p:nvPr/>
        </p:nvSpPr>
        <p:spPr>
          <a:xfrm>
            <a:off x="566928" y="2770632"/>
            <a:ext cx="6413546" cy="1170432"/>
          </a:xfrm>
          <a:prstGeom prst="rect">
            <a:avLst/>
          </a:prstGeom>
          <a:solidFill>
            <a:srgbClr val="1C1611"/>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566928" y="2770632"/>
            <a:ext cx="25000" cy="1170432"/>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68096" y="2907792"/>
            <a:ext cx="6011210" cy="914400"/>
          </a:xfrm>
          <a:prstGeom prst="rect">
            <a:avLst/>
          </a:prstGeom>
          <a:noFill/>
        </p:spPr>
        <p:txBody>
          <a:bodyPr wrap="square" lIns="0" rIns="0" tIns="0" bIns="0" anchor="t">
            <a:spAutoFit/>
          </a:bodyPr>
          <a:lstStyle/>
          <a:p>
            <a:pPr>
              <a:lnSpc>
                <a:spcPct val="135000"/>
              </a:lnSpc>
              <a:spcBef>
                <a:spcPts val="0"/>
              </a:spcBef>
              <a:spcAft>
                <a:spcPts val="600"/>
              </a:spcAft>
            </a:pPr>
            <a:r>
              <a:rPr sz="850" b="1" i="0" spc="110">
                <a:solidFill>
                  <a:srgbClr val="C99A3E"/>
                </a:solidFill>
                <a:latin typeface="Segoe UI"/>
              </a:rPr>
              <a:t>LOOKBACK ≠ HOLDING PERIOD</a:t>
            </a:r>
          </a:p>
          <a:p>
            <a:pPr>
              <a:lnSpc>
                <a:spcPct val="140000"/>
              </a:lnSpc>
              <a:spcBef>
                <a:spcPts val="0"/>
              </a:spcBef>
              <a:spcAft>
                <a:spcPts val="0"/>
              </a:spcAft>
            </a:pPr>
            <a:r>
              <a:rPr sz="1050" b="0">
                <a:solidFill>
                  <a:srgbClr val="A8B0BD"/>
                </a:solidFill>
                <a:latin typeface="Segoe UI"/>
              </a:rPr>
              <a:t>Candidate lookbacks of 3M / 6M / 9M / 12M describe </a:t>
            </a:r>
            <a:r>
              <a:rPr sz="1050" b="1">
                <a:solidFill>
                  <a:srgbClr val="E9E7E2"/>
                </a:solidFill>
                <a:latin typeface="Segoe UI"/>
              </a:rPr>
              <a:t>how far back we measure</a:t>
            </a:r>
            <a:r>
              <a:rPr sz="1050" b="0">
                <a:solidFill>
                  <a:srgbClr val="A8B0BD"/>
                </a:solidFill>
                <a:latin typeface="Segoe UI"/>
              </a:rPr>
              <a:t> — today's price versus the price 3, 6, 9 or 12 months ago. They say nothing about how long a position is held. The two are independent research parameters.</a:t>
            </a:r>
          </a:p>
        </p:txBody>
      </p:sp>
      <p:sp>
        <p:nvSpPr>
          <p:cNvPr id="16" name="TextBox 15"/>
          <p:cNvSpPr txBox="1"/>
          <p:nvPr/>
        </p:nvSpPr>
        <p:spPr>
          <a:xfrm>
            <a:off x="566928" y="4096512"/>
            <a:ext cx="6413546" cy="457200"/>
          </a:xfrm>
          <a:prstGeom prst="rect">
            <a:avLst/>
          </a:prstGeom>
          <a:noFill/>
        </p:spPr>
        <p:txBody>
          <a:bodyPr wrap="square" lIns="0" rIns="0" tIns="0" bIns="0" anchor="t">
            <a:spAutoFit/>
          </a:bodyPr>
          <a:lstStyle/>
          <a:p>
            <a:pPr>
              <a:lnSpc>
                <a:spcPct val="135000"/>
              </a:lnSpc>
              <a:spcBef>
                <a:spcPts val="0"/>
              </a:spcBef>
              <a:spcAft>
                <a:spcPts val="0"/>
              </a:spcAft>
            </a:pPr>
            <a:r>
              <a:rPr sz="950" b="0" i="0">
                <a:solidFill>
                  <a:srgbClr val="727C8C"/>
                </a:solidFill>
                <a:latin typeface="Consolas"/>
              </a:rPr>
              <a:t>No lookback, weighting or threshold is claimed to be optimal. All are parameters to be tested under the same walk-forward discipline applied above.</a:t>
            </a:r>
          </a:p>
        </p:txBody>
      </p:sp>
      <p:sp>
        <p:nvSpPr>
          <p:cNvPr id="17" name="Rectangle 16"/>
          <p:cNvSpPr/>
          <p:nvPr/>
        </p:nvSpPr>
        <p:spPr>
          <a:xfrm>
            <a:off x="7364522" y="1536192"/>
            <a:ext cx="4260244" cy="329184"/>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01   </a:t>
            </a:r>
            <a:r>
              <a:rPr sz="1000" b="0">
                <a:solidFill>
                  <a:srgbClr val="E9E7E2"/>
                </a:solidFill>
                <a:latin typeface="Segoe UI"/>
              </a:rPr>
              <a:t>Fundamental universe</a:t>
            </a:r>
          </a:p>
        </p:txBody>
      </p:sp>
      <p:sp>
        <p:nvSpPr>
          <p:cNvPr id="18" name="TextBox 17"/>
          <p:cNvSpPr txBox="1"/>
          <p:nvPr/>
        </p:nvSpPr>
        <p:spPr>
          <a:xfrm>
            <a:off x="9475927" y="1609343"/>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quality screen</a:t>
            </a:r>
          </a:p>
        </p:txBody>
      </p:sp>
      <p:sp>
        <p:nvSpPr>
          <p:cNvPr id="19" name="Rectangle 18"/>
          <p:cNvSpPr/>
          <p:nvPr/>
        </p:nvSpPr>
        <p:spPr>
          <a:xfrm>
            <a:off x="9490144" y="1865376"/>
            <a:ext cx="9000" cy="105156"/>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Isosceles Triangle 19"/>
          <p:cNvSpPr/>
          <p:nvPr/>
        </p:nvSpPr>
        <p:spPr>
          <a:xfrm rot="10800000">
            <a:off x="9448924" y="1920240"/>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7364522" y="1970532"/>
            <a:ext cx="4260244" cy="329184"/>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02   </a:t>
            </a:r>
            <a:r>
              <a:rPr sz="1000" b="0">
                <a:solidFill>
                  <a:srgbClr val="E9E7E2"/>
                </a:solidFill>
                <a:latin typeface="Segoe UI"/>
              </a:rPr>
              <a:t>Calculate momentum</a:t>
            </a:r>
          </a:p>
        </p:txBody>
      </p:sp>
      <p:sp>
        <p:nvSpPr>
          <p:cNvPr id="22" name="TextBox 21"/>
          <p:cNvSpPr txBox="1"/>
          <p:nvPr/>
        </p:nvSpPr>
        <p:spPr>
          <a:xfrm>
            <a:off x="9475927" y="2043683"/>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multiple lookbacks</a:t>
            </a:r>
          </a:p>
        </p:txBody>
      </p:sp>
      <p:sp>
        <p:nvSpPr>
          <p:cNvPr id="23" name="Rectangle 22"/>
          <p:cNvSpPr/>
          <p:nvPr/>
        </p:nvSpPr>
        <p:spPr>
          <a:xfrm>
            <a:off x="9490144" y="2299716"/>
            <a:ext cx="9000" cy="105156"/>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Isosceles Triangle 23"/>
          <p:cNvSpPr/>
          <p:nvPr/>
        </p:nvSpPr>
        <p:spPr>
          <a:xfrm rot="10800000">
            <a:off x="9448924" y="2354580"/>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7364522" y="2404872"/>
            <a:ext cx="4260244" cy="329184"/>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03   </a:t>
            </a:r>
            <a:r>
              <a:rPr sz="1000" b="0">
                <a:solidFill>
                  <a:srgbClr val="E9E7E2"/>
                </a:solidFill>
                <a:latin typeface="Segoe UI"/>
              </a:rPr>
              <a:t>Rank relative to market</a:t>
            </a:r>
          </a:p>
        </p:txBody>
      </p:sp>
      <p:sp>
        <p:nvSpPr>
          <p:cNvPr id="26" name="TextBox 25"/>
          <p:cNvSpPr txBox="1"/>
          <p:nvPr/>
        </p:nvSpPr>
        <p:spPr>
          <a:xfrm>
            <a:off x="9475927" y="2478023"/>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cross-sectional</a:t>
            </a:r>
          </a:p>
        </p:txBody>
      </p:sp>
      <p:sp>
        <p:nvSpPr>
          <p:cNvPr id="27" name="Rectangle 26"/>
          <p:cNvSpPr/>
          <p:nvPr/>
        </p:nvSpPr>
        <p:spPr>
          <a:xfrm>
            <a:off x="9490144" y="2734056"/>
            <a:ext cx="9000" cy="105156"/>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Isosceles Triangle 27"/>
          <p:cNvSpPr/>
          <p:nvPr/>
        </p:nvSpPr>
        <p:spPr>
          <a:xfrm rot="10800000">
            <a:off x="9448924" y="2788920"/>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364522" y="2839212"/>
            <a:ext cx="4260244" cy="329184"/>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04   </a:t>
            </a:r>
            <a:r>
              <a:rPr sz="1000" b="0">
                <a:solidFill>
                  <a:srgbClr val="E9E7E2"/>
                </a:solidFill>
                <a:latin typeface="Segoe UI"/>
              </a:rPr>
              <a:t>Technical confirmation</a:t>
            </a:r>
          </a:p>
        </p:txBody>
      </p:sp>
      <p:sp>
        <p:nvSpPr>
          <p:cNvPr id="30" name="TextBox 29"/>
          <p:cNvSpPr txBox="1"/>
          <p:nvPr/>
        </p:nvSpPr>
        <p:spPr>
          <a:xfrm>
            <a:off x="9475927" y="2912363"/>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existing indicator layer</a:t>
            </a:r>
          </a:p>
        </p:txBody>
      </p:sp>
      <p:sp>
        <p:nvSpPr>
          <p:cNvPr id="31" name="Rectangle 30"/>
          <p:cNvSpPr/>
          <p:nvPr/>
        </p:nvSpPr>
        <p:spPr>
          <a:xfrm>
            <a:off x="9490144" y="3168396"/>
            <a:ext cx="9000" cy="105156"/>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Isosceles Triangle 31"/>
          <p:cNvSpPr/>
          <p:nvPr/>
        </p:nvSpPr>
        <p:spPr>
          <a:xfrm rot="10800000">
            <a:off x="9448924" y="3223260"/>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7364522" y="3273552"/>
            <a:ext cx="4260244" cy="329184"/>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05   </a:t>
            </a:r>
            <a:r>
              <a:rPr sz="1000" b="0">
                <a:solidFill>
                  <a:srgbClr val="E9E7E2"/>
                </a:solidFill>
                <a:latin typeface="Segoe UI"/>
              </a:rPr>
              <a:t>Market regime check</a:t>
            </a:r>
          </a:p>
        </p:txBody>
      </p:sp>
      <p:sp>
        <p:nvSpPr>
          <p:cNvPr id="34" name="TextBox 33"/>
          <p:cNvSpPr txBox="1"/>
          <p:nvPr/>
        </p:nvSpPr>
        <p:spPr>
          <a:xfrm>
            <a:off x="9475927" y="3346703"/>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the gate that proved useful</a:t>
            </a:r>
          </a:p>
        </p:txBody>
      </p:sp>
      <p:sp>
        <p:nvSpPr>
          <p:cNvPr id="35" name="Rectangle 34"/>
          <p:cNvSpPr/>
          <p:nvPr/>
        </p:nvSpPr>
        <p:spPr>
          <a:xfrm>
            <a:off x="9490144" y="3602736"/>
            <a:ext cx="9000" cy="105156"/>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Isosceles Triangle 35"/>
          <p:cNvSpPr/>
          <p:nvPr/>
        </p:nvSpPr>
        <p:spPr>
          <a:xfrm rot="10800000">
            <a:off x="9448924" y="3657600"/>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7364522" y="3707892"/>
            <a:ext cx="4260244" cy="329184"/>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06   </a:t>
            </a:r>
            <a:r>
              <a:rPr sz="1000" b="0">
                <a:solidFill>
                  <a:srgbClr val="E9E7E2"/>
                </a:solidFill>
                <a:latin typeface="Segoe UI"/>
              </a:rPr>
              <a:t>Recommendation</a:t>
            </a:r>
          </a:p>
        </p:txBody>
      </p:sp>
      <p:sp>
        <p:nvSpPr>
          <p:cNvPr id="38" name="TextBox 37"/>
          <p:cNvSpPr txBox="1"/>
          <p:nvPr/>
        </p:nvSpPr>
        <p:spPr>
          <a:xfrm>
            <a:off x="9475927" y="3781043"/>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into the paper-trade loop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22  ·  SEPARATE EXPERIMENT</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Intraday research — opening range breakout</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8933688" y="768096"/>
            <a:ext cx="566928" cy="192024"/>
          </a:xfrm>
          <a:prstGeom prst="rect">
            <a:avLst/>
          </a:prstGeom>
          <a:solidFill>
            <a:srgbClr val="131E23"/>
          </a:solidFill>
          <a:ln w="7620">
            <a:solidFill>
              <a:srgbClr val="7FA8B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35000"/>
              </a:lnSpc>
              <a:spcBef>
                <a:spcPts val="0"/>
              </a:spcBef>
              <a:spcAft>
                <a:spcPts val="0"/>
              </a:spcAft>
            </a:pPr>
            <a:r>
              <a:rPr sz="750" b="0" i="0" spc="100">
                <a:solidFill>
                  <a:srgbClr val="7FA8BC"/>
                </a:solidFill>
                <a:latin typeface="Consolas"/>
              </a:rPr>
              <a:t>EXPERIMENT</a:t>
            </a:r>
          </a:p>
        </p:txBody>
      </p:sp>
      <p:sp>
        <p:nvSpPr>
          <p:cNvPr id="7" name="TextBox 6"/>
          <p:cNvSpPr txBox="1"/>
          <p:nvPr/>
        </p:nvSpPr>
        <p:spPr>
          <a:xfrm>
            <a:off x="566928" y="1536192"/>
            <a:ext cx="5197184" cy="22860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CANDIDATE RULE SKETCH</a:t>
            </a:r>
          </a:p>
        </p:txBody>
      </p:sp>
      <p:sp>
        <p:nvSpPr>
          <p:cNvPr id="8" name="Rectangle 7"/>
          <p:cNvSpPr/>
          <p:nvPr/>
        </p:nvSpPr>
        <p:spPr>
          <a:xfrm>
            <a:off x="566928" y="1883664"/>
            <a:ext cx="5197184" cy="329184"/>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01   </a:t>
            </a:r>
            <a:r>
              <a:rPr sz="1000" b="0">
                <a:solidFill>
                  <a:srgbClr val="E9E7E2"/>
                </a:solidFill>
                <a:latin typeface="Segoe UI"/>
              </a:rPr>
              <a:t>Define the first 15-minute range</a:t>
            </a:r>
          </a:p>
        </p:txBody>
      </p:sp>
      <p:sp>
        <p:nvSpPr>
          <p:cNvPr id="9" name="TextBox 8"/>
          <p:cNvSpPr txBox="1"/>
          <p:nvPr/>
        </p:nvSpPr>
        <p:spPr>
          <a:xfrm>
            <a:off x="3615272" y="1956815"/>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high &amp; low</a:t>
            </a:r>
          </a:p>
        </p:txBody>
      </p:sp>
      <p:sp>
        <p:nvSpPr>
          <p:cNvPr id="10" name="Rectangle 9"/>
          <p:cNvSpPr/>
          <p:nvPr/>
        </p:nvSpPr>
        <p:spPr>
          <a:xfrm>
            <a:off x="3161020" y="2212848"/>
            <a:ext cx="9000" cy="10972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Isosceles Triangle 10"/>
          <p:cNvSpPr/>
          <p:nvPr/>
        </p:nvSpPr>
        <p:spPr>
          <a:xfrm rot="10800000">
            <a:off x="3119800" y="2272284"/>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566928" y="2322576"/>
            <a:ext cx="5197184" cy="329184"/>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02   </a:t>
            </a:r>
            <a:r>
              <a:rPr sz="1000" b="0">
                <a:solidFill>
                  <a:srgbClr val="E9E7E2"/>
                </a:solidFill>
                <a:latin typeface="Segoe UI"/>
              </a:rPr>
              <a:t>Wait for a break of that range</a:t>
            </a:r>
          </a:p>
        </p:txBody>
      </p:sp>
      <p:sp>
        <p:nvSpPr>
          <p:cNvPr id="13" name="Rectangle 12"/>
          <p:cNvSpPr/>
          <p:nvPr/>
        </p:nvSpPr>
        <p:spPr>
          <a:xfrm>
            <a:off x="3161020" y="2651760"/>
            <a:ext cx="9000" cy="10972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Isosceles Triangle 13"/>
          <p:cNvSpPr/>
          <p:nvPr/>
        </p:nvSpPr>
        <p:spPr>
          <a:xfrm rot="10800000">
            <a:off x="3119800" y="2711196"/>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66928" y="2761488"/>
            <a:ext cx="5197184" cy="329184"/>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03   </a:t>
            </a:r>
            <a:r>
              <a:rPr sz="1000" b="0">
                <a:solidFill>
                  <a:srgbClr val="E9E7E2"/>
                </a:solidFill>
                <a:latin typeface="Segoe UI"/>
              </a:rPr>
              <a:t>Confirm with volume</a:t>
            </a:r>
          </a:p>
        </p:txBody>
      </p:sp>
      <p:sp>
        <p:nvSpPr>
          <p:cNvPr id="16" name="Rectangle 15"/>
          <p:cNvSpPr/>
          <p:nvPr/>
        </p:nvSpPr>
        <p:spPr>
          <a:xfrm>
            <a:off x="3161020" y="3090672"/>
            <a:ext cx="9000" cy="10972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Isosceles Triangle 16"/>
          <p:cNvSpPr/>
          <p:nvPr/>
        </p:nvSpPr>
        <p:spPr>
          <a:xfrm rot="10800000">
            <a:off x="3119800" y="3150108"/>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66928" y="3200400"/>
            <a:ext cx="5197184" cy="329184"/>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04   </a:t>
            </a:r>
            <a:r>
              <a:rPr sz="1000" b="0">
                <a:solidFill>
                  <a:srgbClr val="E9E7E2"/>
                </a:solidFill>
                <a:latin typeface="Segoe UI"/>
              </a:rPr>
              <a:t>Confirm against VWAP</a:t>
            </a:r>
          </a:p>
        </p:txBody>
      </p:sp>
      <p:sp>
        <p:nvSpPr>
          <p:cNvPr id="19" name="Rectangle 18"/>
          <p:cNvSpPr/>
          <p:nvPr/>
        </p:nvSpPr>
        <p:spPr>
          <a:xfrm>
            <a:off x="3161020" y="3529584"/>
            <a:ext cx="9000" cy="10972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Isosceles Triangle 19"/>
          <p:cNvSpPr/>
          <p:nvPr/>
        </p:nvSpPr>
        <p:spPr>
          <a:xfrm rot="10800000">
            <a:off x="3119800" y="3589020"/>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66928" y="3639312"/>
            <a:ext cx="5197184" cy="329184"/>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05   </a:t>
            </a:r>
            <a:r>
              <a:rPr sz="1000" b="0">
                <a:solidFill>
                  <a:srgbClr val="E9E7E2"/>
                </a:solidFill>
                <a:latin typeface="Segoe UI"/>
              </a:rPr>
              <a:t>Enter with a defined stop</a:t>
            </a:r>
          </a:p>
        </p:txBody>
      </p:sp>
      <p:sp>
        <p:nvSpPr>
          <p:cNvPr id="22" name="Rectangle 21"/>
          <p:cNvSpPr/>
          <p:nvPr/>
        </p:nvSpPr>
        <p:spPr>
          <a:xfrm>
            <a:off x="3161020" y="3968496"/>
            <a:ext cx="9000" cy="10972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Isosceles Triangle 22"/>
          <p:cNvSpPr/>
          <p:nvPr/>
        </p:nvSpPr>
        <p:spPr>
          <a:xfrm rot="10800000">
            <a:off x="3119800" y="4027932"/>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4078224"/>
            <a:ext cx="5197184" cy="329184"/>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a:lstStyle/>
          <a:p>
            <a:pPr algn="ctr">
              <a:spcAft>
                <a:spcPts val="0"/>
              </a:spcAft>
            </a:pPr>
            <a:r>
              <a:rPr sz="1000" b="0">
                <a:solidFill>
                  <a:srgbClr val="E3A143"/>
                </a:solidFill>
                <a:latin typeface="Consolas"/>
              </a:rPr>
              <a:t>06   </a:t>
            </a:r>
            <a:r>
              <a:rPr sz="1000" b="0">
                <a:solidFill>
                  <a:srgbClr val="E9E7E2"/>
                </a:solidFill>
                <a:latin typeface="Segoe UI"/>
              </a:rPr>
              <a:t>Exit same day</a:t>
            </a:r>
          </a:p>
        </p:txBody>
      </p:sp>
      <p:sp>
        <p:nvSpPr>
          <p:cNvPr id="25" name="TextBox 24"/>
          <p:cNvSpPr txBox="1"/>
          <p:nvPr/>
        </p:nvSpPr>
        <p:spPr>
          <a:xfrm>
            <a:off x="3615272" y="4151375"/>
            <a:ext cx="2011680" cy="182880"/>
          </a:xfrm>
          <a:prstGeom prst="rect">
            <a:avLst/>
          </a:prstGeom>
          <a:noFill/>
        </p:spPr>
        <p:txBody>
          <a:bodyPr wrap="square" lIns="0" rIns="0" tIns="0" bIns="0" anchor="t">
            <a:spAutoFit/>
          </a:bodyPr>
          <a:lstStyle/>
          <a:p>
            <a:pPr algn="r">
              <a:lnSpc>
                <a:spcPct val="135000"/>
              </a:lnSpc>
              <a:spcBef>
                <a:spcPts val="0"/>
              </a:spcBef>
              <a:spcAft>
                <a:spcPts val="0"/>
              </a:spcAft>
            </a:pPr>
            <a:r>
              <a:rPr sz="800" b="0" i="0">
                <a:solidFill>
                  <a:srgbClr val="727C8C"/>
                </a:solidFill>
                <a:latin typeface="Consolas"/>
              </a:rPr>
              <a:t>no overnight risk</a:t>
            </a:r>
          </a:p>
        </p:txBody>
      </p:sp>
      <p:sp>
        <p:nvSpPr>
          <p:cNvPr id="26" name="Rectangle 25"/>
          <p:cNvSpPr/>
          <p:nvPr/>
        </p:nvSpPr>
        <p:spPr>
          <a:xfrm>
            <a:off x="6148160" y="1536192"/>
            <a:ext cx="5476606" cy="214884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349328" y="1700784"/>
            <a:ext cx="5074270"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WHY INTRADAY IS HARDER ENGINEERING</a:t>
            </a:r>
          </a:p>
        </p:txBody>
      </p:sp>
      <p:sp>
        <p:nvSpPr>
          <p:cNvPr id="28" name="TextBox 27"/>
          <p:cNvSpPr txBox="1"/>
          <p:nvPr/>
        </p:nvSpPr>
        <p:spPr>
          <a:xfrm>
            <a:off x="6349328" y="1993392"/>
            <a:ext cx="5074270" cy="1563624"/>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1-minute / 5-minute data</a:t>
            </a:r>
            <a:r>
              <a:rPr sz="1000" b="0">
                <a:solidFill>
                  <a:srgbClr val="A8B0BD"/>
                </a:solidFill>
                <a:latin typeface="Segoe UI"/>
              </a:rPr>
              <a:t> — orders of magnitude more rows</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Timestamp accuracy</a:t>
            </a:r>
            <a:r>
              <a:rPr sz="1000" b="0">
                <a:solidFill>
                  <a:srgbClr val="A8B0BD"/>
                </a:solidFill>
                <a:latin typeface="Segoe UI"/>
              </a:rPr>
              <a:t> — a one-bar error changes every result</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Frequent monitoring</a:t>
            </a:r>
            <a:r>
              <a:rPr sz="1000" b="0">
                <a:solidFill>
                  <a:srgbClr val="A8B0BD"/>
                </a:solidFill>
                <a:latin typeface="Segoe UI"/>
              </a:rPr>
              <a:t> — the system must run during market hours</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Slippage &amp; spread</a:t>
            </a:r>
            <a:r>
              <a:rPr sz="1000" b="0">
                <a:solidFill>
                  <a:srgbClr val="A8B0BD"/>
                </a:solidFill>
                <a:latin typeface="Segoe UI"/>
              </a:rPr>
              <a:t> — far larger relative to a small intraday target</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Brokerage &amp; fees</a:t>
            </a:r>
            <a:r>
              <a:rPr sz="1000" b="0">
                <a:solidFill>
                  <a:srgbClr val="A8B0BD"/>
                </a:solidFill>
                <a:latin typeface="Segoe UI"/>
              </a:rPr>
              <a:t> — many more trades, so costs compound fast</a:t>
            </a:r>
          </a:p>
          <a:p>
            <a:pPr>
              <a:lnSpc>
                <a:spcPct val="130000"/>
              </a:lnSpc>
              <a:spcBef>
                <a:spcPts val="0"/>
              </a:spcBef>
              <a:spcAft>
                <a:spcPts val="500"/>
              </a:spcAft>
            </a:pPr>
            <a:r>
              <a:rPr sz="1000" b="0">
                <a:solidFill>
                  <a:srgbClr val="E3A143"/>
                </a:solidFill>
                <a:latin typeface="Segoe UI"/>
              </a:rPr>
              <a:t>— </a:t>
            </a:r>
            <a:r>
              <a:rPr sz="1000" b="1">
                <a:solidFill>
                  <a:srgbClr val="E9E7E2"/>
                </a:solidFill>
                <a:latin typeface="Segoe UI"/>
              </a:rPr>
              <a:t>Latency &amp; execution quality</a:t>
            </a:r>
            <a:r>
              <a:rPr sz="1000" b="0">
                <a:solidFill>
                  <a:srgbClr val="A8B0BD"/>
                </a:solidFill>
                <a:latin typeface="Segoe UI"/>
              </a:rPr>
              <a:t> — now a first-class concern</a:t>
            </a:r>
          </a:p>
        </p:txBody>
      </p:sp>
      <p:sp>
        <p:nvSpPr>
          <p:cNvPr id="29" name="Rectangle 28"/>
          <p:cNvSpPr/>
          <p:nvPr/>
        </p:nvSpPr>
        <p:spPr>
          <a:xfrm>
            <a:off x="6148160" y="3867912"/>
            <a:ext cx="5476606" cy="960120"/>
          </a:xfrm>
          <a:prstGeom prst="rect">
            <a:avLst/>
          </a:prstGeom>
          <a:solidFill>
            <a:srgbClr val="1C1611"/>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148160" y="3867912"/>
            <a:ext cx="25000" cy="960120"/>
          </a:xfrm>
          <a:prstGeom prst="rect">
            <a:avLst/>
          </a:prstGeom>
          <a:solidFill>
            <a:srgbClr val="C99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49328" y="4005072"/>
            <a:ext cx="5074270" cy="704088"/>
          </a:xfrm>
          <a:prstGeom prst="rect">
            <a:avLst/>
          </a:prstGeom>
          <a:noFill/>
        </p:spPr>
        <p:txBody>
          <a:bodyPr wrap="square" lIns="0" rIns="0" tIns="0" bIns="0" anchor="t">
            <a:spAutoFit/>
          </a:bodyPr>
          <a:lstStyle/>
          <a:p>
            <a:pPr>
              <a:lnSpc>
                <a:spcPct val="140000"/>
              </a:lnSpc>
              <a:spcBef>
                <a:spcPts val="0"/>
              </a:spcBef>
              <a:spcAft>
                <a:spcPts val="0"/>
              </a:spcAft>
            </a:pPr>
            <a:r>
              <a:rPr sz="1050" b="1">
                <a:solidFill>
                  <a:srgbClr val="E9E7E2"/>
                </a:solidFill>
                <a:latin typeface="Segoe UI"/>
              </a:rPr>
              <a:t>ORB is a starting hypothesis, not a proven strategy. </a:t>
            </a:r>
            <a:r>
              <a:rPr sz="1050" b="0">
                <a:solidFill>
                  <a:srgbClr val="A8B0BD"/>
                </a:solidFill>
                <a:latin typeface="Segoe UI"/>
              </a:rPr>
              <a:t>Given that our daily strategy's edge vanished at roughly 10–20 bps of cost, an intraday strategy with far higher turnover must clear a much higher cost bar.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23  ·  PRIORITISATION</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Daily vs intraday</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536192"/>
            <a:ext cx="5524157" cy="28803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04672" y="1719072"/>
            <a:ext cx="5048669" cy="548640"/>
          </a:xfrm>
          <a:prstGeom prst="rect">
            <a:avLst/>
          </a:prstGeom>
          <a:noFill/>
        </p:spPr>
        <p:txBody>
          <a:bodyPr wrap="square" lIns="0" rIns="0" tIns="0" bIns="0" anchor="t">
            <a:spAutoFit/>
          </a:bodyPr>
          <a:lstStyle/>
          <a:p>
            <a:pPr>
              <a:lnSpc>
                <a:spcPct val="135000"/>
              </a:lnSpc>
              <a:spcBef>
                <a:spcPts val="0"/>
              </a:spcBef>
              <a:spcAft>
                <a:spcPts val="500"/>
              </a:spcAft>
            </a:pPr>
            <a:r>
              <a:rPr sz="850" b="0" i="0" spc="130">
                <a:solidFill>
                  <a:srgbClr val="E3A143"/>
                </a:solidFill>
                <a:latin typeface="Consolas"/>
              </a:rPr>
              <a:t>PRIORITY — PHASE 1</a:t>
            </a:r>
          </a:p>
          <a:p>
            <a:pPr>
              <a:lnSpc>
                <a:spcPct val="135000"/>
              </a:lnSpc>
              <a:spcBef>
                <a:spcPts val="0"/>
              </a:spcBef>
              <a:spcAft>
                <a:spcPts val="0"/>
              </a:spcAft>
            </a:pPr>
            <a:r>
              <a:rPr sz="1900" b="0" i="1">
                <a:solidFill>
                  <a:srgbClr val="E9E7E2"/>
                </a:solidFill>
                <a:latin typeface="Georgia"/>
              </a:rPr>
              <a:t>Daily</a:t>
            </a:r>
          </a:p>
        </p:txBody>
      </p:sp>
      <p:sp>
        <p:nvSpPr>
          <p:cNvPr id="8" name="TextBox 7"/>
          <p:cNvSpPr txBox="1"/>
          <p:nvPr/>
        </p:nvSpPr>
        <p:spPr>
          <a:xfrm>
            <a:off x="804672" y="2496312"/>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Data  </a:t>
            </a:r>
            <a:r>
              <a:rPr sz="1000" b="0">
                <a:solidFill>
                  <a:srgbClr val="A8B0BD"/>
                </a:solidFill>
                <a:latin typeface="Segoe UI"/>
              </a:rPr>
              <a:t>— daily candles</a:t>
            </a:r>
          </a:p>
        </p:txBody>
      </p:sp>
      <p:sp>
        <p:nvSpPr>
          <p:cNvPr id="9" name="TextBox 8"/>
          <p:cNvSpPr txBox="1"/>
          <p:nvPr/>
        </p:nvSpPr>
        <p:spPr>
          <a:xfrm>
            <a:off x="804672" y="2756915"/>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Evaluation  </a:t>
            </a:r>
            <a:r>
              <a:rPr sz="1000" b="0">
                <a:solidFill>
                  <a:srgbClr val="A8B0BD"/>
                </a:solidFill>
                <a:latin typeface="Segoe UI"/>
              </a:rPr>
              <a:t>— once per day, after close</a:t>
            </a:r>
          </a:p>
        </p:txBody>
      </p:sp>
      <p:sp>
        <p:nvSpPr>
          <p:cNvPr id="10" name="TextBox 9"/>
          <p:cNvSpPr txBox="1"/>
          <p:nvPr/>
        </p:nvSpPr>
        <p:spPr>
          <a:xfrm>
            <a:off x="804672" y="3017518"/>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Lookbacks  </a:t>
            </a:r>
            <a:r>
              <a:rPr sz="1000" b="0">
                <a:solidFill>
                  <a:srgbClr val="A8B0BD"/>
                </a:solidFill>
                <a:latin typeface="Segoe UI"/>
              </a:rPr>
              <a:t>— multi-month</a:t>
            </a:r>
          </a:p>
        </p:txBody>
      </p:sp>
      <p:sp>
        <p:nvSpPr>
          <p:cNvPr id="11" name="TextBox 10"/>
          <p:cNvSpPr txBox="1"/>
          <p:nvPr/>
        </p:nvSpPr>
        <p:spPr>
          <a:xfrm>
            <a:off x="804672" y="3278121"/>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Holding  </a:t>
            </a:r>
            <a:r>
              <a:rPr sz="1000" b="0">
                <a:solidFill>
                  <a:srgbClr val="A8B0BD"/>
                </a:solidFill>
                <a:latin typeface="Segoe UI"/>
              </a:rPr>
              <a:t>— multi-day to multi-week</a:t>
            </a:r>
          </a:p>
        </p:txBody>
      </p:sp>
      <p:sp>
        <p:nvSpPr>
          <p:cNvPr id="12" name="TextBox 11"/>
          <p:cNvSpPr txBox="1"/>
          <p:nvPr/>
        </p:nvSpPr>
        <p:spPr>
          <a:xfrm>
            <a:off x="804672" y="3538724"/>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Noise  </a:t>
            </a:r>
            <a:r>
              <a:rPr sz="1000" b="0">
                <a:solidFill>
                  <a:srgbClr val="A8B0BD"/>
                </a:solidFill>
                <a:latin typeface="Segoe UI"/>
              </a:rPr>
              <a:t>— lower</a:t>
            </a:r>
          </a:p>
        </p:txBody>
      </p:sp>
      <p:sp>
        <p:nvSpPr>
          <p:cNvPr id="13" name="TextBox 12"/>
          <p:cNvSpPr txBox="1"/>
          <p:nvPr/>
        </p:nvSpPr>
        <p:spPr>
          <a:xfrm>
            <a:off x="804672" y="3799327"/>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Monitoring  </a:t>
            </a:r>
            <a:r>
              <a:rPr sz="1000" b="0">
                <a:solidFill>
                  <a:srgbClr val="A8B0BD"/>
                </a:solidFill>
                <a:latin typeface="Segoe UI"/>
              </a:rPr>
              <a:t>— minimal; a scheduled job suffices</a:t>
            </a:r>
          </a:p>
        </p:txBody>
      </p:sp>
      <p:sp>
        <p:nvSpPr>
          <p:cNvPr id="14" name="TextBox 13"/>
          <p:cNvSpPr txBox="1"/>
          <p:nvPr/>
        </p:nvSpPr>
        <p:spPr>
          <a:xfrm>
            <a:off x="804672" y="4059930"/>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Cost sensitivity  </a:t>
            </a:r>
            <a:r>
              <a:rPr sz="1000" b="0">
                <a:solidFill>
                  <a:srgbClr val="A8B0BD"/>
                </a:solidFill>
                <a:latin typeface="Segoe UI"/>
              </a:rPr>
              <a:t>— material but manageable</a:t>
            </a:r>
          </a:p>
        </p:txBody>
      </p:sp>
      <p:sp>
        <p:nvSpPr>
          <p:cNvPr id="15" name="Rectangle 14"/>
          <p:cNvSpPr/>
          <p:nvPr/>
        </p:nvSpPr>
        <p:spPr>
          <a:xfrm>
            <a:off x="6100610" y="1536192"/>
            <a:ext cx="5524157" cy="288036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338354" y="1719072"/>
            <a:ext cx="5048669" cy="548640"/>
          </a:xfrm>
          <a:prstGeom prst="rect">
            <a:avLst/>
          </a:prstGeom>
          <a:noFill/>
        </p:spPr>
        <p:txBody>
          <a:bodyPr wrap="square" lIns="0" rIns="0" tIns="0" bIns="0" anchor="t">
            <a:spAutoFit/>
          </a:bodyPr>
          <a:lstStyle/>
          <a:p>
            <a:pPr>
              <a:lnSpc>
                <a:spcPct val="135000"/>
              </a:lnSpc>
              <a:spcBef>
                <a:spcPts val="0"/>
              </a:spcBef>
              <a:spcAft>
                <a:spcPts val="500"/>
              </a:spcAft>
            </a:pPr>
            <a:r>
              <a:rPr sz="850" b="0" i="0" spc="130">
                <a:solidFill>
                  <a:srgbClr val="7FA8BC"/>
                </a:solidFill>
                <a:latin typeface="Consolas"/>
              </a:rPr>
              <a:t>LATER — PHASE 2</a:t>
            </a:r>
          </a:p>
          <a:p>
            <a:pPr>
              <a:lnSpc>
                <a:spcPct val="135000"/>
              </a:lnSpc>
              <a:spcBef>
                <a:spcPts val="0"/>
              </a:spcBef>
              <a:spcAft>
                <a:spcPts val="0"/>
              </a:spcAft>
            </a:pPr>
            <a:r>
              <a:rPr sz="1900" b="0" i="1">
                <a:solidFill>
                  <a:srgbClr val="E9E7E2"/>
                </a:solidFill>
                <a:latin typeface="Georgia"/>
              </a:rPr>
              <a:t>Intraday</a:t>
            </a:r>
          </a:p>
        </p:txBody>
      </p:sp>
      <p:sp>
        <p:nvSpPr>
          <p:cNvPr id="17" name="TextBox 16"/>
          <p:cNvSpPr txBox="1"/>
          <p:nvPr/>
        </p:nvSpPr>
        <p:spPr>
          <a:xfrm>
            <a:off x="6338354" y="2496312"/>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Data  </a:t>
            </a:r>
            <a:r>
              <a:rPr sz="1000" b="0">
                <a:solidFill>
                  <a:srgbClr val="A8B0BD"/>
                </a:solidFill>
                <a:latin typeface="Segoe UI"/>
              </a:rPr>
              <a:t>— 1-minute / 5-minute candles</a:t>
            </a:r>
          </a:p>
        </p:txBody>
      </p:sp>
      <p:sp>
        <p:nvSpPr>
          <p:cNvPr id="18" name="TextBox 17"/>
          <p:cNvSpPr txBox="1"/>
          <p:nvPr/>
        </p:nvSpPr>
        <p:spPr>
          <a:xfrm>
            <a:off x="6338354" y="2756915"/>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Evaluation  </a:t>
            </a:r>
            <a:r>
              <a:rPr sz="1000" b="0">
                <a:solidFill>
                  <a:srgbClr val="A8B0BD"/>
                </a:solidFill>
                <a:latin typeface="Segoe UI"/>
              </a:rPr>
              <a:t>— continuously during market hours</a:t>
            </a:r>
          </a:p>
        </p:txBody>
      </p:sp>
      <p:sp>
        <p:nvSpPr>
          <p:cNvPr id="19" name="TextBox 18"/>
          <p:cNvSpPr txBox="1"/>
          <p:nvPr/>
        </p:nvSpPr>
        <p:spPr>
          <a:xfrm>
            <a:off x="6338354" y="3017518"/>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Lookbacks  </a:t>
            </a:r>
            <a:r>
              <a:rPr sz="1000" b="0">
                <a:solidFill>
                  <a:srgbClr val="A8B0BD"/>
                </a:solidFill>
                <a:latin typeface="Segoe UI"/>
              </a:rPr>
              <a:t>— minutes to hours</a:t>
            </a:r>
          </a:p>
        </p:txBody>
      </p:sp>
      <p:sp>
        <p:nvSpPr>
          <p:cNvPr id="20" name="TextBox 19"/>
          <p:cNvSpPr txBox="1"/>
          <p:nvPr/>
        </p:nvSpPr>
        <p:spPr>
          <a:xfrm>
            <a:off x="6338354" y="3278121"/>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Holding  </a:t>
            </a:r>
            <a:r>
              <a:rPr sz="1000" b="0">
                <a:solidFill>
                  <a:srgbClr val="A8B0BD"/>
                </a:solidFill>
                <a:latin typeface="Segoe UI"/>
              </a:rPr>
              <a:t>— same day, always flat overnight</a:t>
            </a:r>
          </a:p>
        </p:txBody>
      </p:sp>
      <p:sp>
        <p:nvSpPr>
          <p:cNvPr id="21" name="TextBox 20"/>
          <p:cNvSpPr txBox="1"/>
          <p:nvPr/>
        </p:nvSpPr>
        <p:spPr>
          <a:xfrm>
            <a:off x="6338354" y="3538724"/>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Noise  </a:t>
            </a:r>
            <a:r>
              <a:rPr sz="1000" b="0">
                <a:solidFill>
                  <a:srgbClr val="A8B0BD"/>
                </a:solidFill>
                <a:latin typeface="Segoe UI"/>
              </a:rPr>
              <a:t>— much higher</a:t>
            </a:r>
          </a:p>
        </p:txBody>
      </p:sp>
      <p:sp>
        <p:nvSpPr>
          <p:cNvPr id="22" name="TextBox 21"/>
          <p:cNvSpPr txBox="1"/>
          <p:nvPr/>
        </p:nvSpPr>
        <p:spPr>
          <a:xfrm>
            <a:off x="6338354" y="3799327"/>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Monitoring  </a:t>
            </a:r>
            <a:r>
              <a:rPr sz="1000" b="0">
                <a:solidFill>
                  <a:srgbClr val="A8B0BD"/>
                </a:solidFill>
                <a:latin typeface="Segoe UI"/>
              </a:rPr>
              <a:t>— constant, live infrastructure required</a:t>
            </a:r>
          </a:p>
        </p:txBody>
      </p:sp>
      <p:sp>
        <p:nvSpPr>
          <p:cNvPr id="23" name="TextBox 22"/>
          <p:cNvSpPr txBox="1"/>
          <p:nvPr/>
        </p:nvSpPr>
        <p:spPr>
          <a:xfrm>
            <a:off x="6338354" y="4059930"/>
            <a:ext cx="5048669" cy="237744"/>
          </a:xfrm>
          <a:prstGeom prst="rect">
            <a:avLst/>
          </a:prstGeom>
          <a:noFill/>
        </p:spPr>
        <p:txBody>
          <a:bodyPr wrap="square" lIns="0" rIns="0" tIns="0" bIns="0" anchor="t">
            <a:spAutoFit/>
          </a:bodyPr>
          <a:lstStyle/>
          <a:p>
            <a:pPr>
              <a:lnSpc>
                <a:spcPct val="135000"/>
              </a:lnSpc>
              <a:spcBef>
                <a:spcPts val="0"/>
              </a:spcBef>
              <a:spcAft>
                <a:spcPts val="0"/>
              </a:spcAft>
            </a:pPr>
            <a:r>
              <a:rPr sz="1000" b="1">
                <a:solidFill>
                  <a:srgbClr val="E9E7E2"/>
                </a:solidFill>
                <a:latin typeface="Segoe UI"/>
              </a:rPr>
              <a:t>Cost sensitivity  </a:t>
            </a:r>
            <a:r>
              <a:rPr sz="1000" b="0">
                <a:solidFill>
                  <a:srgbClr val="A8B0BD"/>
                </a:solidFill>
                <a:latin typeface="Segoe UI"/>
              </a:rPr>
              <a:t>— dominant; can decide the outcome alone</a:t>
            </a:r>
          </a:p>
        </p:txBody>
      </p:sp>
      <p:sp>
        <p:nvSpPr>
          <p:cNvPr id="24" name="Rectangle 23"/>
          <p:cNvSpPr/>
          <p:nvPr/>
        </p:nvSpPr>
        <p:spPr>
          <a:xfrm>
            <a:off x="566928" y="4599432"/>
            <a:ext cx="11057839" cy="777240"/>
          </a:xfrm>
          <a:prstGeom prst="rect">
            <a:avLst/>
          </a:prstGeom>
          <a:solidFill>
            <a:srgbClr val="12161D"/>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6928" y="4599432"/>
            <a:ext cx="25000" cy="77724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68096" y="4736592"/>
            <a:ext cx="10655503" cy="521208"/>
          </a:xfrm>
          <a:prstGeom prst="rect">
            <a:avLst/>
          </a:prstGeom>
          <a:noFill/>
        </p:spPr>
        <p:txBody>
          <a:bodyPr wrap="square" lIns="0" rIns="0" tIns="0" bIns="0" anchor="t">
            <a:spAutoFit/>
          </a:bodyPr>
          <a:lstStyle/>
          <a:p>
            <a:pPr>
              <a:lnSpc>
                <a:spcPct val="140000"/>
              </a:lnSpc>
              <a:spcBef>
                <a:spcPts val="0"/>
              </a:spcBef>
              <a:spcAft>
                <a:spcPts val="0"/>
              </a:spcAft>
            </a:pPr>
            <a:r>
              <a:rPr sz="1050" b="1">
                <a:solidFill>
                  <a:srgbClr val="E9E7E2"/>
                </a:solidFill>
                <a:latin typeface="Segoe UI"/>
              </a:rPr>
              <a:t>Decision: </a:t>
            </a:r>
            <a:r>
              <a:rPr sz="1050" b="0">
                <a:solidFill>
                  <a:srgbClr val="A8B0BD"/>
                </a:solidFill>
                <a:latin typeface="Segoe UI"/>
              </a:rPr>
              <a:t>the stated investment horizon is long-term, so daily strategies get priority. They match the horizon, demand less infrastructure, and — critically — the validation machinery that already exists was built for daily bars and can be reused immediately.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24  ·  AI ARCHITECTURE</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Where AI belongs — and where it doesn't</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ectangle 5"/>
          <p:cNvSpPr/>
          <p:nvPr/>
        </p:nvSpPr>
        <p:spPr>
          <a:xfrm>
            <a:off x="566928" y="1536192"/>
            <a:ext cx="2586151" cy="9601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118872"/>
          <a:lstStyle/>
          <a:p>
            <a:pPr algn="ctr">
              <a:lnSpc>
                <a:spcPct val="118000"/>
              </a:lnSpc>
              <a:spcBef>
                <a:spcPts val="0"/>
              </a:spcBef>
              <a:spcAft>
                <a:spcPts val="400"/>
              </a:spcAft>
            </a:pPr>
            <a:r>
              <a:rPr sz="1050" b="1" i="0">
                <a:solidFill>
                  <a:srgbClr val="E9E7E2"/>
                </a:solidFill>
                <a:latin typeface="Segoe UI"/>
              </a:rPr>
              <a:t>Quantitative engine</a:t>
            </a:r>
          </a:p>
          <a:p>
            <a:pPr>
              <a:lnSpc>
                <a:spcPct val="130000"/>
              </a:lnSpc>
              <a:spcBef>
                <a:spcPts val="0"/>
              </a:spcBef>
              <a:spcAft>
                <a:spcPts val="0"/>
              </a:spcAft>
            </a:pPr>
            <a:r>
              <a:rPr sz="800" b="0" i="0">
                <a:solidFill>
                  <a:srgbClr val="727C8C"/>
                </a:solidFill>
                <a:latin typeface="Consolas"/>
              </a:rPr>
              <a:t>Indicators, patterns, gates, simulation — all deterministic</a:t>
            </a:r>
          </a:p>
        </p:txBody>
      </p:sp>
      <p:sp>
        <p:nvSpPr>
          <p:cNvPr id="7" name="Rectangle 6"/>
          <p:cNvSpPr/>
          <p:nvPr/>
        </p:nvSpPr>
        <p:spPr>
          <a:xfrm>
            <a:off x="566928" y="1536192"/>
            <a:ext cx="2586151"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153079" y="1897380"/>
            <a:ext cx="237744" cy="237744"/>
          </a:xfrm>
          <a:prstGeom prst="rect">
            <a:avLst/>
          </a:prstGeom>
          <a:noFill/>
        </p:spPr>
        <p:txBody>
          <a:bodyPr wrap="square" lIns="0" rIns="0" tIns="0" bIns="0" anchor="ctr">
            <a:spAutoFit/>
          </a:bodyPr>
          <a:lstStyle/>
          <a:p>
            <a:pPr algn="ctr">
              <a:lnSpc>
                <a:spcPct val="135000"/>
              </a:lnSpc>
              <a:spcBef>
                <a:spcPts val="0"/>
              </a:spcBef>
              <a:spcAft>
                <a:spcPts val="0"/>
              </a:spcAft>
            </a:pPr>
            <a:r>
              <a:rPr sz="1300" b="0" i="0">
                <a:solidFill>
                  <a:srgbClr val="8A6427"/>
                </a:solidFill>
                <a:latin typeface="Consolas"/>
              </a:rPr>
              <a:t>→</a:t>
            </a:r>
          </a:p>
        </p:txBody>
      </p:sp>
      <p:sp>
        <p:nvSpPr>
          <p:cNvPr id="9" name="Rectangle 8"/>
          <p:cNvSpPr/>
          <p:nvPr/>
        </p:nvSpPr>
        <p:spPr>
          <a:xfrm>
            <a:off x="3390823" y="1536192"/>
            <a:ext cx="2586151" cy="9601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118872"/>
          <a:lstStyle/>
          <a:p>
            <a:pPr algn="ctr">
              <a:lnSpc>
                <a:spcPct val="118000"/>
              </a:lnSpc>
              <a:spcBef>
                <a:spcPts val="0"/>
              </a:spcBef>
              <a:spcAft>
                <a:spcPts val="400"/>
              </a:spcAft>
            </a:pPr>
            <a:r>
              <a:rPr sz="1050" b="1" i="0">
                <a:solidFill>
                  <a:srgbClr val="E9E7E2"/>
                </a:solidFill>
                <a:latin typeface="Segoe UI"/>
              </a:rPr>
              <a:t>Structured findings</a:t>
            </a:r>
          </a:p>
          <a:p>
            <a:pPr>
              <a:lnSpc>
                <a:spcPct val="130000"/>
              </a:lnSpc>
              <a:spcBef>
                <a:spcPts val="0"/>
              </a:spcBef>
              <a:spcAft>
                <a:spcPts val="0"/>
              </a:spcAft>
            </a:pPr>
            <a:r>
              <a:rPr sz="800" b="0" i="0">
                <a:solidFill>
                  <a:srgbClr val="727C8C"/>
                </a:solidFill>
                <a:latin typeface="Consolas"/>
              </a:rPr>
              <a:t>Typed, numeric, reproducible</a:t>
            </a:r>
          </a:p>
        </p:txBody>
      </p:sp>
      <p:sp>
        <p:nvSpPr>
          <p:cNvPr id="10" name="Rectangle 9"/>
          <p:cNvSpPr/>
          <p:nvPr/>
        </p:nvSpPr>
        <p:spPr>
          <a:xfrm>
            <a:off x="3390823" y="1536192"/>
            <a:ext cx="2586151"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76975" y="1897380"/>
            <a:ext cx="237744" cy="237744"/>
          </a:xfrm>
          <a:prstGeom prst="rect">
            <a:avLst/>
          </a:prstGeom>
          <a:noFill/>
        </p:spPr>
        <p:txBody>
          <a:bodyPr wrap="square" lIns="0" rIns="0" tIns="0" bIns="0" anchor="ctr">
            <a:spAutoFit/>
          </a:bodyPr>
          <a:lstStyle/>
          <a:p>
            <a:pPr algn="ctr">
              <a:lnSpc>
                <a:spcPct val="135000"/>
              </a:lnSpc>
              <a:spcBef>
                <a:spcPts val="0"/>
              </a:spcBef>
              <a:spcAft>
                <a:spcPts val="0"/>
              </a:spcAft>
            </a:pPr>
            <a:r>
              <a:rPr sz="1300" b="0" i="0">
                <a:solidFill>
                  <a:srgbClr val="8A6427"/>
                </a:solidFill>
                <a:latin typeface="Consolas"/>
              </a:rPr>
              <a:t>→</a:t>
            </a:r>
          </a:p>
        </p:txBody>
      </p:sp>
      <p:sp>
        <p:nvSpPr>
          <p:cNvPr id="12" name="Rectangle 11"/>
          <p:cNvSpPr/>
          <p:nvPr/>
        </p:nvSpPr>
        <p:spPr>
          <a:xfrm>
            <a:off x="6214719" y="1536192"/>
            <a:ext cx="2586151" cy="9601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118872"/>
          <a:lstStyle/>
          <a:p>
            <a:pPr algn="ctr">
              <a:lnSpc>
                <a:spcPct val="118000"/>
              </a:lnSpc>
              <a:spcBef>
                <a:spcPts val="0"/>
              </a:spcBef>
              <a:spcAft>
                <a:spcPts val="400"/>
              </a:spcAft>
            </a:pPr>
            <a:r>
              <a:rPr sz="1050" b="1" i="0">
                <a:solidFill>
                  <a:srgbClr val="E9E7E2"/>
                </a:solidFill>
                <a:latin typeface="Segoe UI"/>
              </a:rPr>
              <a:t>Claude</a:t>
            </a:r>
          </a:p>
          <a:p>
            <a:pPr>
              <a:lnSpc>
                <a:spcPct val="130000"/>
              </a:lnSpc>
              <a:spcBef>
                <a:spcPts val="0"/>
              </a:spcBef>
              <a:spcAft>
                <a:spcPts val="0"/>
              </a:spcAft>
            </a:pPr>
            <a:r>
              <a:rPr sz="800" b="0" i="0">
                <a:solidFill>
                  <a:srgbClr val="727C8C"/>
                </a:solidFill>
                <a:latin typeface="Consolas"/>
              </a:rPr>
              <a:t>Synthesis &amp; interpretation only</a:t>
            </a:r>
          </a:p>
        </p:txBody>
      </p:sp>
      <p:sp>
        <p:nvSpPr>
          <p:cNvPr id="13" name="Rectangle 12"/>
          <p:cNvSpPr/>
          <p:nvPr/>
        </p:nvSpPr>
        <p:spPr>
          <a:xfrm>
            <a:off x="6214719" y="1536192"/>
            <a:ext cx="2586151"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800871" y="1897380"/>
            <a:ext cx="237744" cy="237744"/>
          </a:xfrm>
          <a:prstGeom prst="rect">
            <a:avLst/>
          </a:prstGeom>
          <a:noFill/>
        </p:spPr>
        <p:txBody>
          <a:bodyPr wrap="square" lIns="0" rIns="0" tIns="0" bIns="0" anchor="ctr">
            <a:spAutoFit/>
          </a:bodyPr>
          <a:lstStyle/>
          <a:p>
            <a:pPr algn="ctr">
              <a:lnSpc>
                <a:spcPct val="135000"/>
              </a:lnSpc>
              <a:spcBef>
                <a:spcPts val="0"/>
              </a:spcBef>
              <a:spcAft>
                <a:spcPts val="0"/>
              </a:spcAft>
            </a:pPr>
            <a:r>
              <a:rPr sz="1300" b="0" i="0">
                <a:solidFill>
                  <a:srgbClr val="8A6427"/>
                </a:solidFill>
                <a:latin typeface="Consolas"/>
              </a:rPr>
              <a:t>→</a:t>
            </a:r>
          </a:p>
        </p:txBody>
      </p:sp>
      <p:sp>
        <p:nvSpPr>
          <p:cNvPr id="15" name="Rectangle 14"/>
          <p:cNvSpPr/>
          <p:nvPr/>
        </p:nvSpPr>
        <p:spPr>
          <a:xfrm>
            <a:off x="9038615" y="1536192"/>
            <a:ext cx="2586151" cy="9601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rIns="118872" tIns="118872"/>
          <a:lstStyle/>
          <a:p>
            <a:pPr algn="ctr">
              <a:lnSpc>
                <a:spcPct val="118000"/>
              </a:lnSpc>
              <a:spcBef>
                <a:spcPts val="0"/>
              </a:spcBef>
              <a:spcAft>
                <a:spcPts val="400"/>
              </a:spcAft>
            </a:pPr>
            <a:r>
              <a:rPr sz="1050" b="1" i="0">
                <a:solidFill>
                  <a:srgbClr val="E9E7E2"/>
                </a:solidFill>
                <a:latin typeface="Segoe UI"/>
              </a:rPr>
              <a:t>Recommendation</a:t>
            </a:r>
          </a:p>
          <a:p>
            <a:pPr>
              <a:lnSpc>
                <a:spcPct val="130000"/>
              </a:lnSpc>
              <a:spcBef>
                <a:spcPts val="0"/>
              </a:spcBef>
              <a:spcAft>
                <a:spcPts val="0"/>
              </a:spcAft>
            </a:pPr>
            <a:r>
              <a:rPr sz="800" b="0" i="0">
                <a:solidFill>
                  <a:srgbClr val="727C8C"/>
                </a:solidFill>
                <a:latin typeface="Consolas"/>
              </a:rPr>
              <a:t>BUY / WAIT / SELL + entry, SL, target, confidence, reasons, risks</a:t>
            </a:r>
          </a:p>
        </p:txBody>
      </p:sp>
      <p:sp>
        <p:nvSpPr>
          <p:cNvPr id="16" name="Rectangle 15"/>
          <p:cNvSpPr/>
          <p:nvPr/>
        </p:nvSpPr>
        <p:spPr>
          <a:xfrm>
            <a:off x="9038615" y="1536192"/>
            <a:ext cx="2586151"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566928" y="2724912"/>
            <a:ext cx="11057839" cy="1188720"/>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68096" y="2889504"/>
            <a:ext cx="10655503"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THE DIVISION OF LABOUR</a:t>
            </a:r>
          </a:p>
        </p:txBody>
      </p:sp>
      <p:sp>
        <p:nvSpPr>
          <p:cNvPr id="19" name="TextBox 18"/>
          <p:cNvSpPr txBox="1"/>
          <p:nvPr/>
        </p:nvSpPr>
        <p:spPr>
          <a:xfrm>
            <a:off x="768096" y="3182112"/>
            <a:ext cx="10655503" cy="603504"/>
          </a:xfrm>
          <a:prstGeom prst="rect">
            <a:avLst/>
          </a:prstGeom>
          <a:noFill/>
        </p:spPr>
        <p:txBody>
          <a:bodyPr wrap="square" lIns="0" rIns="0" tIns="0" bIns="0" anchor="t">
            <a:spAutoFit/>
          </a:bodyPr>
          <a:lstStyle/>
          <a:p/>
        </p:txBody>
      </p:sp>
      <p:sp>
        <p:nvSpPr>
          <p:cNvPr id="20" name="TextBox 19"/>
          <p:cNvSpPr txBox="1"/>
          <p:nvPr/>
        </p:nvSpPr>
        <p:spPr>
          <a:xfrm>
            <a:off x="786384" y="3200400"/>
            <a:ext cx="10618927" cy="219456"/>
          </a:xfrm>
          <a:prstGeom prst="rect">
            <a:avLst/>
          </a:prstGeom>
          <a:noFill/>
        </p:spPr>
        <p:txBody>
          <a:bodyPr wrap="square" lIns="0" rIns="0" tIns="0" bIns="0" anchor="t">
            <a:spAutoFit/>
          </a:bodyPr>
          <a:lstStyle/>
          <a:p>
            <a:pPr>
              <a:lnSpc>
                <a:spcPct val="135000"/>
              </a:lnSpc>
              <a:spcBef>
                <a:spcPts val="0"/>
              </a:spcBef>
              <a:spcAft>
                <a:spcPts val="0"/>
              </a:spcAft>
            </a:pPr>
            <a:r>
              <a:rPr sz="950" b="0">
                <a:solidFill>
                  <a:srgbClr val="E3A143"/>
                </a:solidFill>
                <a:latin typeface="Consolas"/>
              </a:rPr>
              <a:t>Code does  </a:t>
            </a:r>
            <a:r>
              <a:rPr sz="950" b="0">
                <a:solidFill>
                  <a:srgbClr val="A8B0BD"/>
                </a:solidFill>
                <a:latin typeface="Consolas"/>
              </a:rPr>
              <a:t>Every calculation — indicators, pattern detection, gate logic, position sizing, backtest statistics</a:t>
            </a:r>
          </a:p>
        </p:txBody>
      </p:sp>
      <p:sp>
        <p:nvSpPr>
          <p:cNvPr id="21" name="TextBox 20"/>
          <p:cNvSpPr txBox="1"/>
          <p:nvPr/>
        </p:nvSpPr>
        <p:spPr>
          <a:xfrm>
            <a:off x="786384" y="3429000"/>
            <a:ext cx="10618927" cy="219456"/>
          </a:xfrm>
          <a:prstGeom prst="rect">
            <a:avLst/>
          </a:prstGeom>
          <a:noFill/>
        </p:spPr>
        <p:txBody>
          <a:bodyPr wrap="square" lIns="0" rIns="0" tIns="0" bIns="0" anchor="t">
            <a:spAutoFit/>
          </a:bodyPr>
          <a:lstStyle/>
          <a:p>
            <a:pPr>
              <a:lnSpc>
                <a:spcPct val="135000"/>
              </a:lnSpc>
              <a:spcBef>
                <a:spcPts val="0"/>
              </a:spcBef>
              <a:spcAft>
                <a:spcPts val="0"/>
              </a:spcAft>
            </a:pPr>
            <a:r>
              <a:rPr sz="950" b="0">
                <a:solidFill>
                  <a:srgbClr val="E3A143"/>
                </a:solidFill>
                <a:latin typeface="Consolas"/>
              </a:rPr>
              <a:t>AI does    </a:t>
            </a:r>
            <a:r>
              <a:rPr sz="950" b="0">
                <a:solidFill>
                  <a:srgbClr val="A8B0BD"/>
                </a:solidFill>
                <a:latin typeface="Consolas"/>
              </a:rPr>
              <a:t>Reads those structured findings and explains what they collectively imply, including the risks</a:t>
            </a:r>
          </a:p>
        </p:txBody>
      </p:sp>
      <p:sp>
        <p:nvSpPr>
          <p:cNvPr id="22" name="TextBox 21"/>
          <p:cNvSpPr txBox="1"/>
          <p:nvPr/>
        </p:nvSpPr>
        <p:spPr>
          <a:xfrm>
            <a:off x="786384" y="3657600"/>
            <a:ext cx="10618927" cy="219456"/>
          </a:xfrm>
          <a:prstGeom prst="rect">
            <a:avLst/>
          </a:prstGeom>
          <a:noFill/>
        </p:spPr>
        <p:txBody>
          <a:bodyPr wrap="square" lIns="0" rIns="0" tIns="0" bIns="0" anchor="t">
            <a:spAutoFit/>
          </a:bodyPr>
          <a:lstStyle/>
          <a:p>
            <a:pPr>
              <a:lnSpc>
                <a:spcPct val="135000"/>
              </a:lnSpc>
              <a:spcBef>
                <a:spcPts val="0"/>
              </a:spcBef>
              <a:spcAft>
                <a:spcPts val="0"/>
              </a:spcAft>
            </a:pPr>
            <a:r>
              <a:rPr sz="950" b="0">
                <a:solidFill>
                  <a:srgbClr val="E3A143"/>
                </a:solidFill>
                <a:latin typeface="Consolas"/>
              </a:rPr>
              <a:t>AI never   </a:t>
            </a:r>
            <a:r>
              <a:rPr sz="950" b="0">
                <a:solidFill>
                  <a:srgbClr val="A8B0BD"/>
                </a:solidFill>
                <a:latin typeface="Consolas"/>
              </a:rPr>
              <a:t>Invents a price, a probability, or a performance figure</a:t>
            </a:r>
          </a:p>
        </p:txBody>
      </p:sp>
      <p:sp>
        <p:nvSpPr>
          <p:cNvPr id="23" name="Rectangle 22"/>
          <p:cNvSpPr/>
          <p:nvPr/>
        </p:nvSpPr>
        <p:spPr>
          <a:xfrm>
            <a:off x="566928" y="4096512"/>
            <a:ext cx="5336895" cy="157276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8096" y="4261104"/>
            <a:ext cx="4934559"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TODAY</a:t>
            </a:r>
          </a:p>
        </p:txBody>
      </p:sp>
      <p:sp>
        <p:nvSpPr>
          <p:cNvPr id="25" name="Rectangle 24"/>
          <p:cNvSpPr/>
          <p:nvPr/>
        </p:nvSpPr>
        <p:spPr>
          <a:xfrm>
            <a:off x="5227167" y="4233672"/>
            <a:ext cx="475488" cy="192024"/>
          </a:xfrm>
          <a:prstGeom prst="rect">
            <a:avLst/>
          </a:prstGeom>
          <a:solidFill>
            <a:srgbClr val="14231C"/>
          </a:solidFill>
          <a:ln w="7620">
            <a:solidFill>
              <a:srgbClr val="4E9E7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35000"/>
              </a:lnSpc>
              <a:spcBef>
                <a:spcPts val="0"/>
              </a:spcBef>
              <a:spcAft>
                <a:spcPts val="0"/>
              </a:spcAft>
            </a:pPr>
            <a:r>
              <a:rPr sz="750" b="0" i="0" spc="100">
                <a:solidFill>
                  <a:srgbClr val="4E9E78"/>
                </a:solidFill>
                <a:latin typeface="Consolas"/>
              </a:rPr>
              <a:t>BUILT</a:t>
            </a:r>
          </a:p>
        </p:txBody>
      </p:sp>
      <p:sp>
        <p:nvSpPr>
          <p:cNvPr id="26" name="TextBox 25"/>
          <p:cNvSpPr txBox="1"/>
          <p:nvPr/>
        </p:nvSpPr>
        <p:spPr>
          <a:xfrm>
            <a:off x="768096" y="4553712"/>
            <a:ext cx="4934559" cy="987552"/>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Chat grounded in the live analysis payload, aware of the active view</a:t>
            </a:r>
          </a:p>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Quick and deep per-position takes, stored and reusable</a:t>
            </a:r>
          </a:p>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Tool access — Claude can run a proposed rule through the real simulator</a:t>
            </a:r>
          </a:p>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Propose-only validation steward monitoring pattern decay</a:t>
            </a:r>
          </a:p>
        </p:txBody>
      </p:sp>
      <p:sp>
        <p:nvSpPr>
          <p:cNvPr id="27" name="Rectangle 26"/>
          <p:cNvSpPr/>
          <p:nvPr/>
        </p:nvSpPr>
        <p:spPr>
          <a:xfrm>
            <a:off x="6287871" y="4096512"/>
            <a:ext cx="5336895" cy="1572768"/>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89039" y="4261104"/>
            <a:ext cx="4934559" cy="182880"/>
          </a:xfrm>
          <a:prstGeom prst="rect">
            <a:avLst/>
          </a:prstGeom>
          <a:noFill/>
        </p:spPr>
        <p:txBody>
          <a:bodyPr wrap="square" lIns="0" rIns="0" tIns="0" bIns="0" anchor="t">
            <a:spAutoFit/>
          </a:bodyPr>
          <a:lstStyle/>
          <a:p>
            <a:pPr>
              <a:lnSpc>
                <a:spcPct val="135000"/>
              </a:lnSpc>
              <a:spcBef>
                <a:spcPts val="0"/>
              </a:spcBef>
              <a:spcAft>
                <a:spcPts val="0"/>
              </a:spcAft>
            </a:pPr>
            <a:r>
              <a:rPr sz="850" b="1" i="0" spc="110">
                <a:solidFill>
                  <a:srgbClr val="A8B0BD"/>
                </a:solidFill>
                <a:latin typeface="Segoe UI"/>
              </a:rPr>
              <a:t>GOAL</a:t>
            </a:r>
          </a:p>
        </p:txBody>
      </p:sp>
      <p:sp>
        <p:nvSpPr>
          <p:cNvPr id="29" name="Rectangle 28"/>
          <p:cNvSpPr/>
          <p:nvPr/>
        </p:nvSpPr>
        <p:spPr>
          <a:xfrm>
            <a:off x="10911535" y="4233672"/>
            <a:ext cx="512064" cy="192024"/>
          </a:xfrm>
          <a:prstGeom prst="rect">
            <a:avLst/>
          </a:prstGeom>
          <a:solidFill>
            <a:srgbClr val="131E23"/>
          </a:solidFill>
          <a:ln w="7620">
            <a:solidFill>
              <a:srgbClr val="7FA8BC"/>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lnSpc>
                <a:spcPct val="135000"/>
              </a:lnSpc>
              <a:spcBef>
                <a:spcPts val="0"/>
              </a:spcBef>
              <a:spcAft>
                <a:spcPts val="0"/>
              </a:spcAft>
            </a:pPr>
            <a:r>
              <a:rPr sz="750" b="0" i="0" spc="100">
                <a:solidFill>
                  <a:srgbClr val="7FA8BC"/>
                </a:solidFill>
                <a:latin typeface="Consolas"/>
              </a:rPr>
              <a:t>ROADMAP</a:t>
            </a:r>
          </a:p>
        </p:txBody>
      </p:sp>
      <p:sp>
        <p:nvSpPr>
          <p:cNvPr id="30" name="TextBox 29"/>
          <p:cNvSpPr txBox="1"/>
          <p:nvPr/>
        </p:nvSpPr>
        <p:spPr>
          <a:xfrm>
            <a:off x="6489039" y="4553712"/>
            <a:ext cx="4934559" cy="987552"/>
          </a:xfrm>
          <a:prstGeom prst="rect">
            <a:avLst/>
          </a:prstGeom>
          <a:noFill/>
        </p:spPr>
        <p:txBody>
          <a:bodyPr wrap="square" lIns="0" rIns="0" tIns="0" bIns="0" anchor="t">
            <a:spAutoFit/>
          </a:bodyPr>
          <a:lstStyle/>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AI integrated into the systematic daily recommendation workflow</a:t>
            </a:r>
          </a:p>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Structured, machine-gradable output scored by the point-in-time loop</a:t>
            </a:r>
          </a:p>
          <a:p>
            <a:pPr>
              <a:lnSpc>
                <a:spcPct val="130000"/>
              </a:lnSpc>
              <a:spcBef>
                <a:spcPts val="0"/>
              </a:spcBef>
              <a:spcAft>
                <a:spcPts val="500"/>
              </a:spcAft>
            </a:pPr>
            <a:r>
              <a:rPr sz="1000" b="0">
                <a:solidFill>
                  <a:srgbClr val="E3A143"/>
                </a:solidFill>
                <a:latin typeface="Segoe UI"/>
              </a:rPr>
              <a:t>— </a:t>
            </a:r>
            <a:r>
              <a:rPr sz="1000" b="0">
                <a:solidFill>
                  <a:srgbClr val="A8B0BD"/>
                </a:solidFill>
                <a:latin typeface="Segoe UI"/>
              </a:rPr>
              <a:t>Every AI recommendation traceable to the deterministic findings behind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F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66928" y="457200"/>
            <a:ext cx="11057839" cy="201168"/>
          </a:xfrm>
          <a:prstGeom prst="rect">
            <a:avLst/>
          </a:prstGeom>
          <a:noFill/>
        </p:spPr>
        <p:txBody>
          <a:bodyPr wrap="square" lIns="0" rIns="0" tIns="0" bIns="0" anchor="t">
            <a:spAutoFit/>
          </a:bodyPr>
          <a:lstStyle/>
          <a:p>
            <a:pPr>
              <a:lnSpc>
                <a:spcPct val="135000"/>
              </a:lnSpc>
              <a:spcBef>
                <a:spcPts val="0"/>
              </a:spcBef>
              <a:spcAft>
                <a:spcPts val="0"/>
              </a:spcAft>
            </a:pPr>
            <a:r>
              <a:rPr sz="900" b="0" i="0" spc="140">
                <a:solidFill>
                  <a:srgbClr val="E3A143"/>
                </a:solidFill>
                <a:latin typeface="Consolas"/>
              </a:rPr>
              <a:t>25  ·  ROADMAP</a:t>
            </a:r>
          </a:p>
        </p:txBody>
      </p:sp>
      <p:sp>
        <p:nvSpPr>
          <p:cNvPr id="4" name="TextBox 3"/>
          <p:cNvSpPr txBox="1"/>
          <p:nvPr/>
        </p:nvSpPr>
        <p:spPr>
          <a:xfrm>
            <a:off x="566928" y="749808"/>
            <a:ext cx="11057839" cy="548640"/>
          </a:xfrm>
          <a:prstGeom prst="rect">
            <a:avLst/>
          </a:prstGeom>
          <a:noFill/>
        </p:spPr>
        <p:txBody>
          <a:bodyPr wrap="square" lIns="0" rIns="0" tIns="0" bIns="0" anchor="t">
            <a:spAutoFit/>
          </a:bodyPr>
          <a:lstStyle/>
          <a:p>
            <a:pPr>
              <a:lnSpc>
                <a:spcPct val="106000"/>
              </a:lnSpc>
              <a:spcBef>
                <a:spcPts val="0"/>
              </a:spcBef>
              <a:spcAft>
                <a:spcPts val="0"/>
              </a:spcAft>
            </a:pPr>
            <a:r>
              <a:rPr sz="2800" b="0" i="0">
                <a:solidFill>
                  <a:srgbClr val="E9E7E2"/>
                </a:solidFill>
                <a:latin typeface="Georgia"/>
              </a:rPr>
              <a:t>Where this goes next</a:t>
            </a:r>
          </a:p>
        </p:txBody>
      </p:sp>
      <p:sp>
        <p:nvSpPr>
          <p:cNvPr id="5" name="Rectangle 4"/>
          <p:cNvSpPr/>
          <p:nvPr/>
        </p:nvSpPr>
        <p:spPr>
          <a:xfrm>
            <a:off x="566928" y="1316736"/>
            <a:ext cx="11057839" cy="9525"/>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66928" y="1645920"/>
            <a:ext cx="996696" cy="0"/>
          </a:xfrm>
          <a:prstGeom prst="rect">
            <a:avLst/>
          </a:prstGeom>
          <a:noFill/>
        </p:spPr>
        <p:txBody>
          <a:bodyPr wrap="square" lIns="0" rIns="0" tIns="0" bIns="0" anchor="ctr">
            <a:spAutoFit/>
          </a:bodyPr>
          <a:lstStyle/>
          <a:p>
            <a:pPr algn="r">
              <a:lnSpc>
                <a:spcPct val="135000"/>
              </a:lnSpc>
              <a:spcBef>
                <a:spcPts val="0"/>
              </a:spcBef>
              <a:spcAft>
                <a:spcPts val="0"/>
              </a:spcAft>
            </a:pPr>
            <a:r>
              <a:rPr sz="800" b="0" i="0" spc="130">
                <a:solidFill>
                  <a:srgbClr val="727C8C"/>
                </a:solidFill>
                <a:latin typeface="Consolas"/>
              </a:rPr>
              <a:t>DONE</a:t>
            </a:r>
          </a:p>
        </p:txBody>
      </p:sp>
      <p:sp>
        <p:nvSpPr>
          <p:cNvPr id="7" name="Rectangle 6"/>
          <p:cNvSpPr/>
          <p:nvPr/>
        </p:nvSpPr>
        <p:spPr>
          <a:xfrm>
            <a:off x="1618488" y="1627632"/>
            <a:ext cx="9525" cy="713232"/>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1764792" y="1627632"/>
            <a:ext cx="3231794" cy="71323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Analysis platform</a:t>
            </a:r>
          </a:p>
          <a:p>
            <a:pPr>
              <a:lnSpc>
                <a:spcPct val="125000"/>
              </a:lnSpc>
              <a:spcBef>
                <a:spcPts val="0"/>
              </a:spcBef>
              <a:spcAft>
                <a:spcPts val="0"/>
              </a:spcAft>
            </a:pPr>
            <a:r>
              <a:rPr sz="750" b="0" i="0">
                <a:solidFill>
                  <a:srgbClr val="727C8C"/>
                </a:solidFill>
                <a:latin typeface="Consolas"/>
              </a:rPr>
              <a:t>API · frontend · AI layer · paper engine</a:t>
            </a:r>
          </a:p>
        </p:txBody>
      </p:sp>
      <p:sp>
        <p:nvSpPr>
          <p:cNvPr id="9" name="Rectangle 8"/>
          <p:cNvSpPr/>
          <p:nvPr/>
        </p:nvSpPr>
        <p:spPr>
          <a:xfrm>
            <a:off x="1764792" y="1627632"/>
            <a:ext cx="3231794" cy="22000"/>
          </a:xfrm>
          <a:prstGeom prst="rect">
            <a:avLst/>
          </a:prstGeom>
          <a:solidFill>
            <a:srgbClr val="72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078882" y="1627632"/>
            <a:ext cx="3231794" cy="71323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Robust backtesting</a:t>
            </a:r>
          </a:p>
          <a:p>
            <a:pPr>
              <a:lnSpc>
                <a:spcPct val="125000"/>
              </a:lnSpc>
              <a:spcBef>
                <a:spcPts val="0"/>
              </a:spcBef>
              <a:spcAft>
                <a:spcPts val="0"/>
              </a:spcAft>
            </a:pPr>
            <a:r>
              <a:rPr sz="750" b="0" i="0">
                <a:solidFill>
                  <a:srgbClr val="727C8C"/>
                </a:solidFill>
                <a:latin typeface="Consolas"/>
              </a:rPr>
              <a:t>bar-by-bar, costs, audited</a:t>
            </a:r>
          </a:p>
        </p:txBody>
      </p:sp>
      <p:sp>
        <p:nvSpPr>
          <p:cNvPr id="11" name="Rectangle 10"/>
          <p:cNvSpPr/>
          <p:nvPr/>
        </p:nvSpPr>
        <p:spPr>
          <a:xfrm>
            <a:off x="5078882" y="1627632"/>
            <a:ext cx="3231794" cy="22000"/>
          </a:xfrm>
          <a:prstGeom prst="rect">
            <a:avLst/>
          </a:prstGeom>
          <a:solidFill>
            <a:srgbClr val="72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392972" y="1627632"/>
            <a:ext cx="3231794" cy="71323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Walk-forward validation</a:t>
            </a:r>
          </a:p>
          <a:p>
            <a:pPr>
              <a:lnSpc>
                <a:spcPct val="125000"/>
              </a:lnSpc>
              <a:spcBef>
                <a:spcPts val="0"/>
              </a:spcBef>
              <a:spcAft>
                <a:spcPts val="0"/>
              </a:spcAft>
            </a:pPr>
            <a:r>
              <a:rPr sz="750" b="0" i="0">
                <a:solidFill>
                  <a:srgbClr val="727C8C"/>
                </a:solidFill>
                <a:latin typeface="Consolas"/>
              </a:rPr>
              <a:t>the method that caught the failure</a:t>
            </a:r>
          </a:p>
        </p:txBody>
      </p:sp>
      <p:sp>
        <p:nvSpPr>
          <p:cNvPr id="13" name="Rectangle 12"/>
          <p:cNvSpPr/>
          <p:nvPr/>
        </p:nvSpPr>
        <p:spPr>
          <a:xfrm>
            <a:off x="8392972" y="1627632"/>
            <a:ext cx="3231794" cy="22000"/>
          </a:xfrm>
          <a:prstGeom prst="rect">
            <a:avLst/>
          </a:prstGeom>
          <a:solidFill>
            <a:srgbClr val="727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2029968" y="2340864"/>
            <a:ext cx="9525" cy="15544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Isosceles Triangle 14"/>
          <p:cNvSpPr/>
          <p:nvPr/>
        </p:nvSpPr>
        <p:spPr>
          <a:xfrm rot="10800000">
            <a:off x="1984248" y="2446020"/>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66928" y="2514600"/>
            <a:ext cx="996696" cy="0"/>
          </a:xfrm>
          <a:prstGeom prst="rect">
            <a:avLst/>
          </a:prstGeom>
          <a:noFill/>
        </p:spPr>
        <p:txBody>
          <a:bodyPr wrap="square" lIns="0" rIns="0" tIns="0" bIns="0" anchor="ctr">
            <a:spAutoFit/>
          </a:bodyPr>
          <a:lstStyle/>
          <a:p>
            <a:pPr algn="r">
              <a:lnSpc>
                <a:spcPct val="135000"/>
              </a:lnSpc>
              <a:spcBef>
                <a:spcPts val="0"/>
              </a:spcBef>
              <a:spcAft>
                <a:spcPts val="0"/>
              </a:spcAft>
            </a:pPr>
            <a:r>
              <a:rPr sz="800" b="0" i="0" spc="130">
                <a:solidFill>
                  <a:srgbClr val="E3A143"/>
                </a:solidFill>
                <a:latin typeface="Consolas"/>
              </a:rPr>
              <a:t>NEXT</a:t>
            </a:r>
          </a:p>
        </p:txBody>
      </p:sp>
      <p:sp>
        <p:nvSpPr>
          <p:cNvPr id="17" name="Rectangle 16"/>
          <p:cNvSpPr/>
          <p:nvPr/>
        </p:nvSpPr>
        <p:spPr>
          <a:xfrm>
            <a:off x="1618488" y="2496312"/>
            <a:ext cx="9525" cy="713232"/>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1764792" y="2496312"/>
            <a:ext cx="3231794" cy="71323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Strategy research</a:t>
            </a:r>
          </a:p>
          <a:p>
            <a:pPr>
              <a:lnSpc>
                <a:spcPct val="125000"/>
              </a:lnSpc>
              <a:spcBef>
                <a:spcPts val="0"/>
              </a:spcBef>
              <a:spcAft>
                <a:spcPts val="0"/>
              </a:spcAft>
            </a:pPr>
            <a:r>
              <a:rPr sz="750" b="0" i="0">
                <a:solidFill>
                  <a:srgbClr val="727C8C"/>
                </a:solidFill>
                <a:latin typeface="Consolas"/>
              </a:rPr>
              <a:t>momentum-led, re-validated</a:t>
            </a:r>
          </a:p>
        </p:txBody>
      </p:sp>
      <p:sp>
        <p:nvSpPr>
          <p:cNvPr id="19" name="Rectangle 18"/>
          <p:cNvSpPr/>
          <p:nvPr/>
        </p:nvSpPr>
        <p:spPr>
          <a:xfrm>
            <a:off x="1764792" y="2496312"/>
            <a:ext cx="3231794"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5078882" y="2496312"/>
            <a:ext cx="3231794" cy="71323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Automated point-in-time paper trading</a:t>
            </a:r>
          </a:p>
          <a:p>
            <a:pPr>
              <a:lnSpc>
                <a:spcPct val="125000"/>
              </a:lnSpc>
              <a:spcBef>
                <a:spcPts val="0"/>
              </a:spcBef>
              <a:spcAft>
                <a:spcPts val="0"/>
              </a:spcAft>
            </a:pPr>
            <a:r>
              <a:rPr sz="750" b="0" i="0">
                <a:solidFill>
                  <a:srgbClr val="727C8C"/>
                </a:solidFill>
                <a:latin typeface="Consolas"/>
              </a:rPr>
              <a:t>immutable snapshots, automated grading</a:t>
            </a:r>
          </a:p>
        </p:txBody>
      </p:sp>
      <p:sp>
        <p:nvSpPr>
          <p:cNvPr id="21" name="Rectangle 20"/>
          <p:cNvSpPr/>
          <p:nvPr/>
        </p:nvSpPr>
        <p:spPr>
          <a:xfrm>
            <a:off x="5078882" y="2496312"/>
            <a:ext cx="3231794"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392972" y="2496312"/>
            <a:ext cx="3231794" cy="71323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Daily strategy evaluation</a:t>
            </a:r>
          </a:p>
          <a:p>
            <a:pPr>
              <a:lnSpc>
                <a:spcPct val="125000"/>
              </a:lnSpc>
              <a:spcBef>
                <a:spcPts val="0"/>
              </a:spcBef>
              <a:spcAft>
                <a:spcPts val="0"/>
              </a:spcAft>
            </a:pPr>
            <a:r>
              <a:rPr sz="750" b="0" i="0">
                <a:solidFill>
                  <a:srgbClr val="727C8C"/>
                </a:solidFill>
                <a:latin typeface="Consolas"/>
              </a:rPr>
              <a:t>scheduled, forward-recorded</a:t>
            </a:r>
          </a:p>
        </p:txBody>
      </p:sp>
      <p:sp>
        <p:nvSpPr>
          <p:cNvPr id="23" name="Rectangle 22"/>
          <p:cNvSpPr/>
          <p:nvPr/>
        </p:nvSpPr>
        <p:spPr>
          <a:xfrm>
            <a:off x="8392972" y="2496312"/>
            <a:ext cx="3231794" cy="2200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2029968" y="3209544"/>
            <a:ext cx="9525" cy="155448"/>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Isosceles Triangle 24"/>
          <p:cNvSpPr/>
          <p:nvPr/>
        </p:nvSpPr>
        <p:spPr>
          <a:xfrm rot="10800000">
            <a:off x="1984248" y="3314700"/>
            <a:ext cx="91440" cy="54864"/>
          </a:xfrm>
          <a:prstGeom prst="triangle">
            <a:avLst/>
          </a:prstGeom>
          <a:solidFill>
            <a:srgbClr val="8A642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66928" y="3383280"/>
            <a:ext cx="996696" cy="0"/>
          </a:xfrm>
          <a:prstGeom prst="rect">
            <a:avLst/>
          </a:prstGeom>
          <a:noFill/>
        </p:spPr>
        <p:txBody>
          <a:bodyPr wrap="square" lIns="0" rIns="0" tIns="0" bIns="0" anchor="ctr">
            <a:spAutoFit/>
          </a:bodyPr>
          <a:lstStyle/>
          <a:p>
            <a:pPr algn="r">
              <a:lnSpc>
                <a:spcPct val="135000"/>
              </a:lnSpc>
              <a:spcBef>
                <a:spcPts val="0"/>
              </a:spcBef>
              <a:spcAft>
                <a:spcPts val="0"/>
              </a:spcAft>
            </a:pPr>
            <a:r>
              <a:rPr sz="800" b="0" i="0" spc="130">
                <a:solidFill>
                  <a:srgbClr val="4E9E78"/>
                </a:solidFill>
                <a:latin typeface="Consolas"/>
              </a:rPr>
              <a:t>LATER</a:t>
            </a:r>
          </a:p>
        </p:txBody>
      </p:sp>
      <p:sp>
        <p:nvSpPr>
          <p:cNvPr id="27" name="Rectangle 26"/>
          <p:cNvSpPr/>
          <p:nvPr/>
        </p:nvSpPr>
        <p:spPr>
          <a:xfrm>
            <a:off x="1618488" y="3364992"/>
            <a:ext cx="9525" cy="713232"/>
          </a:xfrm>
          <a:prstGeom prst="rect">
            <a:avLst/>
          </a:prstGeom>
          <a:solidFill>
            <a:srgbClr val="2A32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1764792" y="3364992"/>
            <a:ext cx="3231794" cy="71323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Intraday experiments</a:t>
            </a:r>
          </a:p>
          <a:p>
            <a:pPr>
              <a:lnSpc>
                <a:spcPct val="125000"/>
              </a:lnSpc>
              <a:spcBef>
                <a:spcPts val="0"/>
              </a:spcBef>
              <a:spcAft>
                <a:spcPts val="0"/>
              </a:spcAft>
            </a:pPr>
            <a:r>
              <a:rPr sz="750" b="0" i="0">
                <a:solidFill>
                  <a:srgbClr val="727C8C"/>
                </a:solidFill>
                <a:latin typeface="Consolas"/>
              </a:rPr>
              <a:t>ORB · VWAP · cost-first</a:t>
            </a:r>
          </a:p>
        </p:txBody>
      </p:sp>
      <p:sp>
        <p:nvSpPr>
          <p:cNvPr id="29" name="Rectangle 28"/>
          <p:cNvSpPr/>
          <p:nvPr/>
        </p:nvSpPr>
        <p:spPr>
          <a:xfrm>
            <a:off x="1764792" y="3364992"/>
            <a:ext cx="3231794" cy="22000"/>
          </a:xfrm>
          <a:prstGeom prst="rect">
            <a:avLst/>
          </a:prstGeom>
          <a:solidFill>
            <a:srgbClr val="4E9E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5078882" y="3364992"/>
            <a:ext cx="3231794" cy="71323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AI recommendation integration</a:t>
            </a:r>
          </a:p>
          <a:p>
            <a:pPr>
              <a:lnSpc>
                <a:spcPct val="125000"/>
              </a:lnSpc>
              <a:spcBef>
                <a:spcPts val="0"/>
              </a:spcBef>
              <a:spcAft>
                <a:spcPts val="0"/>
              </a:spcAft>
            </a:pPr>
            <a:r>
              <a:rPr sz="750" b="0" i="0">
                <a:solidFill>
                  <a:srgbClr val="727C8C"/>
                </a:solidFill>
                <a:latin typeface="Consolas"/>
              </a:rPr>
              <a:t>graded like any other signal</a:t>
            </a:r>
          </a:p>
        </p:txBody>
      </p:sp>
      <p:sp>
        <p:nvSpPr>
          <p:cNvPr id="31" name="Rectangle 30"/>
          <p:cNvSpPr/>
          <p:nvPr/>
        </p:nvSpPr>
        <p:spPr>
          <a:xfrm>
            <a:off x="5078882" y="3364992"/>
            <a:ext cx="3231794" cy="22000"/>
          </a:xfrm>
          <a:prstGeom prst="rect">
            <a:avLst/>
          </a:prstGeom>
          <a:solidFill>
            <a:srgbClr val="4E9E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8392972" y="3364992"/>
            <a:ext cx="3231794" cy="713232"/>
          </a:xfrm>
          <a:prstGeom prst="rect">
            <a:avLst/>
          </a:prstGeom>
          <a:solidFill>
            <a:srgbClr val="171C25"/>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lIns="100584" rIns="100584" tIns="91440"/>
          <a:lstStyle/>
          <a:p>
            <a:pPr algn="ctr">
              <a:lnSpc>
                <a:spcPct val="115000"/>
              </a:lnSpc>
              <a:spcBef>
                <a:spcPts val="0"/>
              </a:spcBef>
              <a:spcAft>
                <a:spcPts val="200"/>
              </a:spcAft>
            </a:pPr>
            <a:r>
              <a:rPr sz="950" b="0" i="0">
                <a:solidFill>
                  <a:srgbClr val="E9E7E2"/>
                </a:solidFill>
                <a:latin typeface="Segoe UI"/>
              </a:rPr>
              <a:t>Production monitoring</a:t>
            </a:r>
          </a:p>
          <a:p>
            <a:pPr>
              <a:lnSpc>
                <a:spcPct val="125000"/>
              </a:lnSpc>
              <a:spcBef>
                <a:spcPts val="0"/>
              </a:spcBef>
              <a:spcAft>
                <a:spcPts val="0"/>
              </a:spcAft>
            </a:pPr>
            <a:r>
              <a:rPr sz="750" b="0" i="0">
                <a:solidFill>
                  <a:srgbClr val="727C8C"/>
                </a:solidFill>
                <a:latin typeface="Consolas"/>
              </a:rPr>
              <a:t>live decay detection</a:t>
            </a:r>
          </a:p>
        </p:txBody>
      </p:sp>
      <p:sp>
        <p:nvSpPr>
          <p:cNvPr id="33" name="Rectangle 32"/>
          <p:cNvSpPr/>
          <p:nvPr/>
        </p:nvSpPr>
        <p:spPr>
          <a:xfrm>
            <a:off x="8392972" y="3364992"/>
            <a:ext cx="3231794" cy="22000"/>
          </a:xfrm>
          <a:prstGeom prst="rect">
            <a:avLst/>
          </a:prstGeom>
          <a:solidFill>
            <a:srgbClr val="4E9E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566928" y="4443984"/>
            <a:ext cx="11057839" cy="960120"/>
          </a:xfrm>
          <a:prstGeom prst="rect">
            <a:avLst/>
          </a:prstGeom>
          <a:solidFill>
            <a:srgbClr val="12161D"/>
          </a:solidFill>
          <a:ln w="9525">
            <a:solidFill>
              <a:srgbClr val="2A323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566928" y="4443984"/>
            <a:ext cx="25000" cy="960120"/>
          </a:xfrm>
          <a:prstGeom prst="rect">
            <a:avLst/>
          </a:prstGeom>
          <a:solidFill>
            <a:srgbClr val="E3A1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68096" y="4581144"/>
            <a:ext cx="10655503" cy="704088"/>
          </a:xfrm>
          <a:prstGeom prst="rect">
            <a:avLst/>
          </a:prstGeom>
          <a:noFill/>
        </p:spPr>
        <p:txBody>
          <a:bodyPr wrap="square" lIns="0" rIns="0" tIns="0" bIns="0" anchor="t">
            <a:spAutoFit/>
          </a:bodyPr>
          <a:lstStyle/>
          <a:p>
            <a:pPr>
              <a:lnSpc>
                <a:spcPct val="140000"/>
              </a:lnSpc>
              <a:spcBef>
                <a:spcPts val="0"/>
              </a:spcBef>
              <a:spcAft>
                <a:spcPts val="0"/>
              </a:spcAft>
            </a:pPr>
            <a:r>
              <a:rPr sz="1050" b="0">
                <a:solidFill>
                  <a:srgbClr val="A8B0BD"/>
                </a:solidFill>
                <a:latin typeface="Segoe UI"/>
              </a:rPr>
              <a:t>The measurable outcome of this phase is not a profitable strategy — it is a system honest enough to tell me when a strategy has stopped working. </a:t>
            </a:r>
            <a:r>
              <a:rPr sz="1050" b="1">
                <a:solidFill>
                  <a:srgbClr val="E9E7E2"/>
                </a:solidFill>
                <a:latin typeface="Segoe UI"/>
              </a:rPr>
              <a:t>That machinery now exists, and it has already been used to reject my own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